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oboto"/>
      <p:regular r:id="rId21"/>
      <p:bold r:id="rId22"/>
      <p:italic r:id="rId23"/>
      <p:boldItalic r:id="rId24"/>
    </p:embeddedFont>
    <p:embeddedFont>
      <p:font typeface="Montserrat"/>
      <p:regular r:id="rId25"/>
      <p:bold r:id="rId26"/>
      <p:italic r:id="rId27"/>
      <p:boldItalic r:id="rId28"/>
    </p:embeddedFont>
    <p:embeddedFont>
      <p:font typeface="La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fntdata"/><Relationship Id="rId25" Type="http://schemas.openxmlformats.org/officeDocument/2006/relationships/font" Target="fonts/Montserrat-regular.fntdata"/><Relationship Id="rId28" Type="http://schemas.openxmlformats.org/officeDocument/2006/relationships/font" Target="fonts/Montserrat-boldItalic.fntdata"/><Relationship Id="rId27" Type="http://schemas.openxmlformats.org/officeDocument/2006/relationships/font" Target="fonts/Montserrat-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c217b8b16d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c217b8b16d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c217b8b16d_6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c217b8b16d_6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f87997393_0_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f87997393_0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f87997393_0_1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1f87997393_0_1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#1 Carga y limpieza de datos como veníamos haciendo en otros proyectos y preprocesamiento, que </a:t>
            </a:r>
            <a:r>
              <a:rPr b="1" lang="es"/>
              <a:t>vimos como primer punto</a:t>
            </a:r>
            <a:r>
              <a:rPr lang="es"/>
              <a:t> del procesamiento de lenguaje natural.</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#2 División de datos en </a:t>
            </a:r>
            <a:r>
              <a:rPr b="1" lang="es"/>
              <a:t>entrenamiento y validación</a:t>
            </a:r>
            <a:r>
              <a:rPr lang="es"/>
              <a:t>, y creación de </a:t>
            </a:r>
            <a:r>
              <a:rPr b="1" lang="es"/>
              <a:t>dataloaders para definir </a:t>
            </a:r>
            <a:r>
              <a:rPr lang="es"/>
              <a:t>cómo cargar los datos. Luego la generación de </a:t>
            </a:r>
            <a:r>
              <a:rPr b="1" lang="es"/>
              <a:t>embedings para interpretar </a:t>
            </a:r>
            <a:r>
              <a:rPr lang="es"/>
              <a:t>esos datos.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#3 En este punto crearemos la arquitectura de la RN que adelanto tiene la </a:t>
            </a:r>
            <a:r>
              <a:rPr b="1" lang="es"/>
              <a:t>peculiaridad </a:t>
            </a:r>
            <a:r>
              <a:rPr lang="es"/>
              <a:t>del uso de </a:t>
            </a:r>
            <a:r>
              <a:rPr b="1" lang="es"/>
              <a:t>pytorch en vez de tensorflow. </a:t>
            </a:r>
            <a:r>
              <a:rPr lang="es"/>
              <a:t>Con todo </a:t>
            </a:r>
            <a:r>
              <a:rPr lang="es"/>
              <a:t>definido</a:t>
            </a:r>
            <a:r>
              <a:rPr lang="es"/>
              <a:t> pues queda compilar y entrenar.</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#4 Por úlimo evaluar el modelo y ver su precisión.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be44d1fcb7_0_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be44d1fcb7_0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 Puestos manos a la obra se carga nuestro training data, le asignamos nombres a las columnas que no tenía, </a:t>
            </a:r>
            <a:r>
              <a:rPr b="1" lang="es"/>
              <a:t>label para la clasificacion, que sabemos será 0 o 1 y headline para los tituares</a:t>
            </a:r>
            <a:r>
              <a:rPr lang="e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 </a:t>
            </a:r>
            <a:r>
              <a:rPr b="1" lang="es"/>
              <a:t>Se asegura </a:t>
            </a:r>
            <a:r>
              <a:rPr b="1" lang="es"/>
              <a:t>que el tipo de valor de las columnas </a:t>
            </a:r>
            <a:r>
              <a:rPr lang="es"/>
              <a:t>sea el que debe. Numérico para las etiquetas y de cadena de texto para los titulares.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 Se comprueba la </a:t>
            </a:r>
            <a:r>
              <a:rPr b="1" lang="es"/>
              <a:t>firmeza del dataset </a:t>
            </a:r>
            <a:r>
              <a:rPr lang="es"/>
              <a:t>quitando registros que no tengan o 0 o 1 y manejando los valores nulos.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 POdemos ver en los resutlados la verificación de carga con la dimensión del dataset y la dimensión de cada columna</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 Aquí se saca un </a:t>
            </a:r>
            <a:r>
              <a:rPr b="1" lang="es"/>
              <a:t>ejemplo aleatorio </a:t>
            </a:r>
            <a:r>
              <a:rPr lang="es"/>
              <a:t>de una fake new y de una real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#1 “header y los demás parámetros” ayudan a hacerle entender a Pandas como es mi tabla y cómo debe proceder</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#5 Elimina todas las filas del DataFrame df que no tienen un valor de 0 o 1 en la columna "label", asegurando que solo se trabaja con datos válidos para la clasificación de 'noticias falsas' (0) o 'noticias reales' (1).</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be44d1fcb7_0_9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be44d1fcb7_0_9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 Como ya mencioné esta es la primera parte en sí del procesamiento del lenguaje natural.</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 Lo que se ha hecho es crear una </a:t>
            </a:r>
            <a:r>
              <a:rPr b="1" lang="es"/>
              <a:t>columna nueva </a:t>
            </a:r>
            <a:r>
              <a:rPr lang="es"/>
              <a:t>llamada clean_headline en la que cogemos los titulares y le </a:t>
            </a:r>
            <a:r>
              <a:rPr b="1" lang="es"/>
              <a:t>quitamos lo que no nos interesa</a:t>
            </a:r>
            <a:endParaRPr b="1"/>
          </a:p>
          <a:p>
            <a:pPr indent="0" lvl="0" marL="0" rtl="0" algn="l">
              <a:spcBef>
                <a:spcPts val="0"/>
              </a:spcBef>
              <a:spcAft>
                <a:spcPts val="0"/>
              </a:spcAft>
              <a:buNone/>
            </a:pPr>
            <a:r>
              <a:rPr lang="es"/>
              <a:t>	# Signos de puntuación menos exclamación e interrogación</a:t>
            </a:r>
            <a:endParaRPr/>
          </a:p>
          <a:p>
            <a:pPr indent="0" lvl="0" marL="0" rtl="0" algn="l">
              <a:spcBef>
                <a:spcPts val="0"/>
              </a:spcBef>
              <a:spcAft>
                <a:spcPts val="0"/>
              </a:spcAft>
              <a:buNone/>
            </a:pPr>
            <a:r>
              <a:rPr lang="es"/>
              <a:t>	# Espacios extras.</a:t>
            </a:r>
            <a:endParaRPr/>
          </a:p>
          <a:p>
            <a:pPr indent="0" lvl="0" marL="0" rtl="0" algn="l">
              <a:spcBef>
                <a:spcPts val="0"/>
              </a:spcBef>
              <a:spcAft>
                <a:spcPts val="0"/>
              </a:spcAft>
              <a:buNone/>
            </a:pPr>
            <a:r>
              <a:rPr lang="es"/>
              <a:t>	# Caracteres especiales, números y de más.</a:t>
            </a:r>
            <a:endParaRPr/>
          </a:p>
          <a:p>
            <a:pPr indent="0" lvl="0" marL="0" rtl="0" algn="l">
              <a:spcBef>
                <a:spcPts val="0"/>
              </a:spcBef>
              <a:spcAft>
                <a:spcPts val="0"/>
              </a:spcAft>
              <a:buNone/>
            </a:pPr>
            <a:r>
              <a:rPr lang="es"/>
              <a:t># Si nos fijamos en el </a:t>
            </a:r>
            <a:r>
              <a:rPr b="1" lang="es"/>
              <a:t>antes y después</a:t>
            </a:r>
            <a:r>
              <a:rPr lang="es"/>
              <a:t>, vemos que se han quitado comas o puntuación en general.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be44d1fcb7_0_8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be44d1fcb7_0_8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#3 División de nuestro dataset en Entrenamiento y Validación (80/20), vemos que se ha mantenido la proporción de fakes y reales.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#5 </a:t>
            </a:r>
            <a:r>
              <a:rPr lang="es"/>
              <a:t>Preparación de Datasets: Se crea una clase especial llamada </a:t>
            </a:r>
            <a:r>
              <a:rPr b="1" lang="es"/>
              <a:t>FakeNewsDataset</a:t>
            </a:r>
            <a:r>
              <a:rPr lang="es"/>
              <a:t>, organizador de datos para PyTorch que le ayuda a entender </a:t>
            </a:r>
            <a:r>
              <a:rPr b="1" lang="es"/>
              <a:t>cómo acceder</a:t>
            </a:r>
            <a:r>
              <a:rPr lang="es"/>
              <a:t> a nuestros titulares de noticias y las etiquetas.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#7 Creación de DataLoaders: se encargan de </a:t>
            </a:r>
            <a:r>
              <a:rPr b="1" lang="es"/>
              <a:t>entregar los datos</a:t>
            </a:r>
            <a:r>
              <a:rPr lang="es"/>
              <a:t> (titulares y etiquetas) al modelo en pequeños grupos ('batches'), lo cual hará más eficiente el entrenamiento.</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be44d1fcb7_0_1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be44d1fcb7_0_1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000"/>
              <a:t># A continuación se carga nuestro </a:t>
            </a:r>
            <a:r>
              <a:rPr b="1" lang="es" sz="1000"/>
              <a:t>modelo preentrenado </a:t>
            </a:r>
            <a:r>
              <a:rPr lang="es" sz="1000"/>
              <a:t>DistilBertModel y el tokenizador DistilBertTokenizer creados por HuggingFace. Vienen siendo lo mismo que Bert, pero es una versión más </a:t>
            </a:r>
            <a:r>
              <a:rPr b="1" lang="es" sz="1000"/>
              <a:t>ligera, rápida y eficiente</a:t>
            </a:r>
            <a:r>
              <a:rPr lang="es" sz="1000"/>
              <a:t>, muy útil para modelos teóricos.</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s" sz="1000"/>
              <a:t># Lo que hay detrás de este resultado, es la </a:t>
            </a:r>
            <a:r>
              <a:rPr b="1" lang="es" sz="1000"/>
              <a:t>generacion de emeddings</a:t>
            </a:r>
            <a:r>
              <a:rPr lang="es" sz="1000"/>
              <a:t>, que lo que hace es </a:t>
            </a:r>
            <a:r>
              <a:rPr b="1" lang="es" sz="1000"/>
              <a:t>tokenizar los titulares</a:t>
            </a:r>
            <a:r>
              <a:rPr lang="es" sz="1000"/>
              <a:t>, es decir, </a:t>
            </a:r>
            <a:r>
              <a:rPr b="1" lang="es" sz="1000"/>
              <a:t>pasarlos a una secuencia densa de números </a:t>
            </a:r>
            <a:r>
              <a:rPr lang="es" sz="1000"/>
              <a:t>que pueda interpretar después el modelo.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s" sz="1000"/>
              <a:t># El </a:t>
            </a:r>
            <a:r>
              <a:rPr b="1" lang="es" sz="1000"/>
              <a:t>resultado </a:t>
            </a:r>
            <a:r>
              <a:rPr lang="es" sz="1000"/>
              <a:t>que vemos son esa </a:t>
            </a:r>
            <a:r>
              <a:rPr b="1" lang="es" sz="1000"/>
              <a:t>cantidad de titulares </a:t>
            </a:r>
            <a:r>
              <a:rPr lang="es" sz="1000"/>
              <a:t>que teníamos tanto para training como para validation, con la dimensión de 768, que es la </a:t>
            </a:r>
            <a:r>
              <a:rPr b="1" lang="es" sz="1000"/>
              <a:t>representación vectorial numérica densa de cada titular</a:t>
            </a:r>
            <a:r>
              <a:rPr lang="es" sz="1000"/>
              <a:t>.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s" sz="1000"/>
              <a:t># Cargamos nuestro mod</a:t>
            </a:r>
            <a:r>
              <a:rPr lang="es" sz="1000"/>
              <a:t>elo preentrenado </a:t>
            </a:r>
            <a:r>
              <a:rPr b="1" lang="es" sz="1000"/>
              <a:t>DistilBertModel </a:t>
            </a:r>
            <a:r>
              <a:rPr lang="es" sz="1000"/>
              <a:t>(creado por HuggingFace, versión más ligera, rápida y eficiente del modelo de lenguaje BERT). También cargamos nuestro </a:t>
            </a:r>
            <a:r>
              <a:rPr lang="es" sz="1000"/>
              <a:t>tokenizador </a:t>
            </a:r>
            <a:r>
              <a:rPr b="1" lang="es" sz="1000"/>
              <a:t>DistilBertTokenizer</a:t>
            </a:r>
            <a:r>
              <a:rPr lang="es" sz="1000"/>
              <a:t>, que convierte los </a:t>
            </a:r>
            <a:r>
              <a:rPr b="1" lang="es" sz="1000"/>
              <a:t>titulares </a:t>
            </a:r>
            <a:r>
              <a:rPr lang="es" sz="1000"/>
              <a:t>en una </a:t>
            </a:r>
            <a:r>
              <a:rPr b="1" lang="es" sz="1000"/>
              <a:t>secuencia de números</a:t>
            </a:r>
            <a:r>
              <a:rPr lang="es" sz="1000"/>
              <a:t> (tokens), así nuestro modelo lo entiende y puede tomar esos números para transformarlos en</a:t>
            </a:r>
            <a:r>
              <a:rPr b="1" lang="es" sz="1000"/>
              <a:t> vectores numéricos densos </a:t>
            </a:r>
            <a:r>
              <a:rPr lang="es" sz="1000"/>
              <a:t>(los </a:t>
            </a:r>
            <a:r>
              <a:rPr b="1" lang="es" sz="1000"/>
              <a:t>embeddings</a:t>
            </a:r>
            <a:r>
              <a:rPr lang="es" sz="1000"/>
              <a: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s" sz="1000">
                <a:solidFill>
                  <a:srgbClr val="CCCCCC"/>
                </a:solidFill>
              </a:rPr>
              <a:t># Función get_embeddings: Esta función automatiza el proceso. Toma los titulares en lotes, los tokeniza, los pasa por DistilBERT y extrae un vector numérico (embedding) que representa el significado de cada titular. Este vector se suele tomar del token especial [CLS].</a:t>
            </a:r>
            <a:endParaRPr sz="1000">
              <a:solidFill>
                <a:srgbClr val="CCCCCC"/>
              </a:solidFill>
            </a:endParaRPr>
          </a:p>
          <a:p>
            <a:pPr indent="0" lvl="0" marL="0" rtl="0" algn="l">
              <a:spcBef>
                <a:spcPts val="0"/>
              </a:spcBef>
              <a:spcAft>
                <a:spcPts val="0"/>
              </a:spcAft>
              <a:buNone/>
            </a:pPr>
            <a:r>
              <a:t/>
            </a:r>
            <a:endParaRPr sz="1000"/>
          </a:p>
          <a:p>
            <a:pPr indent="0" lvl="0" marL="0" rtl="0" algn="l">
              <a:spcBef>
                <a:spcPts val="0"/>
              </a:spcBef>
              <a:spcAft>
                <a:spcPts val="0"/>
              </a:spcAft>
              <a:buNone/>
            </a:pPr>
            <a:r>
              <a:rPr i="1" lang="es" sz="1000">
                <a:solidFill>
                  <a:srgbClr val="CCCCCC"/>
                </a:solidFill>
              </a:rPr>
              <a:t>Generación y Guardado: Finalmente, se generan estos </a:t>
            </a:r>
            <a:r>
              <a:rPr b="1" i="1" lang="es" sz="1000">
                <a:solidFill>
                  <a:srgbClr val="CCCCCC"/>
                </a:solidFill>
              </a:rPr>
              <a:t>embeddings </a:t>
            </a:r>
            <a:r>
              <a:rPr i="1" lang="es" sz="1000">
                <a:solidFill>
                  <a:srgbClr val="CCCCCC"/>
                </a:solidFill>
              </a:rPr>
              <a:t>para todos los titulares de entrenamiento y validación, y se guardan en archivos .npy. Esto permite reutilizar estos embeddings sin tener que ejecutar DistilBERT cada vez, ahorrando tiempo y recursos.</a:t>
            </a:r>
            <a:endParaRPr i="1" sz="1000">
              <a:solidFill>
                <a:srgbClr val="CCCCCC"/>
              </a:solidFill>
            </a:endParaRPr>
          </a:p>
          <a:p>
            <a:pPr indent="0" lvl="0" marL="0" rtl="0" algn="l">
              <a:spcBef>
                <a:spcPts val="0"/>
              </a:spcBef>
              <a:spcAft>
                <a:spcPts val="0"/>
              </a:spcAft>
              <a:buNone/>
            </a:pPr>
            <a:r>
              <a:rPr i="1" lang="es" sz="1000">
                <a:solidFill>
                  <a:srgbClr val="CCCCCC"/>
                </a:solidFill>
              </a:rPr>
              <a:t>En resumen, esta celda transforma los titulares de noticias de texto puro a un lenguaje numérico que nuestro clasificador puede usar para aprender a distinguir noticias falsas de reales.</a:t>
            </a:r>
            <a:endParaRPr i="1" sz="1000">
              <a:solidFill>
                <a:srgbClr val="CCCCCC"/>
              </a:solidFill>
            </a:endParaRPr>
          </a:p>
          <a:p>
            <a:pPr indent="0" lvl="0" marL="0" rtl="0" algn="l">
              <a:spcBef>
                <a:spcPts val="0"/>
              </a:spcBef>
              <a:spcAft>
                <a:spcPts val="0"/>
              </a:spcAft>
              <a:buNone/>
            </a:pPr>
            <a:r>
              <a:t/>
            </a:r>
            <a:endParaRPr i="1" sz="1000">
              <a:solidFill>
                <a:srgbClr val="CCCCCC"/>
              </a:solidFill>
            </a:endParaRPr>
          </a:p>
          <a:p>
            <a:pPr indent="0" lvl="0" marL="0" rtl="0" algn="l">
              <a:spcBef>
                <a:spcPts val="0"/>
              </a:spcBef>
              <a:spcAft>
                <a:spcPts val="0"/>
              </a:spcAft>
              <a:buNone/>
            </a:pPr>
            <a:r>
              <a:rPr lang="es" sz="1000">
                <a:solidFill>
                  <a:schemeClr val="dk1"/>
                </a:solidFill>
              </a:rPr>
              <a:t>27296: Este primer número representa la cantidad de ejemplos (titulares de noticias) que tenemos en ese conjunto de datos (en este caso, el conjunto de entrenamiento).</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s" sz="1000">
                <a:solidFill>
                  <a:schemeClr val="dk1"/>
                </a:solidFill>
              </a:rPr>
              <a:t>768: Este segundo número indica la </a:t>
            </a:r>
            <a:r>
              <a:rPr b="1" lang="es" sz="1000">
                <a:solidFill>
                  <a:schemeClr val="dk1"/>
                </a:solidFill>
              </a:rPr>
              <a:t>dimensión de cada embedding</a:t>
            </a:r>
            <a:r>
              <a:rPr lang="es" sz="1000">
                <a:solidFill>
                  <a:schemeClr val="dk1"/>
                </a:solidFill>
              </a:rPr>
              <a:t>. Es decir, cada titular de noticia se ha transformado en un vector numérico de 768 componentes numéricos. Esta es la representación numérica densa del</a:t>
            </a:r>
            <a:r>
              <a:rPr b="1" lang="es" sz="1000">
                <a:solidFill>
                  <a:schemeClr val="dk1"/>
                </a:solidFill>
              </a:rPr>
              <a:t> significado del titular</a:t>
            </a:r>
            <a:r>
              <a:rPr lang="es" sz="1000">
                <a:solidFill>
                  <a:schemeClr val="dk1"/>
                </a:solidFill>
              </a:rPr>
              <a:t> que DistilBERT ha generado.</a:t>
            </a:r>
            <a:endParaRPr sz="1000">
              <a:solidFill>
                <a:schemeClr val="dk1"/>
              </a:solidFill>
            </a:endParaRPr>
          </a:p>
          <a:p>
            <a:pPr indent="0" lvl="0" marL="0" rtl="0" algn="l">
              <a:spcBef>
                <a:spcPts val="0"/>
              </a:spcBef>
              <a:spcAft>
                <a:spcPts val="0"/>
              </a:spcAft>
              <a:buNone/>
            </a:pPr>
            <a:r>
              <a:rPr i="1" lang="es" sz="1000">
                <a:solidFill>
                  <a:srgbClr val="999999"/>
                </a:solidFill>
              </a:rPr>
              <a:t>768: es la dimensión del espacio vectorial de los embeddings generados por DistilBERT (y por su modelo padre, BERT base). Es un vector de 768 dimensiones donde cada componente (cada número) ayuda a construir una imagen numérica rica y matizada del titular completo, capturando su significado contextual. Cada uno de esos 768 valores en el vector contribuye a codificar diferentes aspectos (</a:t>
            </a:r>
            <a:r>
              <a:rPr b="1" i="1" lang="es" sz="1000">
                <a:solidFill>
                  <a:srgbClr val="999999"/>
                </a:solidFill>
              </a:rPr>
              <a:t>Semántica</a:t>
            </a:r>
            <a:r>
              <a:rPr i="1" lang="es" sz="1000">
                <a:solidFill>
                  <a:srgbClr val="999999"/>
                </a:solidFill>
              </a:rPr>
              <a:t>=Significado; </a:t>
            </a:r>
            <a:r>
              <a:rPr b="1" i="1" lang="es" sz="1000">
                <a:solidFill>
                  <a:srgbClr val="999999"/>
                </a:solidFill>
              </a:rPr>
              <a:t>Sintaxis</a:t>
            </a:r>
            <a:r>
              <a:rPr i="1" lang="es" sz="1000">
                <a:solidFill>
                  <a:srgbClr val="999999"/>
                </a:solidFill>
              </a:rPr>
              <a:t>=Estructura; </a:t>
            </a:r>
            <a:r>
              <a:rPr b="1" i="1" lang="es" sz="1000">
                <a:solidFill>
                  <a:srgbClr val="999999"/>
                </a:solidFill>
              </a:rPr>
              <a:t>Contexto</a:t>
            </a:r>
            <a:r>
              <a:rPr i="1" lang="es" sz="1000">
                <a:solidFill>
                  <a:srgbClr val="999999"/>
                </a:solidFill>
              </a:rPr>
              <a:t>)</a:t>
            </a:r>
            <a:endParaRPr i="1" sz="1000">
              <a:solidFill>
                <a:srgbClr val="999999"/>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lang="es" sz="1000">
                <a:solidFill>
                  <a:schemeClr val="dk1"/>
                </a:solidFill>
              </a:rPr>
              <a:t>En resumen, (27296, 768) significa que tenemos 27296 vectores, y cada uno de esos vectores tiene 768 componentes numéricos.</a:t>
            </a:r>
            <a:endParaRPr sz="1000">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be44d1fcb7_0_7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be44d1fcb7_0_7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s"/>
              <a:t>P</a:t>
            </a:r>
            <a:r>
              <a:rPr i="1" lang="es"/>
              <a:t>reparando los datos de los embeddings (los vectores numéricos que DistilBERT generó) para </a:t>
            </a:r>
            <a:r>
              <a:rPr b="1" i="1" lang="es"/>
              <a:t>alimentar nuestra propia red neuronal</a:t>
            </a:r>
            <a:r>
              <a:rPr i="1" lang="es"/>
              <a:t> y luego definimos cómo será esa red.</a:t>
            </a:r>
            <a:endParaRPr i="1"/>
          </a:p>
          <a:p>
            <a:pPr indent="0" lvl="0" marL="0" rtl="0" algn="l">
              <a:spcBef>
                <a:spcPts val="0"/>
              </a:spcBef>
              <a:spcAft>
                <a:spcPts val="0"/>
              </a:spcAft>
              <a:buNone/>
            </a:pPr>
            <a:r>
              <a:t/>
            </a:r>
            <a:endParaRPr/>
          </a:p>
          <a:p>
            <a:pPr indent="0" lvl="0" marL="0" rtl="0" algn="l">
              <a:spcBef>
                <a:spcPts val="0"/>
              </a:spcBef>
              <a:spcAft>
                <a:spcPts val="0"/>
              </a:spcAft>
              <a:buNone/>
            </a:pPr>
            <a:r>
              <a:rPr b="1" lang="es"/>
              <a:t>Preparación de los Embeddings</a:t>
            </a:r>
            <a:r>
              <a:rPr lang="es"/>
              <a:t>: Primero, convertimos los embeddings y las etiquetas (0 o 1) a un formato especial de PyTorch llamado tensores. Esto es como empaquetar los datos para que PyTorch los entienda.</a:t>
            </a:r>
            <a:endParaRPr/>
          </a:p>
          <a:p>
            <a:pPr indent="0" lvl="0" marL="0" rtl="0" algn="l">
              <a:spcBef>
                <a:spcPts val="0"/>
              </a:spcBef>
              <a:spcAft>
                <a:spcPts val="0"/>
              </a:spcAft>
              <a:buNone/>
            </a:pPr>
            <a:r>
              <a:t/>
            </a:r>
            <a:endParaRPr/>
          </a:p>
          <a:p>
            <a:pPr indent="0" lvl="0" marL="0" rtl="0" algn="l">
              <a:spcBef>
                <a:spcPts val="0"/>
              </a:spcBef>
              <a:spcAft>
                <a:spcPts val="0"/>
              </a:spcAft>
              <a:buNone/>
            </a:pPr>
            <a:r>
              <a:rPr b="1" lang="es"/>
              <a:t>Dataset y DataLoader para Embeddings</a:t>
            </a:r>
            <a:r>
              <a:rPr lang="es"/>
              <a:t>: Volvemos a usar TensorDataset y DataLoader. Aquí, los TensorDataset </a:t>
            </a:r>
            <a:r>
              <a:rPr b="1" lang="es"/>
              <a:t>agrupan nuestros embeddings y sus etiquetas</a:t>
            </a:r>
            <a:r>
              <a:rPr lang="es"/>
              <a:t>, y los DataLoader </a:t>
            </a:r>
            <a:r>
              <a:rPr b="1" lang="es"/>
              <a:t>los organizan en "lotes" (batches) listos para ser introducidos en la red neuronal.</a:t>
            </a:r>
            <a:endParaRPr b="1"/>
          </a:p>
          <a:p>
            <a:pPr indent="0" lvl="0" marL="0" rtl="0" algn="l">
              <a:spcBef>
                <a:spcPts val="0"/>
              </a:spcBef>
              <a:spcAft>
                <a:spcPts val="0"/>
              </a:spcAft>
              <a:buNone/>
            </a:pPr>
            <a:r>
              <a:t/>
            </a:r>
            <a:endParaRPr/>
          </a:p>
          <a:p>
            <a:pPr indent="0" lvl="0" marL="0" rtl="0" algn="l">
              <a:spcBef>
                <a:spcPts val="0"/>
              </a:spcBef>
              <a:spcAft>
                <a:spcPts val="0"/>
              </a:spcAft>
              <a:buNone/>
            </a:pPr>
            <a:r>
              <a:rPr lang="es"/>
              <a:t>Definición de la </a:t>
            </a:r>
            <a:r>
              <a:rPr b="1" lang="es"/>
              <a:t>Red Neuronal ANN </a:t>
            </a:r>
            <a:r>
              <a:rPr lang="es"/>
              <a:t>“</a:t>
            </a:r>
            <a:r>
              <a:rPr b="1" lang="es"/>
              <a:t>FakeNewsClassifier”</a:t>
            </a:r>
            <a:r>
              <a:rPr lang="es"/>
              <a:t> → Hemos bautizado así a nuestra CLASE:</a:t>
            </a:r>
            <a:endParaRPr/>
          </a:p>
          <a:p>
            <a:pPr indent="0" lvl="0" marL="0" rtl="0" algn="l">
              <a:spcBef>
                <a:spcPts val="0"/>
              </a:spcBef>
              <a:spcAft>
                <a:spcPts val="0"/>
              </a:spcAft>
              <a:buNone/>
            </a:pPr>
            <a:r>
              <a:rPr lang="es"/>
              <a:t>Esta es nuestra red neuronal para clasificar noticias. Es un tipo de red llamada Perceptrón Multicapa (MLP).</a:t>
            </a:r>
            <a:endParaRPr/>
          </a:p>
          <a:p>
            <a:pPr indent="0" lvl="0" marL="0" rtl="0" algn="l">
              <a:spcBef>
                <a:spcPts val="0"/>
              </a:spcBef>
              <a:spcAft>
                <a:spcPts val="0"/>
              </a:spcAft>
              <a:buNone/>
            </a:pPr>
            <a:r>
              <a:t/>
            </a:r>
            <a:endParaRPr/>
          </a:p>
          <a:p>
            <a:pPr indent="0" lvl="0" marL="0" rtl="0" algn="l">
              <a:spcBef>
                <a:spcPts val="0"/>
              </a:spcBef>
              <a:spcAft>
                <a:spcPts val="0"/>
              </a:spcAft>
              <a:buNone/>
            </a:pPr>
            <a:r>
              <a:rPr b="1" lang="es"/>
              <a:t>Capas Densas</a:t>
            </a:r>
            <a:r>
              <a:rPr lang="es"/>
              <a:t> (nn.Linear): Son las "neuronas" de la red. Toma los 768 números de cada embedding y los transforma progresivamente a un número final (1). Primero reduce de 768 a 128, luego a 64 y finalmente a 1.</a:t>
            </a:r>
            <a:endParaRPr/>
          </a:p>
          <a:p>
            <a:pPr indent="0" lvl="0" marL="0" rtl="0" algn="l">
              <a:spcBef>
                <a:spcPts val="0"/>
              </a:spcBef>
              <a:spcAft>
                <a:spcPts val="0"/>
              </a:spcAft>
              <a:buNone/>
            </a:pPr>
            <a:r>
              <a:t/>
            </a:r>
            <a:endParaRPr/>
          </a:p>
          <a:p>
            <a:pPr indent="0" lvl="0" marL="0" rtl="0" algn="l">
              <a:spcBef>
                <a:spcPts val="0"/>
              </a:spcBef>
              <a:spcAft>
                <a:spcPts val="0"/>
              </a:spcAft>
              <a:buNone/>
            </a:pPr>
            <a:r>
              <a:rPr b="1" lang="es"/>
              <a:t>ReLU</a:t>
            </a:r>
            <a:r>
              <a:rPr lang="es"/>
              <a:t>: Es una función de activación que introduce "no linealidad" en la red, permitiéndole aprender mejor los patrones complejos en los datos, </a:t>
            </a:r>
            <a:r>
              <a:rPr lang="es">
                <a:solidFill>
                  <a:schemeClr val="dk1"/>
                </a:solidFill>
              </a:rPr>
              <a:t>al permitir que el modelo active o desactive neuronas de manera selectiva</a:t>
            </a:r>
            <a:endParaRPr/>
          </a:p>
          <a:p>
            <a:pPr indent="0" lvl="0" marL="0" rtl="0" algn="l">
              <a:spcBef>
                <a:spcPts val="0"/>
              </a:spcBef>
              <a:spcAft>
                <a:spcPts val="0"/>
              </a:spcAft>
              <a:buNone/>
            </a:pPr>
            <a:r>
              <a:rPr b="1" lang="es"/>
              <a:t>ReLU </a:t>
            </a:r>
            <a:r>
              <a:rPr lang="es"/>
              <a:t>en las capas ocultas (fc1, fc2): El propósito principal de ReLU es introducir no-linealidad en la red. Si todas tus capas fueran solo transformaciones lineales, por muy profundas que fueran, la red entera seguiría siendo equivalente a una única transformación lineal. Esto limitaría severamente la capacidad del modelo para aprender patrones complejos y no lineales en tus datos (que son la mayoría de los problemas del mundo real).</a:t>
            </a:r>
            <a:endParaRPr/>
          </a:p>
          <a:p>
            <a:pPr indent="0" lvl="0" marL="0" rtl="0" algn="l">
              <a:spcBef>
                <a:spcPts val="0"/>
              </a:spcBef>
              <a:spcAft>
                <a:spcPts val="0"/>
              </a:spcAft>
              <a:buNone/>
            </a:pPr>
            <a:r>
              <a:rPr b="1" lang="es"/>
              <a:t>ReLU </a:t>
            </a:r>
            <a:r>
              <a:rPr lang="es"/>
              <a:t>ayuda a la red a aprender funciones más complejas al permitir que el modelo active o desactive neuronas de manera selectiva. Es computacionalmente eficiente y ha demostrado ser muy efectivo en redes neuronales profundas.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s"/>
              <a:t>Dropout</a:t>
            </a:r>
            <a:r>
              <a:rPr lang="es"/>
              <a:t>: Es una técnica de regularización. Durante el entrenamiento, apaga aleatoriamente algunas neuronas para </a:t>
            </a:r>
            <a:r>
              <a:rPr b="1" lang="es"/>
              <a:t>evitar que la red se "memorice"</a:t>
            </a:r>
            <a:r>
              <a:rPr lang="es"/>
              <a:t> los datos de entrenamiento (sobreajuste) y así generalice mejor a nuevas noticias.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s"/>
              <a:t>Capa Final:</a:t>
            </a:r>
            <a:r>
              <a:rPr lang="es"/>
              <a:t> La última capa (fc3) reduce todo a 1 salida, que representará la probabilidad de que una noticia sea real.</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Tu Modelo (model_nn o FakeNewsClassifier):</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Cuando pasas los embeddings (batch_emb) a tu modelo (</a:t>
            </a:r>
            <a:r>
              <a:rPr b="1" lang="es"/>
              <a:t>logits</a:t>
            </a:r>
            <a:r>
              <a:rPr lang="es"/>
              <a:t> = model_nn(batch_emb)), estos embeddings viajan a través de las diferentes capas de la red neuronal (fc1, fc2).</a:t>
            </a:r>
            <a:endParaRPr/>
          </a:p>
          <a:p>
            <a:pPr indent="0" lvl="0" marL="0" rtl="0" algn="l">
              <a:spcBef>
                <a:spcPts val="0"/>
              </a:spcBef>
              <a:spcAft>
                <a:spcPts val="0"/>
              </a:spcAft>
              <a:buNone/>
            </a:pPr>
            <a:r>
              <a:rPr lang="es"/>
              <a:t>La última capa lineal (self.fc3) toma la salida procesada de las capas anteriores y aplica una transformación lineal final.</a:t>
            </a:r>
            <a:endParaRPr/>
          </a:p>
          <a:p>
            <a:pPr indent="0" lvl="0" marL="0" rtl="0" algn="l">
              <a:spcBef>
                <a:spcPts val="0"/>
              </a:spcBef>
              <a:spcAft>
                <a:spcPts val="0"/>
              </a:spcAft>
              <a:buNone/>
            </a:pPr>
            <a:r>
              <a:rPr b="1" lang="es"/>
              <a:t>Logits</a:t>
            </a:r>
            <a:r>
              <a:rPr lang="es"/>
              <a:t>: La salida de esta última capa lineal (self.fc3) son los logits. No son los embeddings ni las etiquetas, sino el </a:t>
            </a:r>
            <a:r>
              <a:rPr b="1" lang="es"/>
              <a:t>resultado del procesamiento de los embeddings a través de toda la red neuronal</a:t>
            </a:r>
            <a:r>
              <a:rPr lang="es"/>
              <a:t>, justo antes de que se aplique una función de activación para convertirlos en probabilidades.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Así que, los </a:t>
            </a:r>
            <a:r>
              <a:rPr b="1" lang="es"/>
              <a:t>logits </a:t>
            </a:r>
            <a:r>
              <a:rPr lang="es"/>
              <a:t>son los</a:t>
            </a:r>
            <a:r>
              <a:rPr b="1" lang="es"/>
              <a:t> valores de puntuación crudos </a:t>
            </a:r>
            <a:r>
              <a:rPr lang="es"/>
              <a:t>que tu red neuronal produce para cada entrada (cada embedding) en la capa de salida, </a:t>
            </a:r>
            <a:r>
              <a:rPr b="1" lang="es"/>
              <a:t>antes de la interpretación probabilística</a:t>
            </a:r>
            <a:r>
              <a:rPr lang="es"/>
              <a: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s"/>
              <a:t>“model_nn”</a:t>
            </a:r>
            <a:r>
              <a:rPr lang="es"/>
              <a:t> </a:t>
            </a:r>
            <a:r>
              <a:rPr b="1" lang="es">
                <a:solidFill>
                  <a:schemeClr val="dk1"/>
                </a:solidFill>
              </a:rPr>
              <a:t>es la red neuronal lista para ser entrenada y hacer predicciones</a:t>
            </a:r>
            <a:r>
              <a:rPr lang="es">
                <a:solidFill>
                  <a:schemeClr val="dk1"/>
                </a:solidFill>
              </a:rPr>
              <a:t>. </a:t>
            </a:r>
            <a:r>
              <a:rPr lang="es"/>
              <a:t>E</a:t>
            </a:r>
            <a:r>
              <a:rPr lang="es"/>
              <a:t>s el nombre de la instancia de tu red neuronal, FakeNewsClassifier. Es la representación concreta y ejecutable del modelo que definiste en la clase.</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Cuando se escribe:</a:t>
            </a:r>
            <a:r>
              <a:rPr i="1" lang="es"/>
              <a:t> model_nn = FakeNewsClassifier().to(device)</a:t>
            </a:r>
            <a:endParaRPr i="1"/>
          </a:p>
          <a:p>
            <a:pPr indent="0" lvl="0" marL="0" rtl="0" algn="l">
              <a:spcBef>
                <a:spcPts val="0"/>
              </a:spcBef>
              <a:spcAft>
                <a:spcPts val="0"/>
              </a:spcAft>
              <a:buNone/>
            </a:pPr>
            <a:r>
              <a:rPr lang="es"/>
              <a:t>Se está haciendo lo siguiente:</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FakeNewsClassifier(): Creando un objeto o instancia de la clase FakeNewsClassifier. Este objeto tiene todas las capas (fc1, dropout1, fc2, dropout2, fc3) y la lógica (forward) que definiste.</a:t>
            </a:r>
            <a:endParaRPr/>
          </a:p>
          <a:p>
            <a:pPr indent="0" lvl="0" marL="0" rtl="0" algn="l">
              <a:spcBef>
                <a:spcPts val="0"/>
              </a:spcBef>
              <a:spcAft>
                <a:spcPts val="0"/>
              </a:spcAft>
              <a:buNone/>
            </a:pPr>
            <a:r>
              <a:rPr lang="es"/>
              <a:t>.to(device): Moviendo este objeto (es decir, el modelo con sus parámetros/pesos) al dispositivo de cómputo seleccionado (GPU si está disponible, o CPU). Esto es crucial para que el modelo pueda realizar cálculos de manera eficiente.</a:t>
            </a:r>
            <a:endParaRPr/>
          </a:p>
          <a:p>
            <a:pPr indent="0" lvl="0" marL="0" rtl="0" algn="l">
              <a:spcBef>
                <a:spcPts val="0"/>
              </a:spcBef>
              <a:spcAft>
                <a:spcPts val="0"/>
              </a:spcAft>
              <a:buNone/>
            </a:pPr>
            <a:r>
              <a:rPr lang="es"/>
              <a:t>Así que,</a:t>
            </a:r>
            <a:r>
              <a:rPr b="1" lang="es"/>
              <a:t> model_nn es la red neuronal lista para ser entrenada y hacer predicciones.</a:t>
            </a:r>
            <a:endParaRPr b="1"/>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be44d1fcb7_0_1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be44d1fcb7_0_1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'COMPILAR Y ENTRENAR MODELO (PyTorch)' es donde nuestra red neuronal aprende a clasificar. Aquí se configuran los elementos clave para el entrenamiento y se ejecuta el proceso de aprendizaje.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i="1" lang="es">
                <a:solidFill>
                  <a:schemeClr val="dk1"/>
                </a:solidFill>
              </a:rPr>
              <a:t>Logits para Estabilidad Numérica</a:t>
            </a:r>
            <a:r>
              <a:rPr i="1" lang="es">
                <a:solidFill>
                  <a:schemeClr val="dk1"/>
                </a:solidFill>
              </a:rPr>
              <a:t>: La salida de los logits (valores no restringidos) </a:t>
            </a:r>
            <a:r>
              <a:rPr b="1" i="1" lang="es">
                <a:solidFill>
                  <a:schemeClr val="dk1"/>
                </a:solidFill>
              </a:rPr>
              <a:t>se utiliza directamente en funciones de pérdida como BCEWithLogitsLos</a:t>
            </a:r>
            <a:r>
              <a:rPr i="1" lang="es">
                <a:solidFill>
                  <a:schemeClr val="dk1"/>
                </a:solidFill>
              </a:rPr>
              <a:t>s para mantener la estabilidad numérica, especialmente con probabilidades muy cercanas a 0 o 1, </a:t>
            </a:r>
            <a:r>
              <a:rPr b="1" i="1" lang="es">
                <a:solidFill>
                  <a:schemeClr val="dk1"/>
                </a:solidFill>
              </a:rPr>
              <a:t>evitando problemas de precisión en los cálculos durante el entrenamiento.</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Pesos de Clase (pos_weight):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¿Qué es? Se calcula un pos_weight si las clases (noticias falsas y reales) no están perfectamente balanceadas en el conjunto de entrenamiento. Es decir, si hay más noticias falsas que reales, o viceversa.</a:t>
            </a:r>
            <a:endParaRPr/>
          </a:p>
          <a:p>
            <a:pPr indent="0" lvl="0" marL="0" rtl="0" algn="l">
              <a:spcBef>
                <a:spcPts val="0"/>
              </a:spcBef>
              <a:spcAft>
                <a:spcPts val="0"/>
              </a:spcAft>
              <a:buNone/>
            </a:pPr>
            <a:r>
              <a:rPr lang="es"/>
              <a:t>¿Por qué? Este peso se usa para darle más importancia a la clase minoritaria durante el entrenamiento, evitando que el modelo se incline a predecir solo la clase mayoritaria y así mejorar su capacidad de identificar ambas clases correctamente.</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Función de Pérdida (criterion):</a:t>
            </a:r>
            <a:endParaRPr/>
          </a:p>
          <a:p>
            <a:pPr indent="0" lvl="0" marL="0" rtl="0" algn="l">
              <a:spcBef>
                <a:spcPts val="0"/>
              </a:spcBef>
              <a:spcAft>
                <a:spcPts val="0"/>
              </a:spcAft>
              <a:buNone/>
            </a:pPr>
            <a:r>
              <a:rPr lang="es"/>
              <a:t>¿Qué es? Se define </a:t>
            </a:r>
            <a:r>
              <a:rPr b="1" lang="es"/>
              <a:t>nn.BCEWithLogitsLoss</a:t>
            </a:r>
            <a:r>
              <a:rPr lang="es"/>
              <a:t>. Es la función que mide qué tan 'mal' lo está haciendo nuestro modelo. Cuanto mayor sea la diferencia entre la predicción del modelo y la etiqueta real, mayor será la 'pérdida'.</a:t>
            </a:r>
            <a:endParaRPr/>
          </a:p>
          <a:p>
            <a:pPr indent="0" lvl="0" marL="0" rtl="0" algn="l">
              <a:spcBef>
                <a:spcPts val="0"/>
              </a:spcBef>
              <a:spcAft>
                <a:spcPts val="0"/>
              </a:spcAft>
              <a:buNone/>
            </a:pPr>
            <a:r>
              <a:rPr lang="es"/>
              <a:t>¿Por qué? Es ideal para problemas de clasificación binaria (como 'fake' o 'real') porque combina una función sigmoid (para obtener probabilidades) con la entropía cruzada, y puede incorporar el pos_weight para el desbalanceo de clases.</a:t>
            </a:r>
            <a:endParaRPr/>
          </a:p>
          <a:p>
            <a:pPr indent="0" lvl="0" marL="0" rtl="0" algn="l">
              <a:spcBef>
                <a:spcPts val="0"/>
              </a:spcBef>
              <a:spcAft>
                <a:spcPts val="0"/>
              </a:spcAft>
              <a:buNone/>
            </a:pPr>
            <a:r>
              <a:t/>
            </a:r>
            <a:endParaRPr i="1"/>
          </a:p>
          <a:p>
            <a:pPr indent="0" lvl="0" marL="0" rtl="0" algn="l">
              <a:spcBef>
                <a:spcPts val="0"/>
              </a:spcBef>
              <a:spcAft>
                <a:spcPts val="0"/>
              </a:spcAft>
              <a:buNone/>
            </a:pPr>
            <a:r>
              <a:rPr i="1" lang="es"/>
              <a:t>En resumen: </a:t>
            </a:r>
            <a:r>
              <a:rPr b="1" i="1" lang="es"/>
              <a:t>nn.BCEWithLogitsLoss </a:t>
            </a:r>
            <a:r>
              <a:rPr i="1" lang="es"/>
              <a:t>se encarga de la sigmoid para su cálculo interno de la pérdida, pero nosotros aplicamos </a:t>
            </a:r>
            <a:r>
              <a:rPr b="1" i="1" lang="es"/>
              <a:t>sigmoid </a:t>
            </a:r>
            <a:r>
              <a:rPr i="1" lang="es"/>
              <a:t>explícitamente a los logits cuando queremos obtener las probabilidades y las predicciones binarias para evaluar el rendimiento del modelo en términos comprensibles.</a:t>
            </a:r>
            <a:endParaRPr i="1"/>
          </a:p>
          <a:p>
            <a:pPr indent="0" lvl="0" marL="0" rtl="0" algn="l">
              <a:spcBef>
                <a:spcPts val="0"/>
              </a:spcBef>
              <a:spcAft>
                <a:spcPts val="0"/>
              </a:spcAft>
              <a:buNone/>
            </a:pPr>
            <a:r>
              <a:t/>
            </a:r>
            <a:endParaRPr/>
          </a:p>
          <a:p>
            <a:pPr indent="0" lvl="0" marL="0" rtl="0" algn="l">
              <a:spcBef>
                <a:spcPts val="0"/>
              </a:spcBef>
              <a:spcAft>
                <a:spcPts val="0"/>
              </a:spcAft>
              <a:buNone/>
            </a:pPr>
            <a:r>
              <a:rPr b="1" lang="es"/>
              <a:t>Optimizador </a:t>
            </a:r>
            <a:r>
              <a:rPr lang="es"/>
              <a:t>(optimizer):</a:t>
            </a:r>
            <a:endParaRPr/>
          </a:p>
          <a:p>
            <a:pPr indent="0" lvl="0" marL="0" rtl="0" algn="l">
              <a:spcBef>
                <a:spcPts val="0"/>
              </a:spcBef>
              <a:spcAft>
                <a:spcPts val="0"/>
              </a:spcAft>
              <a:buNone/>
            </a:pPr>
            <a:r>
              <a:rPr lang="es"/>
              <a:t>¿Qué es? Se usa optim.</a:t>
            </a:r>
            <a:r>
              <a:rPr b="1" lang="es"/>
              <a:t>Adam</a:t>
            </a:r>
            <a:r>
              <a:rPr lang="es"/>
              <a:t>. El optimizador es el "cerebro" que ajusta los pesos internos de la red neuronal. Después de calcular la pérdida, el optimizador decide cómo cambiar ligeramente cada peso para que la red cometa menos errores en el futuro.</a:t>
            </a:r>
            <a:endParaRPr/>
          </a:p>
          <a:p>
            <a:pPr indent="0" lvl="0" marL="0" rtl="0" algn="l">
              <a:spcBef>
                <a:spcPts val="0"/>
              </a:spcBef>
              <a:spcAft>
                <a:spcPts val="0"/>
              </a:spcAft>
              <a:buNone/>
            </a:pPr>
            <a:r>
              <a:rPr lang="es"/>
              <a:t>¿Por qué? Adam es un optimizador muy popular y efectivo que se adapta bien a diferentes tipos de problemas y suele ser una buena opción por defecto.</a:t>
            </a:r>
            <a:endParaRPr/>
          </a:p>
          <a:p>
            <a:pPr indent="0" lvl="0" marL="0" rtl="0" algn="l">
              <a:spcBef>
                <a:spcPts val="0"/>
              </a:spcBef>
              <a:spcAft>
                <a:spcPts val="0"/>
              </a:spcAft>
              <a:buNone/>
            </a:pPr>
            <a:r>
              <a:t/>
            </a:r>
            <a:endParaRPr/>
          </a:p>
          <a:p>
            <a:pPr indent="0" lvl="0" marL="0" rtl="0" algn="l">
              <a:spcBef>
                <a:spcPts val="0"/>
              </a:spcBef>
              <a:spcAft>
                <a:spcPts val="0"/>
              </a:spcAft>
              <a:buNone/>
            </a:pPr>
            <a:r>
              <a:rPr b="1" lang="es"/>
              <a:t>Bucle de Entrenamiento</a:t>
            </a:r>
            <a:r>
              <a:rPr lang="es"/>
              <a:t> (las epochs):</a:t>
            </a:r>
            <a:endParaRPr/>
          </a:p>
          <a:p>
            <a:pPr indent="0" lvl="0" marL="0" rtl="0" algn="l">
              <a:spcBef>
                <a:spcPts val="0"/>
              </a:spcBef>
              <a:spcAft>
                <a:spcPts val="0"/>
              </a:spcAft>
              <a:buNone/>
            </a:pPr>
            <a:r>
              <a:rPr lang="es"/>
              <a:t>¿Qué es? Este es el corazón del entrenamiento. La red neuronal "revisa" todo el conjunto de entrenamiento varias veces (epochs). En cada revisión, hace lo siguiente:</a:t>
            </a:r>
            <a:endParaRPr/>
          </a:p>
          <a:p>
            <a:pPr indent="0" lvl="0" marL="0" rtl="0" algn="l">
              <a:spcBef>
                <a:spcPts val="0"/>
              </a:spcBef>
              <a:spcAft>
                <a:spcPts val="0"/>
              </a:spcAft>
              <a:buNone/>
            </a:pPr>
            <a:r>
              <a:rPr lang="es"/>
              <a:t>Fase de Entrenamiento: Procesa los datos en batches, hace una predicción (logits), calcula la pérdida, y luego usa esa pérdida para ajustar sus pesos (con backward() y optimizer.step()).</a:t>
            </a:r>
            <a:endParaRPr/>
          </a:p>
          <a:p>
            <a:pPr indent="0" lvl="0" marL="0" rtl="0" algn="l">
              <a:spcBef>
                <a:spcPts val="0"/>
              </a:spcBef>
              <a:spcAft>
                <a:spcPts val="0"/>
              </a:spcAft>
              <a:buNone/>
            </a:pPr>
            <a:r>
              <a:rPr lang="es"/>
              <a:t>Fase de Validación: Después de cada 'epoch' de entrenamiento, el modelo se evalúa en el conjunto de validación (datos que no ha visto durante el entrenamiento). Aquí se calcula la pérdida de validación y la precisión para ver qué tan bien está generalizando el modelo a datos nuevos.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La razón es que </a:t>
            </a:r>
            <a:r>
              <a:rPr b="1" lang="es"/>
              <a:t>la función de pérdida nn.BCEWithLogitsLoss (ya aplica sigmoid + entropía cruzada) </a:t>
            </a:r>
            <a:r>
              <a:rPr lang="es"/>
              <a:t>está diseñada específicamente para trabajar con los logits (la salida directa de la capa lineal final, sin aplicarles sigmoid). Esta función combina la operación sigmoid y el cálculo de la entropía cruzada binaria en un solo paso, lo que ofrece una mayor </a:t>
            </a:r>
            <a:r>
              <a:rPr b="1" lang="es"/>
              <a:t>estabilidad numérica.</a:t>
            </a:r>
            <a:r>
              <a:rPr lang="es"/>
              <a:t> Si aplicaras sigmoid en tu modelo y luego pasaras esa salida a nn.BCEWithLogitsLoss, estarías aplicando la sigmoid dos veces o podrías encontrarte con problemas numéricos debido a valores muy pequeños o muy grandes.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Por lo tanto, en tu FakeNewsClassifier de PyTorch, el return self.fc3(x) es la forma correcta de entregar los </a:t>
            </a:r>
            <a:r>
              <a:rPr b="1" lang="es"/>
              <a:t>logits </a:t>
            </a:r>
            <a:r>
              <a:rPr lang="es"/>
              <a:t>directamente a la</a:t>
            </a:r>
            <a:r>
              <a:rPr b="1" lang="es"/>
              <a:t> función de pérdida </a:t>
            </a:r>
            <a:r>
              <a:rPr lang="es"/>
              <a:t>nn.</a:t>
            </a:r>
            <a:r>
              <a:rPr b="1" lang="es"/>
              <a:t>BCEWithLogitsLoss</a:t>
            </a:r>
            <a:r>
              <a:rPr lang="es"/>
              <a:t>, que se encargará internamente de aplicar la activación Sigmoid y calcular la pérdida.</a:t>
            </a:r>
            <a:endParaRPr/>
          </a:p>
          <a:p>
            <a:pPr indent="0" lvl="0" marL="0" rtl="0" algn="l">
              <a:spcBef>
                <a:spcPts val="0"/>
              </a:spcBef>
              <a:spcAft>
                <a:spcPts val="0"/>
              </a:spcAft>
              <a:buNone/>
            </a:pPr>
            <a:r>
              <a:t/>
            </a:r>
            <a:endParaRPr/>
          </a:p>
          <a:p>
            <a:pPr indent="0" lvl="0" marL="0" rtl="0" algn="l">
              <a:spcBef>
                <a:spcPts val="0"/>
              </a:spcBef>
              <a:spcAft>
                <a:spcPts val="0"/>
              </a:spcAft>
              <a:buNone/>
            </a:pPr>
            <a:r>
              <a:rPr b="1" lang="es"/>
              <a:t>Early Stopping</a:t>
            </a:r>
            <a:r>
              <a:rPr lang="es"/>
              <a:t> (Parada Temprana):</a:t>
            </a:r>
            <a:endParaRPr/>
          </a:p>
          <a:p>
            <a:pPr indent="0" lvl="0" marL="0" rtl="0" algn="l">
              <a:spcBef>
                <a:spcPts val="0"/>
              </a:spcBef>
              <a:spcAft>
                <a:spcPts val="0"/>
              </a:spcAft>
              <a:buNone/>
            </a:pPr>
            <a:r>
              <a:rPr lang="es"/>
              <a:t>¿Qué es? Es una estrategia para detener el entrenamiento antes de tiempo si el modelo deja de mejorar en el conjunto de validación. Esto evita el sobreajuste (overfitting), que es cuando el modelo aprende demasiado bien los datos de entrenamiento pero pierde la capacidad de predecir correctamente en datos nuevos.</a:t>
            </a:r>
            <a:endParaRPr/>
          </a:p>
          <a:p>
            <a:pPr indent="0" lvl="0" marL="0" rtl="0" algn="l">
              <a:spcBef>
                <a:spcPts val="0"/>
              </a:spcBef>
              <a:spcAft>
                <a:spcPts val="0"/>
              </a:spcAft>
              <a:buNone/>
            </a:pPr>
            <a:r>
              <a:rPr lang="es"/>
              <a:t>¿Por qué? Si la pérdida de validación no mejora después de un cierto número de epochs (definido por patience), el entrenamiento se detiene. Además, se guarda automáticamente la versión del modelo que tuvo el mejor rendimiento en validación, asegurando que siempre tengamos la mejor versión posible del modelo.</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best_epoch = 0:</a:t>
            </a:r>
            <a:endParaRPr/>
          </a:p>
          <a:p>
            <a:pPr indent="0" lvl="0" marL="0" rtl="0" algn="l">
              <a:spcBef>
                <a:spcPts val="0"/>
              </a:spcBef>
              <a:spcAft>
                <a:spcPts val="0"/>
              </a:spcAft>
              <a:buNone/>
            </a:pPr>
            <a:r>
              <a:rPr lang="es"/>
              <a:t>¿Por qué 0? Se inicializa a 0 porque representa el primer momento (antes de cualquier época de entrenamiento) donde aún no hemos identificado el "mejor" rendimiento. A medida que el entrenamiento avanza, este valor se actualizará a la época en la que el modelo obtuvo la menor pérdida en el conjunto de validación.</a:t>
            </a:r>
            <a:endParaRPr/>
          </a:p>
          <a:p>
            <a:pPr indent="0" lvl="0" marL="0" rtl="0" algn="l">
              <a:spcBef>
                <a:spcPts val="0"/>
              </a:spcBef>
              <a:spcAft>
                <a:spcPts val="0"/>
              </a:spcAft>
              <a:buNone/>
            </a:pPr>
            <a:r>
              <a:rPr lang="es"/>
              <a:t>Propósito: Sirve para llevar un registro de en qué época específica se guardó el mejor modelo (best_model.pth). Así, al final del entrenamiento, sabemos exactamente qué iteración fue la más exitosa.</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early_stop_counter = 0:</a:t>
            </a:r>
            <a:endParaRPr/>
          </a:p>
          <a:p>
            <a:pPr indent="0" lvl="0" marL="0" rtl="0" algn="l">
              <a:spcBef>
                <a:spcPts val="0"/>
              </a:spcBef>
              <a:spcAft>
                <a:spcPts val="0"/>
              </a:spcAft>
              <a:buNone/>
            </a:pPr>
            <a:r>
              <a:rPr lang="es"/>
              <a:t>¿Por qué 0? También se inicializa a 0 para empezar a contar. Este contador se incrementa cada vez que la pérdida de validación del modelo no mejora con respecto a la mejor pérdida que se ha logrado hasta el momento.</a:t>
            </a:r>
            <a:endParaRPr/>
          </a:p>
          <a:p>
            <a:pPr indent="0" lvl="0" marL="0" rtl="0" algn="l">
              <a:spcBef>
                <a:spcPts val="0"/>
              </a:spcBef>
              <a:spcAft>
                <a:spcPts val="0"/>
              </a:spcAft>
              <a:buNone/>
            </a:pPr>
            <a:r>
              <a:rPr lang="es"/>
              <a:t>Propósito: Se compara con el valor de patience (en nuestro caso, 4). Si el contador alcanza el valor de patience (es decir, la pérdida de validación no ha mejorado durante 4 épocas consecutivas), el entrenamiento se detiene. Esto previene el sobreajuste.</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Pero el "</a:t>
            </a:r>
            <a:r>
              <a:rPr b="1" lang="es"/>
              <a:t>Bucle principal de entrenamiento</a:t>
            </a:r>
            <a:r>
              <a:rPr lang="es"/>
              <a:t>" es el que hace que el motor arranque y funcione, permitiendo que el coche se mueva y aprenda a navegar.</a:t>
            </a:r>
            <a:endParaRPr/>
          </a:p>
          <a:p>
            <a:pPr indent="0" lvl="0" marL="0" rtl="0" algn="l">
              <a:spcBef>
                <a:spcPts val="0"/>
              </a:spcBef>
              <a:spcAft>
                <a:spcPts val="0"/>
              </a:spcAft>
              <a:buNone/>
            </a:pPr>
            <a:r>
              <a:rPr lang="es"/>
              <a:t>Este bucle es donde ocurren repetidamente los siguientes pasos clave:</a:t>
            </a:r>
            <a:endParaRPr/>
          </a:p>
          <a:p>
            <a:pPr indent="0" lvl="0" marL="0" rtl="0" algn="l">
              <a:spcBef>
                <a:spcPts val="0"/>
              </a:spcBef>
              <a:spcAft>
                <a:spcPts val="0"/>
              </a:spcAft>
              <a:buNone/>
            </a:pPr>
            <a:r>
              <a:rPr lang="es"/>
              <a:t>Iteración sobre los datos: El modelo ve los datos de entrenamiento en pequeños lotes (batches).</a:t>
            </a:r>
            <a:endParaRPr/>
          </a:p>
          <a:p>
            <a:pPr indent="0" lvl="0" marL="0" rtl="0" algn="l">
              <a:spcBef>
                <a:spcPts val="0"/>
              </a:spcBef>
              <a:spcAft>
                <a:spcPts val="0"/>
              </a:spcAft>
              <a:buNone/>
            </a:pPr>
            <a:r>
              <a:rPr lang="es"/>
              <a:t>Paso hacia adelante (Forward Pass): Hace una predicción basada en los datos actuales.</a:t>
            </a:r>
            <a:endParaRPr/>
          </a:p>
          <a:p>
            <a:pPr indent="0" lvl="0" marL="0" rtl="0" algn="l">
              <a:spcBef>
                <a:spcPts val="0"/>
              </a:spcBef>
              <a:spcAft>
                <a:spcPts val="0"/>
              </a:spcAft>
              <a:buNone/>
            </a:pPr>
            <a:r>
              <a:rPr lang="es"/>
              <a:t>Cálculo de la pérdida: Compara su predicción con la etiqueta real y calcula cuánto se equivocó (loss).</a:t>
            </a:r>
            <a:endParaRPr/>
          </a:p>
          <a:p>
            <a:pPr indent="0" lvl="0" marL="0" rtl="0" algn="l">
              <a:spcBef>
                <a:spcPts val="0"/>
              </a:spcBef>
              <a:spcAft>
                <a:spcPts val="0"/>
              </a:spcAft>
              <a:buNone/>
            </a:pPr>
            <a:r>
              <a:rPr lang="es"/>
              <a:t>Paso hacia atrás (Backward Pass / Backpropagation): Calcula cómo los errores se propagan hacia atrás a través de la red, indicando cómo se deben ajustar los pesos (loss.backward()).</a:t>
            </a:r>
            <a:endParaRPr/>
          </a:p>
          <a:p>
            <a:pPr indent="0" lvl="0" marL="0" rtl="0" algn="l">
              <a:spcBef>
                <a:spcPts val="0"/>
              </a:spcBef>
              <a:spcAft>
                <a:spcPts val="0"/>
              </a:spcAft>
              <a:buNone/>
            </a:pPr>
            <a:r>
              <a:rPr lang="es"/>
              <a:t>Actualización de pesos: El optimizador ajusta los pesos del modelo para intentar reducir la pérdida en la siguiente iteración (optimizer.step()).</a:t>
            </a:r>
            <a:endParaRPr/>
          </a:p>
          <a:p>
            <a:pPr indent="0" lvl="0" marL="0" rtl="0" algn="l">
              <a:spcBef>
                <a:spcPts val="0"/>
              </a:spcBef>
              <a:spcAft>
                <a:spcPts val="0"/>
              </a:spcAft>
              <a:buNone/>
            </a:pPr>
            <a:r>
              <a:rPr lang="es"/>
              <a:t>Todo este proceso se repite miles o millones de veces (a lo largo de las épocas y los batches) hasta que el modelo aprende a hacer predicciones precisas. Si quitas ese bucle, el modelo no tiene la oportunidad de aprender de los datos.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La </a:t>
            </a:r>
            <a:r>
              <a:rPr b="1" lang="es"/>
              <a:t>aparición de Sigmoid</a:t>
            </a:r>
            <a:r>
              <a:rPr lang="es"/>
              <a:t> en la parte de Entrenamiento y en la parte de Evaluación, son necesarias, pero cumplen funciones ligeramente diferentes en el flujo de trabajo: una es para monitoreo y control durante el entrenamiento, y la otra es para la evaluación final y la presentación de resultados.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s"/>
              <a:t>¿Por qué 0.001 es un valor común?</a:t>
            </a:r>
            <a:endParaRPr b="1"/>
          </a:p>
          <a:p>
            <a:pPr indent="0" lvl="0" marL="0" rtl="0" algn="l">
              <a:spcBef>
                <a:spcPts val="0"/>
              </a:spcBef>
              <a:spcAft>
                <a:spcPts val="0"/>
              </a:spcAft>
              <a:buNone/>
            </a:pPr>
            <a:r>
              <a:rPr lang="es"/>
              <a:t>Para optimizadores avanzados como Adam (que es el que estamos usando), 0.001 es un punto de partida muy común y a menudo efectivo. Los desarrolladores de Adam sugirieron este valor en su artículo original y la comunidad ha encontrado que funciona bien en una amplia gama de problemas.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s"/>
              <a:t>Por cada época, la red neuronal vuelve a ver todos los datos del conjunto de entrenamiento.</a:t>
            </a:r>
            <a:endParaRPr/>
          </a:p>
          <a:p>
            <a:pPr indent="0" lvl="0" marL="0" rtl="0" algn="l">
              <a:spcBef>
                <a:spcPts val="0"/>
              </a:spcBef>
              <a:spcAft>
                <a:spcPts val="0"/>
              </a:spcAft>
              <a:buNone/>
            </a:pPr>
            <a:r>
              <a:rPr lang="es"/>
              <a:t>La diferencia es que, en cada época, el orden en que se presentan los datos a la red (especialmente el orden de los batches) suele ser diferente si tienes shuffle=True configurado en tu DataLoader (como lo tienes para train_loader). Esto ayuda a que el modelo no 'memorice' el orden específico de los datos y mejore su capacidad de generalización.</a:t>
            </a:r>
            <a:endParaRPr/>
          </a:p>
          <a:p>
            <a:pPr indent="0" lvl="0" marL="0" rtl="0" algn="l">
              <a:spcBef>
                <a:spcPts val="0"/>
              </a:spcBef>
              <a:spcAft>
                <a:spcPts val="0"/>
              </a:spcAft>
              <a:buNone/>
            </a:pPr>
            <a:r>
              <a:rPr lang="es"/>
              <a:t>Y sí, por cada época, el principal objetivo de tu red es ajustar progresivamente sus pesos y sesgos para minimizar la función de pérdida y, en consecuencia, mejorar la precisión de sus predicciones.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Por cada época, la red neuronal, con sus pesos y sesgos actuales, genera </a:t>
            </a:r>
            <a:r>
              <a:rPr b="1" lang="es"/>
              <a:t>logits </a:t>
            </a:r>
            <a:r>
              <a:rPr lang="es"/>
              <a:t>a partir de los datos de entrenamiento.</a:t>
            </a:r>
            <a:endParaRPr/>
          </a:p>
          <a:p>
            <a:pPr indent="0" lvl="0" marL="0" rtl="0" algn="l">
              <a:spcBef>
                <a:spcPts val="0"/>
              </a:spcBef>
              <a:spcAft>
                <a:spcPts val="0"/>
              </a:spcAft>
              <a:buNone/>
            </a:pPr>
            <a:r>
              <a:rPr b="1" lang="es"/>
              <a:t>Estos logits, junto con las etiquetas reales, son utilizados por la función de pérdida para calcular el error.</a:t>
            </a:r>
            <a:endParaRPr b="1"/>
          </a:p>
          <a:p>
            <a:pPr indent="0" lvl="0" marL="0" rtl="0" algn="l">
              <a:spcBef>
                <a:spcPts val="0"/>
              </a:spcBef>
              <a:spcAft>
                <a:spcPts val="0"/>
              </a:spcAft>
              <a:buNone/>
            </a:pPr>
            <a:r>
              <a:rPr lang="es"/>
              <a:t>El objetivo es que este proceso iterativo (generación de logits → cálculo de pérdida → ajuste de pesos)</a:t>
            </a:r>
            <a:r>
              <a:rPr b="1" lang="es"/>
              <a:t> conduzca a una menor pérdida en la función objetivo, lo que a su vez implica que el modelo es más preciso en sus predicciones.</a:t>
            </a:r>
            <a:r>
              <a:rPr lang="es"/>
              <a:t> Son dos caras de la misma moneda: una menor pérdida generalmente significa una mayor precisión (y viceversa) para la tarea de clasificación.</a:t>
            </a:r>
            <a:endParaRPr/>
          </a:p>
          <a:p>
            <a:pPr indent="0" lvl="0" marL="0" rtl="0" algn="l">
              <a:spcBef>
                <a:spcPts val="0"/>
              </a:spcBef>
              <a:spcAft>
                <a:spcPts val="0"/>
              </a:spcAft>
              <a:buNone/>
            </a:pPr>
            <a:r>
              <a:rPr lang="es"/>
              <a:t>Así es como la red 'aprende' y mejora su rendimiento.</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be44d1fcb7_0_1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be44d1fcb7_0_1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Ambos fragmentos de código cumplen la misma función esencial: evaluar el rendimiento del modelo después del entrenamiento y obtener métricas clave. Sin embargo, lo hacen con herramientas y enfoques ligeramente distintos, reflejando las diferencias entre Keras/TensorFlow y PyTorch.</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La función</a:t>
            </a:r>
            <a:r>
              <a:rPr b="1" lang="es"/>
              <a:t> torch.sigmoid </a:t>
            </a:r>
            <a:r>
              <a:rPr lang="es"/>
              <a:t>se utiliza porque la última capa de tu red neuronal (self.fc3 = nn.Linear(64, 1)) produce un valor numérico bruto que se conoce como logit. Este logit puede ser cualquier número real (positivo o negativo).</a:t>
            </a:r>
            <a:endParaRPr/>
          </a:p>
          <a:p>
            <a:pPr indent="0" lvl="0" marL="0" rtl="0" algn="l">
              <a:spcBef>
                <a:spcPts val="0"/>
              </a:spcBef>
              <a:spcAft>
                <a:spcPts val="0"/>
              </a:spcAft>
              <a:buNone/>
            </a:pPr>
            <a:r>
              <a:rPr lang="es"/>
              <a:t>Para poder interpretar la salida del modelo como una probabilidad (es decir, un valor entre 0 y 1) y luego hacer una clasificación binaria (0 o 1), necesitamos aplicar una función de activación. La función Sigmoid es perfecta para esto, ya que mapea cualquier valor real a un rango entre 0 y 1.</a:t>
            </a:r>
            <a:endParaRPr/>
          </a:p>
          <a:p>
            <a:pPr indent="0" lvl="0" marL="0" rtl="0" algn="l">
              <a:spcBef>
                <a:spcPts val="0"/>
              </a:spcBef>
              <a:spcAft>
                <a:spcPts val="0"/>
              </a:spcAft>
              <a:buNone/>
            </a:pPr>
            <a:r>
              <a:t/>
            </a:r>
            <a:endParaRPr/>
          </a:p>
          <a:p>
            <a:pPr indent="0" lvl="0" marL="0" rtl="0" algn="l">
              <a:spcBef>
                <a:spcPts val="0"/>
              </a:spcBef>
              <a:spcAft>
                <a:spcPts val="0"/>
              </a:spcAft>
              <a:buNone/>
            </a:pPr>
            <a:r>
              <a:rPr b="1" i="1" lang="es"/>
              <a:t>La razón </a:t>
            </a:r>
            <a:r>
              <a:rPr i="1" lang="es"/>
              <a:t>por la que se suele preferir la primera opción (usar nn.</a:t>
            </a:r>
            <a:r>
              <a:rPr b="1" i="1" lang="es"/>
              <a:t>BCEWithLogitsLoss</a:t>
            </a:r>
            <a:r>
              <a:rPr i="1" lang="es"/>
              <a:t> y </a:t>
            </a:r>
            <a:r>
              <a:rPr b="1" i="1" lang="es"/>
              <a:t>que el modelo devuelva logits</a:t>
            </a:r>
            <a:r>
              <a:rPr i="1" lang="es"/>
              <a:t>)</a:t>
            </a:r>
            <a:r>
              <a:rPr b="1" i="1" lang="es"/>
              <a:t> es por estabilidad numérica. </a:t>
            </a:r>
            <a:r>
              <a:rPr i="1" lang="es"/>
              <a:t>Aplicar sigmoid y luego calcular el logaritmo para la pérdida de entropía binaria puede llevar a problemas de underflow o overflow cuando los logits son números muy grandes o muy pequeños. </a:t>
            </a:r>
            <a:r>
              <a:rPr b="1" i="1" lang="es"/>
              <a:t>BCEWithLogitsLoss </a:t>
            </a:r>
            <a:r>
              <a:rPr i="1" lang="es"/>
              <a:t>internamente realiza una operación más estable (log-sum-exp) que combina ambas operaciones de forma más robusta, evitando estos problemas numéricos.</a:t>
            </a:r>
            <a:endParaRPr i="1"/>
          </a:p>
          <a:p>
            <a:pPr indent="0" lvl="0" marL="0" rtl="0" algn="l">
              <a:spcBef>
                <a:spcPts val="0"/>
              </a:spcBef>
              <a:spcAft>
                <a:spcPts val="0"/>
              </a:spcAft>
              <a:buNone/>
            </a:pPr>
            <a:r>
              <a:t/>
            </a:r>
            <a:endParaRPr i="1"/>
          </a:p>
          <a:p>
            <a:pPr indent="0" lvl="0" marL="0" rtl="0" algn="l">
              <a:spcBef>
                <a:spcPts val="0"/>
              </a:spcBef>
              <a:spcAft>
                <a:spcPts val="0"/>
              </a:spcAft>
              <a:buNone/>
            </a:pPr>
            <a:r>
              <a:rPr b="1" i="1" lang="es"/>
              <a:t>Logits para Estabilidad Numérica</a:t>
            </a:r>
            <a:r>
              <a:rPr i="1" lang="es"/>
              <a:t>: La salida de los logits (valores no restringidos) </a:t>
            </a:r>
            <a:r>
              <a:rPr b="1" i="1" lang="es"/>
              <a:t>se utiliza directamente en funciones de pérdida como BCEWithLogitsLos</a:t>
            </a:r>
            <a:r>
              <a:rPr i="1" lang="es"/>
              <a:t>s para mantener la estabilidad numérica, especialmente con probabilidades muy cercanas a 0 o 1, </a:t>
            </a:r>
            <a:r>
              <a:rPr b="1" i="1" lang="es"/>
              <a:t>evitando problemas de precisión en los cálculos durante el entrenamiento.</a:t>
            </a:r>
            <a:endParaRPr b="1" i="1"/>
          </a:p>
          <a:p>
            <a:pPr indent="0" lvl="0" marL="0" rtl="0" algn="l">
              <a:spcBef>
                <a:spcPts val="0"/>
              </a:spcBef>
              <a:spcAft>
                <a:spcPts val="0"/>
              </a:spcAft>
              <a:buNone/>
            </a:pPr>
            <a:r>
              <a:rPr b="1" i="1" lang="es"/>
              <a:t>sigmoid(logits) </a:t>
            </a:r>
            <a:r>
              <a:rPr i="1" lang="es"/>
              <a:t>para </a:t>
            </a:r>
            <a:r>
              <a:rPr b="1" i="1" lang="es"/>
              <a:t>Probabilidades</a:t>
            </a:r>
            <a:r>
              <a:rPr i="1" lang="es"/>
              <a:t>: Una vez que el modelo está entrenado, y para tareas de evaluación o inferencia donde necesitamos interpretar la salida como una probabilidad (un valor entre 0 y 1), aplicamos la función sigmoid a esos logits. Esto convierte los valores brutos en una probabilidad clara que podemos usar para tomar decisiones de clasificación (por ejemplo, usando un umbral de 0.5) y construir métricas como la matriz de confusión.</a:t>
            </a:r>
            <a:endParaRPr i="1"/>
          </a:p>
          <a:p>
            <a:pPr indent="0" lvl="0" marL="0" rtl="0" algn="l">
              <a:spcBef>
                <a:spcPts val="0"/>
              </a:spcBef>
              <a:spcAft>
                <a:spcPts val="0"/>
              </a:spcAft>
              <a:buNone/>
            </a:pPr>
            <a:r>
              <a:rPr i="1" lang="es"/>
              <a:t>Es una combinación muy eficaz para el entrenamiento robusto y la interpretación clara de los resultados.</a:t>
            </a:r>
            <a:endParaRPr i="1"/>
          </a:p>
          <a:p>
            <a:pPr indent="0" lvl="0" marL="0" rtl="0" algn="l">
              <a:spcBef>
                <a:spcPts val="0"/>
              </a:spcBef>
              <a:spcAft>
                <a:spcPts val="0"/>
              </a:spcAft>
              <a:buNone/>
            </a:pPr>
            <a:r>
              <a:t/>
            </a:r>
            <a:endParaRPr i="1"/>
          </a:p>
          <a:p>
            <a:pPr indent="0" lvl="0" marL="0" rtl="0" algn="l">
              <a:spcBef>
                <a:spcPts val="0"/>
              </a:spcBef>
              <a:spcAft>
                <a:spcPts val="0"/>
              </a:spcAft>
              <a:buNone/>
            </a:pPr>
            <a:r>
              <a:t/>
            </a:r>
            <a:endParaRPr i="1"/>
          </a:p>
          <a:p>
            <a:pPr indent="0" lvl="0" marL="0" rtl="0" algn="l">
              <a:spcBef>
                <a:spcPts val="0"/>
              </a:spcBef>
              <a:spcAft>
                <a:spcPts val="0"/>
              </a:spcAft>
              <a:buNone/>
            </a:pPr>
            <a:r>
              <a:t/>
            </a:r>
            <a:endParaRPr/>
          </a:p>
          <a:p>
            <a:pPr indent="0" lvl="0" marL="0" rtl="0" algn="l">
              <a:spcBef>
                <a:spcPts val="0"/>
              </a:spcBef>
              <a:spcAft>
                <a:spcPts val="0"/>
              </a:spcAft>
              <a:buNone/>
            </a:pPr>
            <a:r>
              <a:rPr lang="es"/>
              <a:t>Una vez que tenemos la probabilidad (por ejemplo, 0.9 para Real News o 0.1 para Fake News), podemos aplicar un umbral (generalmente 0.5) para decidir la clase final</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Generación de Predicciones Binarias: Ambos códigos toman la salida del modelo (probabilidades o logits) y las convierten en predicciones binarias (0 o 1) utilizando un umbral de 0.5. Esta es la base para calcular cualquier métrica de clasificación.</a:t>
            </a:r>
            <a:endParaRPr/>
          </a:p>
          <a:p>
            <a:pPr indent="0" lvl="0" marL="0" rtl="0" algn="l">
              <a:spcBef>
                <a:spcPts val="0"/>
              </a:spcBef>
              <a:spcAft>
                <a:spcPts val="0"/>
              </a:spcAft>
              <a:buNone/>
            </a:pPr>
            <a:r>
              <a:rPr lang="es"/>
              <a:t>Tu código SPAM: (model.predict(X_test_scaled) &gt; 0.5).astype(int)</a:t>
            </a:r>
            <a:endParaRPr/>
          </a:p>
          <a:p>
            <a:pPr indent="0" lvl="0" marL="0" rtl="0" algn="l">
              <a:spcBef>
                <a:spcPts val="0"/>
              </a:spcBef>
              <a:spcAft>
                <a:spcPts val="0"/>
              </a:spcAft>
              <a:buNone/>
            </a:pPr>
            <a:r>
              <a:rPr lang="es"/>
              <a:t>Nuestro código FAKE NEWS: (torch.sigmoid(logits) &gt; 0.5).float()</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Evaluación en Datos No Vistos: Ambos evalúan el modelo en un conjunto de datos que no se utilizó para el entrenamiento (en tu caso TEST, en el nuestro VALIDATION). Esto es crucial para saber cómo generaliza el modelo a datos nuevos.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Cálculo de F-Beta Score: Ambos proyectos utilizan la métrica fbeta_score para evaluar el modelo, lo que indica que ambos</a:t>
            </a:r>
            <a:r>
              <a:rPr b="1" lang="es"/>
              <a:t> priorizan el recall sobre la precisión</a:t>
            </a:r>
            <a:r>
              <a:rPr lang="es"/>
              <a:t> (tú con beta=3, nosotros con beta=2). Esto es útil cuando es más costoso un falso negativo que un falso positivo.</a:t>
            </a:r>
            <a:endParaRPr/>
          </a:p>
          <a:p>
            <a:pPr indent="0" lvl="0" marL="0" rtl="0" algn="l">
              <a:spcBef>
                <a:spcPts val="0"/>
              </a:spcBef>
              <a:spcAft>
                <a:spcPts val="0"/>
              </a:spcAft>
              <a:buNone/>
            </a:pPr>
            <a:r>
              <a:t/>
            </a:r>
            <a:endParaRPr/>
          </a:p>
          <a:p>
            <a:pPr indent="0" lvl="0" marL="0" rtl="0" algn="l">
              <a:spcBef>
                <a:spcPts val="0"/>
              </a:spcBef>
              <a:spcAft>
                <a:spcPts val="0"/>
              </a:spcAft>
              <a:buNone/>
            </a:pPr>
            <a:r>
              <a:rPr b="1" lang="es"/>
              <a:t>Accuracy (Precisión General)</a:t>
            </a:r>
            <a:r>
              <a:rPr lang="es"/>
              <a:t>: 93.78% — Esto significa que el modelo clasifica correctamente casi el 94% de los titulares en el conjunto de validación. Es un valor muy alto y demuestra que el modelo es muy bueno en la mayoría de los casos.</a:t>
            </a:r>
            <a:endParaRPr/>
          </a:p>
          <a:p>
            <a:pPr indent="0" lvl="0" marL="0" rtl="0" algn="l">
              <a:spcBef>
                <a:spcPts val="0"/>
              </a:spcBef>
              <a:spcAft>
                <a:spcPts val="0"/>
              </a:spcAft>
              <a:buNone/>
            </a:pPr>
            <a:r>
              <a:rPr b="1" lang="es"/>
              <a:t>F2-Score (</a:t>
            </a:r>
            <a:r>
              <a:rPr b="1" lang="es"/>
              <a:t>Métrica</a:t>
            </a:r>
            <a:r>
              <a:rPr b="1" lang="es"/>
              <a:t> de rendimiento del modelo)</a:t>
            </a:r>
            <a:r>
              <a:rPr lang="es"/>
              <a:t>: 0.9441 — Este score es especialmente relevante porque </a:t>
            </a:r>
            <a:r>
              <a:rPr b="1" lang="es"/>
              <a:t>beta=2 le da más peso al recal</a:t>
            </a:r>
            <a:r>
              <a:rPr lang="es"/>
              <a:t>l que a la precisión. Un F2-Score alto (cercano a 1) indica que el modelo no solo es preciso, sino que también es muy bueno identificando las noticias reales (true positives), lo cual es crucial en un contexto donde no queremos perder noticias reales.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Diferencias Principales (el 'cómo' se hace):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s"/>
              <a:t>Framework</a:t>
            </a:r>
            <a:r>
              <a:rPr lang="es"/>
              <a:t>:</a:t>
            </a:r>
            <a:endParaRPr/>
          </a:p>
          <a:p>
            <a:pPr indent="0" lvl="0" marL="0" rtl="0" algn="l">
              <a:spcBef>
                <a:spcPts val="0"/>
              </a:spcBef>
              <a:spcAft>
                <a:spcPts val="0"/>
              </a:spcAft>
              <a:buNone/>
            </a:pPr>
            <a:r>
              <a:rPr lang="es"/>
              <a:t>Tu código es de Keras/TensorFlow: Utiliza model.predict() para obtener las predicciones de forma directa.</a:t>
            </a:r>
            <a:endParaRPr/>
          </a:p>
          <a:p>
            <a:pPr indent="0" lvl="0" marL="0" rtl="0" algn="l">
              <a:spcBef>
                <a:spcPts val="0"/>
              </a:spcBef>
              <a:spcAft>
                <a:spcPts val="0"/>
              </a:spcAft>
              <a:buNone/>
            </a:pPr>
            <a:r>
              <a:rPr lang="es"/>
              <a:t>Nuestro código es de PyTorch: Requiere un bucle explícito (with torch.no_grad(): for emb, lbl in val_loader_pt:) para procesar los datos por lotes y obtener las predicciones.</a:t>
            </a:r>
            <a:endParaRPr/>
          </a:p>
          <a:p>
            <a:pPr indent="0" lvl="0" marL="0" rtl="0" algn="l">
              <a:spcBef>
                <a:spcPts val="0"/>
              </a:spcBef>
              <a:spcAft>
                <a:spcPts val="0"/>
              </a:spcAft>
              <a:buNone/>
            </a:pPr>
            <a:r>
              <a:rPr b="1" lang="es"/>
              <a:t>Sets Evaluados:</a:t>
            </a:r>
            <a:endParaRPr b="1"/>
          </a:p>
          <a:p>
            <a:pPr indent="0" lvl="0" marL="0" rtl="0" algn="l">
              <a:spcBef>
                <a:spcPts val="0"/>
              </a:spcBef>
              <a:spcAft>
                <a:spcPts val="0"/>
              </a:spcAft>
              <a:buNone/>
            </a:pPr>
            <a:r>
              <a:rPr lang="es"/>
              <a:t>Tu código evalúa tanto el conjunto de TEST como el de TRAIN (y_test_pred, y_train_pred). Esto es una buena práctica para detectar overfitting (sobreajuste), ya que si el rendimiento en TRAIN es mucho mejor que en TEST, indica sobreajuste.</a:t>
            </a:r>
            <a:endParaRPr/>
          </a:p>
          <a:p>
            <a:pPr indent="0" lvl="0" marL="0" rtl="0" algn="l">
              <a:spcBef>
                <a:spcPts val="0"/>
              </a:spcBef>
              <a:spcAft>
                <a:spcPts val="0"/>
              </a:spcAft>
              <a:buNone/>
            </a:pPr>
            <a:r>
              <a:rPr lang="es"/>
              <a:t>Nuestro código se centra principalmente en el conjunto de VALIDACIÓN. Sin embargo, la lógica para evaluar el conjunto de TRAIN sería análoga si fuera necesario.</a:t>
            </a:r>
            <a:endParaRPr/>
          </a:p>
          <a:p>
            <a:pPr indent="0" lvl="0" marL="0" rtl="0" algn="l">
              <a:spcBef>
                <a:spcPts val="0"/>
              </a:spcBef>
              <a:spcAft>
                <a:spcPts val="0"/>
              </a:spcAft>
              <a:buNone/>
            </a:pPr>
            <a:r>
              <a:rPr b="1" lang="es"/>
              <a:t>Métricas Adicionales:</a:t>
            </a:r>
            <a:endParaRPr b="1"/>
          </a:p>
          <a:p>
            <a:pPr indent="0" lvl="0" marL="0" rtl="0" algn="l">
              <a:spcBef>
                <a:spcPts val="0"/>
              </a:spcBef>
              <a:spcAft>
                <a:spcPts val="0"/>
              </a:spcAft>
              <a:buNone/>
            </a:pPr>
            <a:r>
              <a:rPr lang="es"/>
              <a:t>Tu código se enfoca únicamente en el fbeta_score.</a:t>
            </a:r>
            <a:endParaRPr/>
          </a:p>
          <a:p>
            <a:pPr indent="0" lvl="0" marL="0" rtl="0" algn="l">
              <a:spcBef>
                <a:spcPts val="0"/>
              </a:spcBef>
              <a:spcAft>
                <a:spcPts val="0"/>
              </a:spcAft>
              <a:buNone/>
            </a:pPr>
            <a:r>
              <a:rPr lang="es"/>
              <a:t>Nuestro código calcula y muestra más métricas: accuracy_score, fbeta_score (con beta=2), y la confusion_matrix, incluyendo una visualización gráfica de esta última. Esto ofrece una visión más completa del rendimiento del clasificador.</a:t>
            </a:r>
            <a:endParaRPr/>
          </a:p>
          <a:p>
            <a:pPr indent="0" lvl="0" marL="0" rtl="0" algn="l">
              <a:spcBef>
                <a:spcPts val="0"/>
              </a:spcBef>
              <a:spcAft>
                <a:spcPts val="0"/>
              </a:spcAft>
              <a:buNone/>
            </a:pPr>
            <a:r>
              <a:rPr b="1" lang="es"/>
              <a:t>Gestión de Datos:</a:t>
            </a:r>
            <a:endParaRPr b="1"/>
          </a:p>
          <a:p>
            <a:pPr indent="0" lvl="0" marL="0" rtl="0" algn="l">
              <a:spcBef>
                <a:spcPts val="0"/>
              </a:spcBef>
              <a:spcAft>
                <a:spcPts val="0"/>
              </a:spcAft>
              <a:buNone/>
            </a:pPr>
            <a:r>
              <a:rPr lang="es"/>
              <a:t>En Keras, model.predict() se encarga internamente de la gestión de lotes y el movimiento de datos entre CPU/GPU.</a:t>
            </a:r>
            <a:endParaRPr/>
          </a:p>
          <a:p>
            <a:pPr indent="0" lvl="0" marL="0" rtl="0" algn="l">
              <a:spcBef>
                <a:spcPts val="0"/>
              </a:spcBef>
              <a:spcAft>
                <a:spcPts val="0"/>
              </a:spcAft>
              <a:buNone/>
            </a:pPr>
            <a:r>
              <a:rPr lang="es"/>
              <a:t>En PyTorch, la gestión de datos (emb = emb.to(device)) y la recolección de predicciones (all_preds.extend(preds)) se manejan de forma más manual dentro del bucle de evaluación.</a:t>
            </a:r>
            <a:endParaRPr/>
          </a:p>
          <a:p>
            <a:pPr indent="0" lvl="0" marL="0" rtl="0" algn="l">
              <a:spcBef>
                <a:spcPts val="0"/>
              </a:spcBef>
              <a:spcAft>
                <a:spcPts val="0"/>
              </a:spcAft>
              <a:buNone/>
            </a:pPr>
            <a:r>
              <a:rPr lang="es"/>
              <a:t>En conclusión, aunque la sintaxis y el nivel de detalle varían por el framework y las métricas específicas elegidas, ambos códigos cumplen con la tarea fundamental de evaluar el modelo y obtener una comprensión de su desempeño en la clasificación binaria</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be44d1fcb7_0_1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be44d1fcb7_0_1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1f87997393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1f87997393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be44d1fcb7_0_1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be44d1fcb7_0_1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c20aeabc7f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c20aeabc7f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p:cSld name="SECTION_HEADER_1">
    <p:spTree>
      <p:nvGrpSpPr>
        <p:cNvPr id="130" name="Shape 130"/>
        <p:cNvGrpSpPr/>
        <p:nvPr/>
      </p:nvGrpSpPr>
      <p:grpSpPr>
        <a:xfrm>
          <a:off x="0" y="0"/>
          <a:ext cx="0" cy="0"/>
          <a:chOff x="0" y="0"/>
          <a:chExt cx="0" cy="0"/>
        </a:xfrm>
      </p:grpSpPr>
      <p:grpSp>
        <p:nvGrpSpPr>
          <p:cNvPr id="131" name="Google Shape;131;p13"/>
          <p:cNvGrpSpPr/>
          <p:nvPr/>
        </p:nvGrpSpPr>
        <p:grpSpPr>
          <a:xfrm>
            <a:off x="4406400" y="0"/>
            <a:ext cx="4737600" cy="5143065"/>
            <a:chOff x="4406400" y="0"/>
            <a:chExt cx="4737600" cy="5143065"/>
          </a:xfrm>
        </p:grpSpPr>
        <p:sp>
          <p:nvSpPr>
            <p:cNvPr id="132" name="Google Shape;132;p1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 name="Google Shape;1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51" name="Google Shape;151;p1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3">
  <p:cSld name="TITLE_AND_BODY_1">
    <p:spTree>
      <p:nvGrpSpPr>
        <p:cNvPr id="152" name="Shape 152"/>
        <p:cNvGrpSpPr/>
        <p:nvPr/>
      </p:nvGrpSpPr>
      <p:grpSpPr>
        <a:xfrm>
          <a:off x="0" y="0"/>
          <a:ext cx="0" cy="0"/>
          <a:chOff x="0" y="0"/>
          <a:chExt cx="0" cy="0"/>
        </a:xfrm>
      </p:grpSpPr>
      <p:pic>
        <p:nvPicPr>
          <p:cNvPr descr="offset_comp_343059.jpg" id="153" name="Google Shape;153;p14"/>
          <p:cNvPicPr preferRelativeResize="0"/>
          <p:nvPr/>
        </p:nvPicPr>
        <p:blipFill rotWithShape="1">
          <a:blip r:embed="rId2">
            <a:alphaModFix amt="80000"/>
          </a:blip>
          <a:srcRect b="25870" l="30474" r="30474" t="11955"/>
          <a:stretch/>
        </p:blipFill>
        <p:spPr>
          <a:xfrm rot="-5400000">
            <a:off x="113630" y="-105700"/>
            <a:ext cx="5142300" cy="5364300"/>
          </a:xfrm>
          <a:prstGeom prst="diagStripe">
            <a:avLst>
              <a:gd fmla="val 50343" name="adj"/>
            </a:avLst>
          </a:prstGeom>
          <a:noFill/>
          <a:ln>
            <a:noFill/>
          </a:ln>
        </p:spPr>
      </p:pic>
      <p:sp>
        <p:nvSpPr>
          <p:cNvPr id="154" name="Google Shape;154;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55" name="Google Shape;155;p14"/>
          <p:cNvSpPr txBox="1"/>
          <p:nvPr>
            <p:ph idx="1" type="body"/>
          </p:nvPr>
        </p:nvSpPr>
        <p:spPr>
          <a:xfrm>
            <a:off x="4018025" y="1567550"/>
            <a:ext cx="4318500" cy="1766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dk2"/>
              </a:buClr>
              <a:buSzPts val="1300"/>
              <a:buChar char="●"/>
              <a:defRPr>
                <a:solidFill>
                  <a:schemeClr val="dk2"/>
                </a:solidFill>
              </a:defRPr>
            </a:lvl1pPr>
            <a:lvl2pPr indent="-298450" lvl="1" marL="914400">
              <a:spcBef>
                <a:spcPts val="0"/>
              </a:spcBef>
              <a:spcAft>
                <a:spcPts val="0"/>
              </a:spcAft>
              <a:buClr>
                <a:schemeClr val="dk2"/>
              </a:buClr>
              <a:buSzPts val="1100"/>
              <a:buChar char="○"/>
              <a:defRPr>
                <a:solidFill>
                  <a:schemeClr val="dk2"/>
                </a:solidFill>
              </a:defRPr>
            </a:lvl2pPr>
            <a:lvl3pPr indent="-298450" lvl="2" marL="1371600">
              <a:spcBef>
                <a:spcPts val="0"/>
              </a:spcBef>
              <a:spcAft>
                <a:spcPts val="0"/>
              </a:spcAft>
              <a:buClr>
                <a:schemeClr val="dk2"/>
              </a:buClr>
              <a:buSzPts val="1100"/>
              <a:buChar char="■"/>
              <a:defRPr>
                <a:solidFill>
                  <a:schemeClr val="dk2"/>
                </a:solidFill>
              </a:defRPr>
            </a:lvl3pPr>
            <a:lvl4pPr indent="-298450" lvl="3" marL="1828800">
              <a:spcBef>
                <a:spcPts val="0"/>
              </a:spcBef>
              <a:spcAft>
                <a:spcPts val="0"/>
              </a:spcAft>
              <a:buClr>
                <a:schemeClr val="dk2"/>
              </a:buClr>
              <a:buSzPts val="1100"/>
              <a:buChar char="●"/>
              <a:defRPr>
                <a:solidFill>
                  <a:schemeClr val="dk2"/>
                </a:solidFill>
              </a:defRPr>
            </a:lvl4pPr>
            <a:lvl5pPr indent="-298450" lvl="4" marL="2286000">
              <a:spcBef>
                <a:spcPts val="0"/>
              </a:spcBef>
              <a:spcAft>
                <a:spcPts val="0"/>
              </a:spcAft>
              <a:buClr>
                <a:schemeClr val="dk2"/>
              </a:buClr>
              <a:buSzPts val="1100"/>
              <a:buChar char="○"/>
              <a:defRPr>
                <a:solidFill>
                  <a:schemeClr val="dk2"/>
                </a:solidFill>
              </a:defRPr>
            </a:lvl5pPr>
            <a:lvl6pPr indent="-298450" lvl="5" marL="2743200">
              <a:spcBef>
                <a:spcPts val="0"/>
              </a:spcBef>
              <a:spcAft>
                <a:spcPts val="0"/>
              </a:spcAft>
              <a:buClr>
                <a:schemeClr val="dk2"/>
              </a:buClr>
              <a:buSzPts val="1100"/>
              <a:buChar char="■"/>
              <a:defRPr>
                <a:solidFill>
                  <a:schemeClr val="dk2"/>
                </a:solidFill>
              </a:defRPr>
            </a:lvl6pPr>
            <a:lvl7pPr indent="-298450" lvl="6" marL="3200400">
              <a:spcBef>
                <a:spcPts val="0"/>
              </a:spcBef>
              <a:spcAft>
                <a:spcPts val="0"/>
              </a:spcAft>
              <a:buClr>
                <a:schemeClr val="dk2"/>
              </a:buClr>
              <a:buSzPts val="1100"/>
              <a:buChar char="●"/>
              <a:defRPr>
                <a:solidFill>
                  <a:schemeClr val="dk2"/>
                </a:solidFill>
              </a:defRPr>
            </a:lvl7pPr>
            <a:lvl8pPr indent="-298450" lvl="7" marL="3657600">
              <a:spcBef>
                <a:spcPts val="0"/>
              </a:spcBef>
              <a:spcAft>
                <a:spcPts val="0"/>
              </a:spcAft>
              <a:buClr>
                <a:schemeClr val="dk2"/>
              </a:buClr>
              <a:buSzPts val="1100"/>
              <a:buChar char="○"/>
              <a:defRPr>
                <a:solidFill>
                  <a:schemeClr val="dk2"/>
                </a:solidFill>
              </a:defRPr>
            </a:lvl8pPr>
            <a:lvl9pPr indent="-298450" lvl="8" marL="4114800">
              <a:spcBef>
                <a:spcPts val="0"/>
              </a:spcBef>
              <a:spcAft>
                <a:spcPts val="0"/>
              </a:spcAft>
              <a:buClr>
                <a:schemeClr val="dk2"/>
              </a:buClr>
              <a:buSzPts val="1100"/>
              <a:buChar char="■"/>
              <a:defRPr>
                <a:solidFill>
                  <a:schemeClr val="dk2"/>
                </a:solidFill>
              </a:defRPr>
            </a:lvl9pPr>
          </a:lstStyle>
          <a:p/>
        </p:txBody>
      </p:sp>
      <p:sp>
        <p:nvSpPr>
          <p:cNvPr id="156" name="Google Shape;15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57" name="Google Shape;157;p14">
            <a:hlinkClick/>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4">
            <a:hlinkClick/>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4">
            <a:hlinkClick/>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4">
            <a:hlinkClick/>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1" name="Google Shape;161;p14"/>
          <p:cNvGrpSpPr/>
          <p:nvPr/>
        </p:nvGrpSpPr>
        <p:grpSpPr>
          <a:xfrm>
            <a:off x="0" y="381001"/>
            <a:ext cx="1037850" cy="1016287"/>
            <a:chOff x="0" y="381001"/>
            <a:chExt cx="1037850" cy="1016287"/>
          </a:xfrm>
        </p:grpSpPr>
        <p:sp>
          <p:nvSpPr>
            <p:cNvPr id="162" name="Google Shape;162;p1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1">
  <p:cSld name="TITLE_AND_BODY_2">
    <p:spTree>
      <p:nvGrpSpPr>
        <p:cNvPr id="164" name="Shape 164"/>
        <p:cNvGrpSpPr/>
        <p:nvPr/>
      </p:nvGrpSpPr>
      <p:grpSpPr>
        <a:xfrm>
          <a:off x="0" y="0"/>
          <a:ext cx="0" cy="0"/>
          <a:chOff x="0" y="0"/>
          <a:chExt cx="0" cy="0"/>
        </a:xfrm>
      </p:grpSpPr>
      <p:sp>
        <p:nvSpPr>
          <p:cNvPr id="165" name="Google Shape;165;p15"/>
          <p:cNvSpPr txBox="1"/>
          <p:nvPr>
            <p:ph type="title"/>
          </p:nvPr>
        </p:nvSpPr>
        <p:spPr>
          <a:xfrm>
            <a:off x="361071" y="1924852"/>
            <a:ext cx="2304900" cy="1797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66" name="Google Shape;166;p15"/>
          <p:cNvSpPr/>
          <p:nvPr/>
        </p:nvSpPr>
        <p:spPr>
          <a:xfrm>
            <a:off x="4564200" y="0"/>
            <a:ext cx="45798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5"/>
          <p:cNvSpPr txBox="1"/>
          <p:nvPr>
            <p:ph idx="1" type="body"/>
          </p:nvPr>
        </p:nvSpPr>
        <p:spPr>
          <a:xfrm>
            <a:off x="6451271" y="1924850"/>
            <a:ext cx="2304900" cy="17973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Clr>
                <a:schemeClr val="dk1"/>
              </a:buClr>
              <a:buSzPts val="1100"/>
              <a:buChar char="●"/>
              <a:defRPr sz="1100">
                <a:solidFill>
                  <a:schemeClr val="dk1"/>
                </a:solidFill>
              </a:defRPr>
            </a:lvl1pPr>
            <a:lvl2pPr indent="-298450" lvl="1" marL="914400">
              <a:spcBef>
                <a:spcPts val="0"/>
              </a:spcBef>
              <a:spcAft>
                <a:spcPts val="0"/>
              </a:spcAft>
              <a:buClr>
                <a:schemeClr val="dk1"/>
              </a:buClr>
              <a:buSzPts val="1100"/>
              <a:buChar char="○"/>
              <a:defRPr>
                <a:solidFill>
                  <a:schemeClr val="dk1"/>
                </a:solidFill>
              </a:defRPr>
            </a:lvl2pPr>
            <a:lvl3pPr indent="-298450" lvl="2" marL="1371600">
              <a:spcBef>
                <a:spcPts val="0"/>
              </a:spcBef>
              <a:spcAft>
                <a:spcPts val="0"/>
              </a:spcAft>
              <a:buClr>
                <a:schemeClr val="dk1"/>
              </a:buClr>
              <a:buSzPts val="1100"/>
              <a:buChar char="■"/>
              <a:defRPr>
                <a:solidFill>
                  <a:schemeClr val="dk1"/>
                </a:solidFill>
              </a:defRPr>
            </a:lvl3pPr>
            <a:lvl4pPr indent="-298450" lvl="3" marL="1828800">
              <a:spcBef>
                <a:spcPts val="0"/>
              </a:spcBef>
              <a:spcAft>
                <a:spcPts val="0"/>
              </a:spcAft>
              <a:buClr>
                <a:schemeClr val="dk1"/>
              </a:buClr>
              <a:buSzPts val="1100"/>
              <a:buChar char="●"/>
              <a:defRPr>
                <a:solidFill>
                  <a:schemeClr val="dk1"/>
                </a:solidFill>
              </a:defRPr>
            </a:lvl4pPr>
            <a:lvl5pPr indent="-298450" lvl="4" marL="2286000">
              <a:spcBef>
                <a:spcPts val="0"/>
              </a:spcBef>
              <a:spcAft>
                <a:spcPts val="0"/>
              </a:spcAft>
              <a:buClr>
                <a:schemeClr val="dk1"/>
              </a:buClr>
              <a:buSzPts val="1100"/>
              <a:buChar char="○"/>
              <a:defRPr>
                <a:solidFill>
                  <a:schemeClr val="dk1"/>
                </a:solidFill>
              </a:defRPr>
            </a:lvl5pPr>
            <a:lvl6pPr indent="-298450" lvl="5" marL="2743200">
              <a:spcBef>
                <a:spcPts val="0"/>
              </a:spcBef>
              <a:spcAft>
                <a:spcPts val="0"/>
              </a:spcAft>
              <a:buClr>
                <a:schemeClr val="dk1"/>
              </a:buClr>
              <a:buSzPts val="1100"/>
              <a:buChar char="■"/>
              <a:defRPr>
                <a:solidFill>
                  <a:schemeClr val="dk1"/>
                </a:solidFill>
              </a:defRPr>
            </a:lvl6pPr>
            <a:lvl7pPr indent="-298450" lvl="6" marL="3200400">
              <a:spcBef>
                <a:spcPts val="0"/>
              </a:spcBef>
              <a:spcAft>
                <a:spcPts val="0"/>
              </a:spcAft>
              <a:buClr>
                <a:schemeClr val="dk1"/>
              </a:buClr>
              <a:buSzPts val="1100"/>
              <a:buChar char="●"/>
              <a:defRPr>
                <a:solidFill>
                  <a:schemeClr val="dk1"/>
                </a:solidFill>
              </a:defRPr>
            </a:lvl7pPr>
            <a:lvl8pPr indent="-298450" lvl="7" marL="3657600">
              <a:spcBef>
                <a:spcPts val="0"/>
              </a:spcBef>
              <a:spcAft>
                <a:spcPts val="0"/>
              </a:spcAft>
              <a:buClr>
                <a:schemeClr val="dk1"/>
              </a:buClr>
              <a:buSzPts val="1100"/>
              <a:buChar char="○"/>
              <a:defRPr>
                <a:solidFill>
                  <a:schemeClr val="dk1"/>
                </a:solidFill>
              </a:defRPr>
            </a:lvl8pPr>
            <a:lvl9pPr indent="-298450" lvl="8" marL="4114800">
              <a:spcBef>
                <a:spcPts val="0"/>
              </a:spcBef>
              <a:spcAft>
                <a:spcPts val="0"/>
              </a:spcAft>
              <a:buClr>
                <a:schemeClr val="dk1"/>
              </a:buClr>
              <a:buSzPts val="1100"/>
              <a:buChar char="■"/>
              <a:defRPr>
                <a:solidFill>
                  <a:schemeClr val="dk1"/>
                </a:solidFill>
              </a:defRPr>
            </a:lvl9pPr>
          </a:lstStyle>
          <a:p/>
        </p:txBody>
      </p:sp>
      <p:sp>
        <p:nvSpPr>
          <p:cNvPr id="168" name="Google Shape;168;p15">
            <a:hlinkClick/>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5">
            <a:hlinkClick/>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5">
            <a:hlinkClick/>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5">
            <a:hlinkClick/>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2" name="Google Shape;172;p15"/>
          <p:cNvGrpSpPr/>
          <p:nvPr/>
        </p:nvGrpSpPr>
        <p:grpSpPr>
          <a:xfrm>
            <a:off x="0" y="381001"/>
            <a:ext cx="1037850" cy="1016287"/>
            <a:chOff x="0" y="381001"/>
            <a:chExt cx="1037850" cy="1016287"/>
          </a:xfrm>
        </p:grpSpPr>
        <p:sp>
          <p:nvSpPr>
            <p:cNvPr id="173" name="Google Shape;173;p1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5" name="Google Shape;175;p15"/>
          <p:cNvSpPr txBox="1"/>
          <p:nvPr>
            <p:ph idx="2" type="title"/>
          </p:nvPr>
        </p:nvSpPr>
        <p:spPr>
          <a:xfrm>
            <a:off x="1297500" y="459490"/>
            <a:ext cx="3005700" cy="510900"/>
          </a:xfrm>
          <a:prstGeom prst="rect">
            <a:avLst/>
          </a:prstGeom>
        </p:spPr>
        <p:txBody>
          <a:bodyPr anchorCtr="0" anchor="t" bIns="91425" lIns="91425" spcFirstLastPara="1" rIns="91425" wrap="square" tIns="91425">
            <a:norm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76" name="Google Shape;176;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2">
  <p:cSld name="TITLE_AND_BODY_2_1">
    <p:spTree>
      <p:nvGrpSpPr>
        <p:cNvPr id="177" name="Shape 177"/>
        <p:cNvGrpSpPr/>
        <p:nvPr/>
      </p:nvGrpSpPr>
      <p:grpSpPr>
        <a:xfrm>
          <a:off x="0" y="0"/>
          <a:ext cx="0" cy="0"/>
          <a:chOff x="0" y="0"/>
          <a:chExt cx="0" cy="0"/>
        </a:xfrm>
      </p:grpSpPr>
      <p:sp>
        <p:nvSpPr>
          <p:cNvPr id="178" name="Google Shape;178;p16"/>
          <p:cNvSpPr txBox="1"/>
          <p:nvPr>
            <p:ph type="title"/>
          </p:nvPr>
        </p:nvSpPr>
        <p:spPr>
          <a:xfrm>
            <a:off x="702850" y="1708619"/>
            <a:ext cx="3333300" cy="14709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79" name="Google Shape;179;p16"/>
          <p:cNvSpPr/>
          <p:nvPr/>
        </p:nvSpPr>
        <p:spPr>
          <a:xfrm>
            <a:off x="0" y="3486600"/>
            <a:ext cx="9144000" cy="165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6">
            <a:hlinkClick/>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6">
            <a:hlinkClick/>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6">
            <a:hlinkClick/>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6">
            <a:hlinkClick/>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4" name="Google Shape;184;p16"/>
          <p:cNvGrpSpPr/>
          <p:nvPr/>
        </p:nvGrpSpPr>
        <p:grpSpPr>
          <a:xfrm>
            <a:off x="0" y="381001"/>
            <a:ext cx="1037850" cy="1016287"/>
            <a:chOff x="0" y="381001"/>
            <a:chExt cx="1037850" cy="1016287"/>
          </a:xfrm>
        </p:grpSpPr>
        <p:sp>
          <p:nvSpPr>
            <p:cNvPr id="185" name="Google Shape;185;p1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 name="Google Shape;187;p16"/>
          <p:cNvSpPr txBox="1"/>
          <p:nvPr>
            <p:ph idx="2" type="title"/>
          </p:nvPr>
        </p:nvSpPr>
        <p:spPr>
          <a:xfrm>
            <a:off x="1297500" y="459490"/>
            <a:ext cx="3005700" cy="510900"/>
          </a:xfrm>
          <a:prstGeom prst="rect">
            <a:avLst/>
          </a:prstGeom>
        </p:spPr>
        <p:txBody>
          <a:bodyPr anchorCtr="0" anchor="t" bIns="91425" lIns="91425" spcFirstLastPara="1" rIns="91425" wrap="square" tIns="91425">
            <a:norm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88" name="Google Shape;188;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89" name="Google Shape;189;p16"/>
          <p:cNvSpPr txBox="1"/>
          <p:nvPr>
            <p:ph idx="1" type="body"/>
          </p:nvPr>
        </p:nvSpPr>
        <p:spPr>
          <a:xfrm>
            <a:off x="702850" y="3625275"/>
            <a:ext cx="3333300" cy="7653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Clr>
                <a:schemeClr val="dk1"/>
              </a:buClr>
              <a:buSzPts val="1100"/>
              <a:buChar char="●"/>
              <a:defRPr sz="1100">
                <a:solidFill>
                  <a:schemeClr val="dk1"/>
                </a:solidFill>
              </a:defRPr>
            </a:lvl1pPr>
            <a:lvl2pPr indent="-298450" lvl="1" marL="914400">
              <a:spcBef>
                <a:spcPts val="0"/>
              </a:spcBef>
              <a:spcAft>
                <a:spcPts val="0"/>
              </a:spcAft>
              <a:buClr>
                <a:schemeClr val="dk1"/>
              </a:buClr>
              <a:buSzPts val="1100"/>
              <a:buChar char="○"/>
              <a:defRPr>
                <a:solidFill>
                  <a:schemeClr val="dk1"/>
                </a:solidFill>
              </a:defRPr>
            </a:lvl2pPr>
            <a:lvl3pPr indent="-298450" lvl="2" marL="1371600">
              <a:spcBef>
                <a:spcPts val="0"/>
              </a:spcBef>
              <a:spcAft>
                <a:spcPts val="0"/>
              </a:spcAft>
              <a:buClr>
                <a:schemeClr val="dk1"/>
              </a:buClr>
              <a:buSzPts val="1100"/>
              <a:buChar char="■"/>
              <a:defRPr>
                <a:solidFill>
                  <a:schemeClr val="dk1"/>
                </a:solidFill>
              </a:defRPr>
            </a:lvl3pPr>
            <a:lvl4pPr indent="-298450" lvl="3" marL="1828800">
              <a:spcBef>
                <a:spcPts val="0"/>
              </a:spcBef>
              <a:spcAft>
                <a:spcPts val="0"/>
              </a:spcAft>
              <a:buClr>
                <a:schemeClr val="dk1"/>
              </a:buClr>
              <a:buSzPts val="1100"/>
              <a:buChar char="●"/>
              <a:defRPr>
                <a:solidFill>
                  <a:schemeClr val="dk1"/>
                </a:solidFill>
              </a:defRPr>
            </a:lvl4pPr>
            <a:lvl5pPr indent="-298450" lvl="4" marL="2286000">
              <a:spcBef>
                <a:spcPts val="0"/>
              </a:spcBef>
              <a:spcAft>
                <a:spcPts val="0"/>
              </a:spcAft>
              <a:buClr>
                <a:schemeClr val="dk1"/>
              </a:buClr>
              <a:buSzPts val="1100"/>
              <a:buChar char="○"/>
              <a:defRPr>
                <a:solidFill>
                  <a:schemeClr val="dk1"/>
                </a:solidFill>
              </a:defRPr>
            </a:lvl5pPr>
            <a:lvl6pPr indent="-298450" lvl="5" marL="2743200">
              <a:spcBef>
                <a:spcPts val="0"/>
              </a:spcBef>
              <a:spcAft>
                <a:spcPts val="0"/>
              </a:spcAft>
              <a:buClr>
                <a:schemeClr val="dk1"/>
              </a:buClr>
              <a:buSzPts val="1100"/>
              <a:buChar char="■"/>
              <a:defRPr>
                <a:solidFill>
                  <a:schemeClr val="dk1"/>
                </a:solidFill>
              </a:defRPr>
            </a:lvl6pPr>
            <a:lvl7pPr indent="-298450" lvl="6" marL="3200400">
              <a:spcBef>
                <a:spcPts val="0"/>
              </a:spcBef>
              <a:spcAft>
                <a:spcPts val="0"/>
              </a:spcAft>
              <a:buClr>
                <a:schemeClr val="dk1"/>
              </a:buClr>
              <a:buSzPts val="1100"/>
              <a:buChar char="●"/>
              <a:defRPr>
                <a:solidFill>
                  <a:schemeClr val="dk1"/>
                </a:solidFill>
              </a:defRPr>
            </a:lvl7pPr>
            <a:lvl8pPr indent="-298450" lvl="7" marL="3657600">
              <a:spcBef>
                <a:spcPts val="0"/>
              </a:spcBef>
              <a:spcAft>
                <a:spcPts val="0"/>
              </a:spcAft>
              <a:buClr>
                <a:schemeClr val="dk1"/>
              </a:buClr>
              <a:buSzPts val="1100"/>
              <a:buChar char="○"/>
              <a:defRPr>
                <a:solidFill>
                  <a:schemeClr val="dk1"/>
                </a:solidFill>
              </a:defRPr>
            </a:lvl8pPr>
            <a:lvl9pPr indent="-298450" lvl="8" marL="4114800">
              <a:spcBef>
                <a:spcPts val="0"/>
              </a:spcBef>
              <a:spcAft>
                <a:spcPts val="0"/>
              </a:spcAft>
              <a:buClr>
                <a:schemeClr val="dk1"/>
              </a:buClr>
              <a:buSzPts val="1100"/>
              <a:buChar char="■"/>
              <a:defRPr>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171C25"/>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14.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48.png"/><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10" Type="http://schemas.openxmlformats.org/officeDocument/2006/relationships/image" Target="../media/image7.png"/><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48.png"/><Relationship Id="rId4" Type="http://schemas.openxmlformats.org/officeDocument/2006/relationships/image" Target="../media/image28.png"/><Relationship Id="rId9"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2.png"/><Relationship Id="rId7" Type="http://schemas.openxmlformats.org/officeDocument/2006/relationships/image" Target="../media/image4.png"/><Relationship Id="rId8"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48.png"/><Relationship Id="rId4" Type="http://schemas.openxmlformats.org/officeDocument/2006/relationships/image" Target="../media/image11.png"/><Relationship Id="rId5" Type="http://schemas.openxmlformats.org/officeDocument/2006/relationships/image" Target="../media/image3.png"/><Relationship Id="rId6" Type="http://schemas.openxmlformats.org/officeDocument/2006/relationships/image" Target="../media/image28.png"/></Relationships>
</file>

<file path=ppt/slides/_rels/slide7.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13.png"/><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48.png"/><Relationship Id="rId4" Type="http://schemas.openxmlformats.org/officeDocument/2006/relationships/image" Target="../media/image20.png"/><Relationship Id="rId9" Type="http://schemas.openxmlformats.org/officeDocument/2006/relationships/image" Target="../media/image12.png"/><Relationship Id="rId5" Type="http://schemas.openxmlformats.org/officeDocument/2006/relationships/image" Target="../media/image28.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48.png"/><Relationship Id="rId4" Type="http://schemas.openxmlformats.org/officeDocument/2006/relationships/image" Target="../media/image16.png"/><Relationship Id="rId9" Type="http://schemas.openxmlformats.org/officeDocument/2006/relationships/image" Target="../media/image15.png"/><Relationship Id="rId5" Type="http://schemas.openxmlformats.org/officeDocument/2006/relationships/image" Target="../media/image17.png"/><Relationship Id="rId6" Type="http://schemas.openxmlformats.org/officeDocument/2006/relationships/image" Target="../media/image28.png"/><Relationship Id="rId7" Type="http://schemas.openxmlformats.org/officeDocument/2006/relationships/image" Target="../media/image21.png"/><Relationship Id="rId8"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48.png"/><Relationship Id="rId4" Type="http://schemas.openxmlformats.org/officeDocument/2006/relationships/image" Target="../media/image28.png"/><Relationship Id="rId9" Type="http://schemas.openxmlformats.org/officeDocument/2006/relationships/image" Target="../media/image26.png"/><Relationship Id="rId5" Type="http://schemas.openxmlformats.org/officeDocument/2006/relationships/image" Target="../media/image20.png"/><Relationship Id="rId6" Type="http://schemas.openxmlformats.org/officeDocument/2006/relationships/image" Target="../media/image24.png"/><Relationship Id="rId7" Type="http://schemas.openxmlformats.org/officeDocument/2006/relationships/image" Target="../media/image23.png"/><Relationship Id="rId8"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48.png"/><Relationship Id="rId4" Type="http://schemas.openxmlformats.org/officeDocument/2006/relationships/image" Target="../media/image27.png"/><Relationship Id="rId5" Type="http://schemas.openxmlformats.org/officeDocument/2006/relationships/image" Target="../media/image30.png"/><Relationship Id="rId6" Type="http://schemas.openxmlformats.org/officeDocument/2006/relationships/image" Target="../media/image28.png"/><Relationship Id="rId7"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48.png"/><Relationship Id="rId4" Type="http://schemas.openxmlformats.org/officeDocument/2006/relationships/image" Target="../media/image28.png"/><Relationship Id="rId5" Type="http://schemas.openxmlformats.org/officeDocument/2006/relationships/image" Target="../media/image20.png"/><Relationship Id="rId6" Type="http://schemas.openxmlformats.org/officeDocument/2006/relationships/image" Target="../media/image32.png"/><Relationship Id="rId7" Type="http://schemas.openxmlformats.org/officeDocument/2006/relationships/image" Target="../media/image29.png"/><Relationship Id="rId8"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45.png"/><Relationship Id="rId4" Type="http://schemas.openxmlformats.org/officeDocument/2006/relationships/image" Target="../media/image37.png"/><Relationship Id="rId5" Type="http://schemas.openxmlformats.org/officeDocument/2006/relationships/image" Target="../media/image31.png"/><Relationship Id="rId6"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5.png"/><Relationship Id="rId4" Type="http://schemas.openxmlformats.org/officeDocument/2006/relationships/image" Target="../media/image34.png"/><Relationship Id="rId5" Type="http://schemas.openxmlformats.org/officeDocument/2006/relationships/image" Target="../media/image41.png"/></Relationships>
</file>

<file path=ppt/slides/_rels/slide14.xml.rels><?xml version="1.0" encoding="UTF-8" standalone="yes"?><Relationships xmlns="http://schemas.openxmlformats.org/package/2006/relationships"><Relationship Id="rId11" Type="http://schemas.openxmlformats.org/officeDocument/2006/relationships/image" Target="../media/image47.png"/><Relationship Id="rId10" Type="http://schemas.openxmlformats.org/officeDocument/2006/relationships/image" Target="../media/image44.png"/><Relationship Id="rId12" Type="http://schemas.openxmlformats.org/officeDocument/2006/relationships/image" Target="../media/image46.png"/><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40.png"/><Relationship Id="rId4" Type="http://schemas.openxmlformats.org/officeDocument/2006/relationships/image" Target="../media/image36.jpg"/><Relationship Id="rId9"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2.png"/><Relationship Id="rId7" Type="http://schemas.openxmlformats.org/officeDocument/2006/relationships/image" Target="../media/image50.png"/><Relationship Id="rId8" Type="http://schemas.openxmlformats.org/officeDocument/2006/relationships/image" Target="../media/image4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 name="Shape 193"/>
        <p:cNvGrpSpPr/>
        <p:nvPr/>
      </p:nvGrpSpPr>
      <p:grpSpPr>
        <a:xfrm>
          <a:off x="0" y="0"/>
          <a:ext cx="0" cy="0"/>
          <a:chOff x="0" y="0"/>
          <a:chExt cx="0" cy="0"/>
        </a:xfrm>
      </p:grpSpPr>
      <p:sp>
        <p:nvSpPr>
          <p:cNvPr id="194" name="Google Shape;194;p17"/>
          <p:cNvSpPr txBox="1"/>
          <p:nvPr>
            <p:ph idx="1" type="body"/>
          </p:nvPr>
        </p:nvSpPr>
        <p:spPr>
          <a:xfrm>
            <a:off x="3276310" y="2205756"/>
            <a:ext cx="2591400" cy="732000"/>
          </a:xfrm>
          <a:prstGeom prst="rect">
            <a:avLst/>
          </a:prstGeom>
        </p:spPr>
        <p:txBody>
          <a:bodyPr anchorCtr="0" anchor="ctr" bIns="72325" lIns="72325" spcFirstLastPara="1" rIns="72325" wrap="square" tIns="72325">
            <a:noAutofit/>
          </a:bodyPr>
          <a:lstStyle/>
          <a:p>
            <a:pPr indent="0" lvl="0" marL="0" marR="0" rtl="0" algn="ctr">
              <a:lnSpc>
                <a:spcPct val="115000"/>
              </a:lnSpc>
              <a:spcBef>
                <a:spcPts val="0"/>
              </a:spcBef>
              <a:spcAft>
                <a:spcPts val="1204"/>
              </a:spcAft>
              <a:buNone/>
            </a:pPr>
            <a:r>
              <a:rPr i="1" lang="es" sz="1431">
                <a:solidFill>
                  <a:schemeClr val="dk1"/>
                </a:solidFill>
              </a:rPr>
              <a:t>Loading . . .</a:t>
            </a:r>
            <a:endParaRPr i="1" sz="1431">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18" title="Presentación de prototipos (1).gif"/>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55D1"/>
        </a:solidFill>
      </p:bgPr>
    </p:bg>
    <p:spTree>
      <p:nvGrpSpPr>
        <p:cNvPr id="203" name="Shape 203"/>
        <p:cNvGrpSpPr/>
        <p:nvPr/>
      </p:nvGrpSpPr>
      <p:grpSpPr>
        <a:xfrm>
          <a:off x="0" y="0"/>
          <a:ext cx="0" cy="0"/>
          <a:chOff x="0" y="0"/>
          <a:chExt cx="0" cy="0"/>
        </a:xfrm>
      </p:grpSpPr>
      <p:pic>
        <p:nvPicPr>
          <p:cNvPr id="204" name="Google Shape;204;p19" title="Captura de pantalla 2026-01-29 232523.png"/>
          <p:cNvPicPr preferRelativeResize="0"/>
          <p:nvPr/>
        </p:nvPicPr>
        <p:blipFill rotWithShape="1">
          <a:blip r:embed="rId3">
            <a:alphaModFix/>
          </a:blip>
          <a:srcRect b="0" l="2588" r="2597" t="0"/>
          <a:stretch/>
        </p:blipFill>
        <p:spPr>
          <a:xfrm>
            <a:off x="0" y="26"/>
            <a:ext cx="9143998" cy="5143500"/>
          </a:xfrm>
          <a:prstGeom prst="rect">
            <a:avLst/>
          </a:prstGeom>
          <a:noFill/>
          <a:ln>
            <a:noFill/>
          </a:ln>
        </p:spPr>
      </p:pic>
      <p:sp>
        <p:nvSpPr>
          <p:cNvPr id="205" name="Google Shape;205;p19"/>
          <p:cNvSpPr txBox="1"/>
          <p:nvPr/>
        </p:nvSpPr>
        <p:spPr>
          <a:xfrm>
            <a:off x="1065885" y="1107001"/>
            <a:ext cx="1092300" cy="1048800"/>
          </a:xfrm>
          <a:prstGeom prst="rect">
            <a:avLst/>
          </a:prstGeom>
          <a:noFill/>
          <a:ln>
            <a:noFill/>
          </a:ln>
        </p:spPr>
        <p:txBody>
          <a:bodyPr anchorCtr="0" anchor="ctr" bIns="72325" lIns="72325" spcFirstLastPara="1" rIns="72325" wrap="square" tIns="72325">
            <a:noAutofit/>
          </a:bodyPr>
          <a:lstStyle/>
          <a:p>
            <a:pPr indent="0" lvl="0" marL="0" marR="0" rtl="0" algn="r">
              <a:lnSpc>
                <a:spcPct val="100000"/>
              </a:lnSpc>
              <a:spcBef>
                <a:spcPts val="0"/>
              </a:spcBef>
              <a:spcAft>
                <a:spcPts val="0"/>
              </a:spcAft>
              <a:buNone/>
            </a:pPr>
            <a:r>
              <a:rPr b="1" lang="es" sz="5000">
                <a:solidFill>
                  <a:srgbClr val="FFFFFF"/>
                </a:solidFill>
                <a:latin typeface="Montserrat"/>
                <a:ea typeface="Montserrat"/>
                <a:cs typeface="Montserrat"/>
                <a:sym typeface="Montserrat"/>
              </a:rPr>
              <a:t>02</a:t>
            </a:r>
            <a:endParaRPr b="1" sz="5000">
              <a:solidFill>
                <a:srgbClr val="FFFFFF"/>
              </a:solidFill>
              <a:latin typeface="Montserrat"/>
              <a:ea typeface="Montserrat"/>
              <a:cs typeface="Montserrat"/>
              <a:sym typeface="Montserrat"/>
            </a:endParaRPr>
          </a:p>
        </p:txBody>
      </p:sp>
      <p:sp>
        <p:nvSpPr>
          <p:cNvPr id="206" name="Google Shape;206;p19"/>
          <p:cNvSpPr txBox="1"/>
          <p:nvPr>
            <p:ph idx="4294967295" type="body"/>
          </p:nvPr>
        </p:nvSpPr>
        <p:spPr>
          <a:xfrm>
            <a:off x="2157948" y="1311458"/>
            <a:ext cx="3960900" cy="639900"/>
          </a:xfrm>
          <a:prstGeom prst="rect">
            <a:avLst/>
          </a:prstGeom>
        </p:spPr>
        <p:txBody>
          <a:bodyPr anchorCtr="0" anchor="ctr" bIns="72325" lIns="72325" spcFirstLastPara="1" rIns="72325" wrap="square" tIns="72325">
            <a:noAutofit/>
          </a:bodyPr>
          <a:lstStyle/>
          <a:p>
            <a:pPr indent="0" lvl="0" marL="0" marR="0" rtl="0" algn="l">
              <a:lnSpc>
                <a:spcPct val="115000"/>
              </a:lnSpc>
              <a:spcBef>
                <a:spcPts val="0"/>
              </a:spcBef>
              <a:spcAft>
                <a:spcPts val="1204"/>
              </a:spcAft>
              <a:buNone/>
            </a:pPr>
            <a:r>
              <a:rPr lang="es" sz="1431">
                <a:solidFill>
                  <a:srgbClr val="FFFFFF"/>
                </a:solidFill>
              </a:rPr>
              <a:t>Nuevo CSV con titulares de “testing_data.csv” y etiquetas de predicción; 0 (Fake) &amp; 1 (Real).</a:t>
            </a:r>
            <a:endParaRPr sz="1431">
              <a:solidFill>
                <a:srgbClr val="FFFFFF"/>
              </a:solidFill>
            </a:endParaRPr>
          </a:p>
        </p:txBody>
      </p:sp>
      <p:sp>
        <p:nvSpPr>
          <p:cNvPr id="207" name="Google Shape;207;p19"/>
          <p:cNvSpPr txBox="1"/>
          <p:nvPr/>
        </p:nvSpPr>
        <p:spPr>
          <a:xfrm>
            <a:off x="1065886" y="2039680"/>
            <a:ext cx="1092300" cy="792000"/>
          </a:xfrm>
          <a:prstGeom prst="rect">
            <a:avLst/>
          </a:prstGeom>
          <a:noFill/>
          <a:ln>
            <a:noFill/>
          </a:ln>
        </p:spPr>
        <p:txBody>
          <a:bodyPr anchorCtr="0" anchor="ctr" bIns="72325" lIns="72325" spcFirstLastPara="1" rIns="72325" wrap="square" tIns="72325">
            <a:noAutofit/>
          </a:bodyPr>
          <a:lstStyle/>
          <a:p>
            <a:pPr indent="0" lvl="0" marL="0" marR="0" rtl="0" algn="r">
              <a:lnSpc>
                <a:spcPct val="100000"/>
              </a:lnSpc>
              <a:spcBef>
                <a:spcPts val="0"/>
              </a:spcBef>
              <a:spcAft>
                <a:spcPts val="0"/>
              </a:spcAft>
              <a:buNone/>
            </a:pPr>
            <a:r>
              <a:rPr b="1" lang="es" sz="5000">
                <a:solidFill>
                  <a:srgbClr val="FFFFFF"/>
                </a:solidFill>
                <a:latin typeface="Montserrat"/>
                <a:ea typeface="Montserrat"/>
                <a:cs typeface="Montserrat"/>
                <a:sym typeface="Montserrat"/>
              </a:rPr>
              <a:t>03</a:t>
            </a:r>
            <a:endParaRPr b="1" sz="5000">
              <a:solidFill>
                <a:srgbClr val="FFFFFF"/>
              </a:solidFill>
              <a:latin typeface="Montserrat"/>
              <a:ea typeface="Montserrat"/>
              <a:cs typeface="Montserrat"/>
              <a:sym typeface="Montserrat"/>
            </a:endParaRPr>
          </a:p>
        </p:txBody>
      </p:sp>
      <p:sp>
        <p:nvSpPr>
          <p:cNvPr id="208" name="Google Shape;208;p19"/>
          <p:cNvSpPr txBox="1"/>
          <p:nvPr>
            <p:ph idx="4294967295" type="body"/>
          </p:nvPr>
        </p:nvSpPr>
        <p:spPr>
          <a:xfrm>
            <a:off x="2157935" y="2069631"/>
            <a:ext cx="2591400" cy="732000"/>
          </a:xfrm>
          <a:prstGeom prst="rect">
            <a:avLst/>
          </a:prstGeom>
        </p:spPr>
        <p:txBody>
          <a:bodyPr anchorCtr="0" anchor="ctr" bIns="72325" lIns="72325" spcFirstLastPara="1" rIns="72325" wrap="square" tIns="72325">
            <a:noAutofit/>
          </a:bodyPr>
          <a:lstStyle/>
          <a:p>
            <a:pPr indent="0" lvl="0" marL="0" marR="0" rtl="0" algn="l">
              <a:lnSpc>
                <a:spcPct val="115000"/>
              </a:lnSpc>
              <a:spcBef>
                <a:spcPts val="0"/>
              </a:spcBef>
              <a:spcAft>
                <a:spcPts val="1204"/>
              </a:spcAft>
              <a:buNone/>
            </a:pPr>
            <a:r>
              <a:rPr lang="es" sz="1431">
                <a:solidFill>
                  <a:srgbClr val="FFFFFF"/>
                </a:solidFill>
              </a:rPr>
              <a:t>Estimación de precisión del modelo creado.</a:t>
            </a:r>
            <a:endParaRPr sz="1431">
              <a:solidFill>
                <a:srgbClr val="FFFFFF"/>
              </a:solidFill>
            </a:endParaRPr>
          </a:p>
        </p:txBody>
      </p:sp>
      <p:sp>
        <p:nvSpPr>
          <p:cNvPr id="209" name="Google Shape;209;p19"/>
          <p:cNvSpPr txBox="1"/>
          <p:nvPr/>
        </p:nvSpPr>
        <p:spPr>
          <a:xfrm>
            <a:off x="1065888" y="426127"/>
            <a:ext cx="1013400" cy="732000"/>
          </a:xfrm>
          <a:prstGeom prst="rect">
            <a:avLst/>
          </a:prstGeom>
          <a:noFill/>
          <a:ln>
            <a:noFill/>
          </a:ln>
        </p:spPr>
        <p:txBody>
          <a:bodyPr anchorCtr="0" anchor="ctr" bIns="72325" lIns="72325" spcFirstLastPara="1" rIns="72325" wrap="square" tIns="72325">
            <a:noAutofit/>
          </a:bodyPr>
          <a:lstStyle/>
          <a:p>
            <a:pPr indent="0" lvl="0" marL="0" marR="0" rtl="0" algn="r">
              <a:lnSpc>
                <a:spcPct val="100000"/>
              </a:lnSpc>
              <a:spcBef>
                <a:spcPts val="0"/>
              </a:spcBef>
              <a:spcAft>
                <a:spcPts val="0"/>
              </a:spcAft>
              <a:buNone/>
            </a:pPr>
            <a:r>
              <a:rPr b="1" lang="es" sz="5000">
                <a:solidFill>
                  <a:srgbClr val="FFFFFF"/>
                </a:solidFill>
                <a:latin typeface="Montserrat"/>
                <a:ea typeface="Montserrat"/>
                <a:cs typeface="Montserrat"/>
                <a:sym typeface="Montserrat"/>
              </a:rPr>
              <a:t>01</a:t>
            </a:r>
            <a:endParaRPr b="1" sz="5000">
              <a:solidFill>
                <a:srgbClr val="FFFFFF"/>
              </a:solidFill>
              <a:latin typeface="Montserrat"/>
              <a:ea typeface="Montserrat"/>
              <a:cs typeface="Montserrat"/>
              <a:sym typeface="Montserrat"/>
            </a:endParaRPr>
          </a:p>
        </p:txBody>
      </p:sp>
      <p:sp>
        <p:nvSpPr>
          <p:cNvPr id="210" name="Google Shape;210;p19"/>
          <p:cNvSpPr txBox="1"/>
          <p:nvPr>
            <p:ph idx="4294967295" type="body"/>
          </p:nvPr>
        </p:nvSpPr>
        <p:spPr>
          <a:xfrm>
            <a:off x="2157935" y="472289"/>
            <a:ext cx="3754500" cy="639900"/>
          </a:xfrm>
          <a:prstGeom prst="rect">
            <a:avLst/>
          </a:prstGeom>
        </p:spPr>
        <p:txBody>
          <a:bodyPr anchorCtr="0" anchor="ctr" bIns="72325" lIns="72325" spcFirstLastPara="1" rIns="72325" wrap="square" tIns="72325">
            <a:noAutofit/>
          </a:bodyPr>
          <a:lstStyle/>
          <a:p>
            <a:pPr indent="0" lvl="0" marL="0" marR="0" rtl="0" algn="l">
              <a:lnSpc>
                <a:spcPct val="115000"/>
              </a:lnSpc>
              <a:spcBef>
                <a:spcPts val="0"/>
              </a:spcBef>
              <a:spcAft>
                <a:spcPts val="1204"/>
              </a:spcAft>
              <a:buNone/>
            </a:pPr>
            <a:r>
              <a:rPr lang="es" sz="1431">
                <a:solidFill>
                  <a:srgbClr val="FFFFFF"/>
                </a:solidFill>
              </a:rPr>
              <a:t>Crear modelo con Python, para detectar si los titulares de las noticias son “fake o no”.</a:t>
            </a:r>
            <a:endParaRPr sz="1431">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14" name="Shape 214"/>
        <p:cNvGrpSpPr/>
        <p:nvPr/>
      </p:nvGrpSpPr>
      <p:grpSpPr>
        <a:xfrm>
          <a:off x="0" y="0"/>
          <a:ext cx="0" cy="0"/>
          <a:chOff x="0" y="0"/>
          <a:chExt cx="0" cy="0"/>
        </a:xfrm>
      </p:grpSpPr>
      <p:pic>
        <p:nvPicPr>
          <p:cNvPr id="215" name="Google Shape;215;p20"/>
          <p:cNvPicPr preferRelativeResize="0"/>
          <p:nvPr/>
        </p:nvPicPr>
        <p:blipFill>
          <a:blip r:embed="rId3">
            <a:alphaModFix amt="36000"/>
          </a:blip>
          <a:stretch>
            <a:fillRect/>
          </a:stretch>
        </p:blipFill>
        <p:spPr>
          <a:xfrm>
            <a:off x="0" y="0"/>
            <a:ext cx="9144000" cy="5143499"/>
          </a:xfrm>
          <a:prstGeom prst="rect">
            <a:avLst/>
          </a:prstGeom>
          <a:noFill/>
          <a:ln>
            <a:noFill/>
          </a:ln>
        </p:spPr>
      </p:pic>
      <p:sp>
        <p:nvSpPr>
          <p:cNvPr id="216" name="Google Shape;216;p20"/>
          <p:cNvSpPr txBox="1"/>
          <p:nvPr/>
        </p:nvSpPr>
        <p:spPr>
          <a:xfrm>
            <a:off x="684800" y="1907325"/>
            <a:ext cx="24738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 sz="1500">
                <a:solidFill>
                  <a:srgbClr val="FFFFFF"/>
                </a:solidFill>
                <a:latin typeface="Montserrat"/>
                <a:ea typeface="Montserrat"/>
                <a:cs typeface="Montserrat"/>
                <a:sym typeface="Montserrat"/>
              </a:rPr>
              <a:t>#</a:t>
            </a:r>
            <a:r>
              <a:rPr b="1" lang="es" sz="1500">
                <a:solidFill>
                  <a:srgbClr val="FFFFFF"/>
                </a:solidFill>
                <a:latin typeface="Montserrat"/>
                <a:ea typeface="Montserrat"/>
                <a:cs typeface="Montserrat"/>
                <a:sym typeface="Montserrat"/>
              </a:rPr>
              <a:t>1</a:t>
            </a:r>
            <a:endParaRPr b="1" sz="1500">
              <a:solidFill>
                <a:srgbClr val="FFFFFF"/>
              </a:solidFill>
              <a:latin typeface="Montserrat"/>
              <a:ea typeface="Montserrat"/>
              <a:cs typeface="Montserrat"/>
              <a:sym typeface="Montserrat"/>
            </a:endParaRPr>
          </a:p>
          <a:p>
            <a:pPr indent="0" lvl="0" marL="0" rtl="0" algn="l">
              <a:spcBef>
                <a:spcPts val="0"/>
              </a:spcBef>
              <a:spcAft>
                <a:spcPts val="0"/>
              </a:spcAft>
              <a:buNone/>
            </a:pPr>
            <a:r>
              <a:rPr b="1" lang="es" sz="1500">
                <a:solidFill>
                  <a:srgbClr val="FFFFFF"/>
                </a:solidFill>
                <a:latin typeface="Montserrat"/>
                <a:ea typeface="Montserrat"/>
                <a:cs typeface="Montserrat"/>
                <a:sym typeface="Montserrat"/>
              </a:rPr>
              <a:t>Carga, Limpieza y Preprocesamiento de Datos</a:t>
            </a:r>
            <a:endParaRPr b="1" sz="1500"/>
          </a:p>
        </p:txBody>
      </p:sp>
      <p:sp>
        <p:nvSpPr>
          <p:cNvPr id="217" name="Google Shape;217;p20"/>
          <p:cNvSpPr txBox="1"/>
          <p:nvPr/>
        </p:nvSpPr>
        <p:spPr>
          <a:xfrm>
            <a:off x="704475" y="3466175"/>
            <a:ext cx="2352000" cy="73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 sz="1500">
                <a:solidFill>
                  <a:srgbClr val="FFFFFF"/>
                </a:solidFill>
                <a:latin typeface="Montserrat"/>
                <a:ea typeface="Montserrat"/>
                <a:cs typeface="Montserrat"/>
                <a:sym typeface="Montserrat"/>
              </a:rPr>
              <a:t>#2</a:t>
            </a:r>
            <a:endParaRPr b="1" sz="1500">
              <a:solidFill>
                <a:srgbClr val="FFFFFF"/>
              </a:solidFill>
              <a:latin typeface="Montserrat"/>
              <a:ea typeface="Montserrat"/>
              <a:cs typeface="Montserrat"/>
              <a:sym typeface="Montserrat"/>
            </a:endParaRPr>
          </a:p>
          <a:p>
            <a:pPr indent="0" lvl="0" marL="0" rtl="0" algn="l">
              <a:spcBef>
                <a:spcPts val="0"/>
              </a:spcBef>
              <a:spcAft>
                <a:spcPts val="0"/>
              </a:spcAft>
              <a:buNone/>
            </a:pPr>
            <a:r>
              <a:rPr b="1" lang="es" sz="1500">
                <a:solidFill>
                  <a:srgbClr val="FFFFFF"/>
                </a:solidFill>
                <a:latin typeface="Montserrat"/>
                <a:ea typeface="Montserrat"/>
                <a:cs typeface="Montserrat"/>
                <a:sym typeface="Montserrat"/>
              </a:rPr>
              <a:t>División de Datos y Generación de Embeddings</a:t>
            </a:r>
            <a:endParaRPr b="1" sz="1500"/>
          </a:p>
        </p:txBody>
      </p:sp>
      <p:sp>
        <p:nvSpPr>
          <p:cNvPr id="218" name="Google Shape;218;p20"/>
          <p:cNvSpPr txBox="1"/>
          <p:nvPr/>
        </p:nvSpPr>
        <p:spPr>
          <a:xfrm>
            <a:off x="6101550" y="3381350"/>
            <a:ext cx="2885100" cy="104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 sz="1500">
                <a:solidFill>
                  <a:srgbClr val="FFFFFF"/>
                </a:solidFill>
                <a:latin typeface="Montserrat"/>
                <a:ea typeface="Montserrat"/>
                <a:cs typeface="Montserrat"/>
                <a:sym typeface="Montserrat"/>
              </a:rPr>
              <a:t>#3</a:t>
            </a:r>
            <a:endParaRPr b="1" sz="1500">
              <a:solidFill>
                <a:srgbClr val="FFFFFF"/>
              </a:solidFill>
              <a:latin typeface="Montserrat"/>
              <a:ea typeface="Montserrat"/>
              <a:cs typeface="Montserrat"/>
              <a:sym typeface="Montserrat"/>
            </a:endParaRPr>
          </a:p>
          <a:p>
            <a:pPr indent="0" lvl="0" marL="0" rtl="0" algn="l">
              <a:spcBef>
                <a:spcPts val="0"/>
              </a:spcBef>
              <a:spcAft>
                <a:spcPts val="0"/>
              </a:spcAft>
              <a:buNone/>
            </a:pPr>
            <a:r>
              <a:rPr b="1" lang="es" sz="1500">
                <a:solidFill>
                  <a:srgbClr val="FFFFFF"/>
                </a:solidFill>
                <a:latin typeface="Montserrat"/>
                <a:ea typeface="Montserrat"/>
                <a:cs typeface="Montserrat"/>
                <a:sym typeface="Montserrat"/>
              </a:rPr>
              <a:t>Arquitectura, Compilación y Entrenamiento del modelo</a:t>
            </a:r>
            <a:endParaRPr b="1" sz="1500"/>
          </a:p>
        </p:txBody>
      </p:sp>
      <p:sp>
        <p:nvSpPr>
          <p:cNvPr id="219" name="Google Shape;219;p20"/>
          <p:cNvSpPr txBox="1"/>
          <p:nvPr/>
        </p:nvSpPr>
        <p:spPr>
          <a:xfrm>
            <a:off x="6101550" y="1771450"/>
            <a:ext cx="22755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 sz="1500">
                <a:solidFill>
                  <a:srgbClr val="FFFFFF"/>
                </a:solidFill>
                <a:latin typeface="Montserrat"/>
                <a:ea typeface="Montserrat"/>
                <a:cs typeface="Montserrat"/>
                <a:sym typeface="Montserrat"/>
              </a:rPr>
              <a:t>#4</a:t>
            </a:r>
            <a:endParaRPr b="1" sz="1500">
              <a:solidFill>
                <a:srgbClr val="FFFFFF"/>
              </a:solidFill>
              <a:latin typeface="Montserrat"/>
              <a:ea typeface="Montserrat"/>
              <a:cs typeface="Montserrat"/>
              <a:sym typeface="Montserrat"/>
            </a:endParaRPr>
          </a:p>
          <a:p>
            <a:pPr indent="0" lvl="0" marL="0" rtl="0" algn="l">
              <a:spcBef>
                <a:spcPts val="0"/>
              </a:spcBef>
              <a:spcAft>
                <a:spcPts val="0"/>
              </a:spcAft>
              <a:buNone/>
            </a:pPr>
            <a:r>
              <a:rPr b="1" lang="es" sz="1500">
                <a:solidFill>
                  <a:srgbClr val="FFFFFF"/>
                </a:solidFill>
                <a:latin typeface="Montserrat"/>
                <a:ea typeface="Montserrat"/>
                <a:cs typeface="Montserrat"/>
                <a:sym typeface="Montserrat"/>
              </a:rPr>
              <a:t>Evaluación del Modelo</a:t>
            </a:r>
            <a:endParaRPr b="1" sz="1500"/>
          </a:p>
        </p:txBody>
      </p:sp>
      <p:cxnSp>
        <p:nvCxnSpPr>
          <p:cNvPr id="220" name="Google Shape;220;p20"/>
          <p:cNvCxnSpPr/>
          <p:nvPr/>
        </p:nvCxnSpPr>
        <p:spPr>
          <a:xfrm flipH="1">
            <a:off x="780842" y="3044098"/>
            <a:ext cx="2275500" cy="10500"/>
          </a:xfrm>
          <a:prstGeom prst="straightConnector1">
            <a:avLst/>
          </a:prstGeom>
          <a:noFill/>
          <a:ln cap="flat" cmpd="sng" w="9525">
            <a:solidFill>
              <a:srgbClr val="FFFFFF"/>
            </a:solidFill>
            <a:prstDash val="dot"/>
            <a:round/>
            <a:headEnd len="med" w="med" type="none"/>
            <a:tailEnd len="med" w="med" type="none"/>
          </a:ln>
        </p:spPr>
      </p:cxnSp>
      <p:cxnSp>
        <p:nvCxnSpPr>
          <p:cNvPr id="221" name="Google Shape;221;p20"/>
          <p:cNvCxnSpPr/>
          <p:nvPr/>
        </p:nvCxnSpPr>
        <p:spPr>
          <a:xfrm flipH="1">
            <a:off x="6101542" y="3044098"/>
            <a:ext cx="2275500" cy="10500"/>
          </a:xfrm>
          <a:prstGeom prst="straightConnector1">
            <a:avLst/>
          </a:prstGeom>
          <a:noFill/>
          <a:ln cap="flat" cmpd="sng" w="9525">
            <a:solidFill>
              <a:srgbClr val="FFFFFF"/>
            </a:solidFill>
            <a:prstDash val="dot"/>
            <a:round/>
            <a:headEnd len="med" w="med" type="none"/>
            <a:tailEnd len="med" w="med" type="none"/>
          </a:ln>
        </p:spPr>
      </p:cxnSp>
      <p:sp>
        <p:nvSpPr>
          <p:cNvPr id="222" name="Google Shape;222;p20"/>
          <p:cNvSpPr/>
          <p:nvPr/>
        </p:nvSpPr>
        <p:spPr>
          <a:xfrm rot="2700000">
            <a:off x="3171935" y="1661338"/>
            <a:ext cx="2787415" cy="2787415"/>
          </a:xfrm>
          <a:prstGeom prst="pie">
            <a:avLst>
              <a:gd fmla="val 10795717" name="adj1"/>
              <a:gd fmla="val 16201261" name="adj2"/>
            </a:avLst>
          </a:prstGeom>
          <a:solidFill>
            <a:srgbClr val="9BC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0"/>
          <p:cNvSpPr/>
          <p:nvPr/>
        </p:nvSpPr>
        <p:spPr>
          <a:xfrm rot="8100000">
            <a:off x="3171844" y="1661247"/>
            <a:ext cx="2787415" cy="2787415"/>
          </a:xfrm>
          <a:prstGeom prst="pie">
            <a:avLst>
              <a:gd fmla="val 10795717" name="adj1"/>
              <a:gd fmla="val 16201261" name="adj2"/>
            </a:avLst>
          </a:prstGeom>
          <a:solidFill>
            <a:srgbClr val="0D47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0"/>
          <p:cNvSpPr/>
          <p:nvPr/>
        </p:nvSpPr>
        <p:spPr>
          <a:xfrm rot="-8100000">
            <a:off x="3171937" y="1661155"/>
            <a:ext cx="2787415" cy="2787415"/>
          </a:xfrm>
          <a:prstGeom prst="pie">
            <a:avLst>
              <a:gd fmla="val 10795717" name="adj1"/>
              <a:gd fmla="val 16201261" name="adj2"/>
            </a:avLst>
          </a:prstGeom>
          <a:solidFill>
            <a:srgbClr val="197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0"/>
          <p:cNvSpPr/>
          <p:nvPr/>
        </p:nvSpPr>
        <p:spPr>
          <a:xfrm rot="-2700000">
            <a:off x="3172027" y="1661246"/>
            <a:ext cx="2787415" cy="2787415"/>
          </a:xfrm>
          <a:prstGeom prst="pie">
            <a:avLst>
              <a:gd fmla="val 10795717" name="adj1"/>
              <a:gd fmla="val 16201261" name="adj2"/>
            </a:avLst>
          </a:prstGeom>
          <a:solidFill>
            <a:srgbClr val="219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6" name="Google Shape;226;p20"/>
          <p:cNvGrpSpPr/>
          <p:nvPr/>
        </p:nvGrpSpPr>
        <p:grpSpPr>
          <a:xfrm rot="2700000">
            <a:off x="3395646" y="1906362"/>
            <a:ext cx="737677" cy="737677"/>
            <a:chOff x="2920647" y="2157958"/>
            <a:chExt cx="827700" cy="827700"/>
          </a:xfrm>
        </p:grpSpPr>
        <p:sp>
          <p:nvSpPr>
            <p:cNvPr id="227" name="Google Shape;227;p20"/>
            <p:cNvSpPr/>
            <p:nvPr/>
          </p:nvSpPr>
          <p:spPr>
            <a:xfrm rot="2368348">
              <a:off x="3040494" y="2277805"/>
              <a:ext cx="588007" cy="588007"/>
            </a:xfrm>
            <a:prstGeom prst="pie">
              <a:avLst>
                <a:gd fmla="val 18953478" name="adj1"/>
                <a:gd fmla="val 8381030" name="adj2"/>
              </a:avLst>
            </a:prstGeom>
            <a:solidFill>
              <a:srgbClr val="9BC5E9"/>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0"/>
            <p:cNvSpPr/>
            <p:nvPr/>
          </p:nvSpPr>
          <p:spPr>
            <a:xfrm rot="248723">
              <a:off x="3023158" y="2234335"/>
              <a:ext cx="655715" cy="655993"/>
            </a:xfrm>
            <a:prstGeom prst="chord">
              <a:avLst>
                <a:gd fmla="val 2500565" name="adj1"/>
                <a:gd fmla="val 1811979" name="adj2"/>
              </a:avLst>
            </a:prstGeom>
            <a:solidFill>
              <a:srgbClr val="9BC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9" name="Google Shape;229;p20"/>
          <p:cNvSpPr txBox="1"/>
          <p:nvPr/>
        </p:nvSpPr>
        <p:spPr>
          <a:xfrm rot="2700000">
            <a:off x="3552615" y="2108306"/>
            <a:ext cx="507844" cy="266014"/>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a:t>
            </a:r>
            <a:r>
              <a:rPr b="1" lang="es" sz="1600">
                <a:solidFill>
                  <a:srgbClr val="FFFFFF"/>
                </a:solidFill>
                <a:latin typeface="Roboto"/>
                <a:ea typeface="Roboto"/>
                <a:cs typeface="Roboto"/>
                <a:sym typeface="Roboto"/>
              </a:rPr>
              <a:t>1</a:t>
            </a:r>
            <a:endParaRPr b="1" sz="1600">
              <a:solidFill>
                <a:srgbClr val="FFFFFF"/>
              </a:solidFill>
              <a:latin typeface="Roboto"/>
              <a:ea typeface="Roboto"/>
              <a:cs typeface="Roboto"/>
              <a:sym typeface="Roboto"/>
            </a:endParaRPr>
          </a:p>
        </p:txBody>
      </p:sp>
      <p:grpSp>
        <p:nvGrpSpPr>
          <p:cNvPr id="230" name="Google Shape;230;p20"/>
          <p:cNvGrpSpPr/>
          <p:nvPr/>
        </p:nvGrpSpPr>
        <p:grpSpPr>
          <a:xfrm rot="-2700000">
            <a:off x="3426941" y="3496744"/>
            <a:ext cx="737677" cy="737677"/>
            <a:chOff x="2920647" y="2157958"/>
            <a:chExt cx="827700" cy="827700"/>
          </a:xfrm>
        </p:grpSpPr>
        <p:sp>
          <p:nvSpPr>
            <p:cNvPr id="231" name="Google Shape;231;p20"/>
            <p:cNvSpPr/>
            <p:nvPr/>
          </p:nvSpPr>
          <p:spPr>
            <a:xfrm rot="2368348">
              <a:off x="3040494" y="2277805"/>
              <a:ext cx="588007" cy="588007"/>
            </a:xfrm>
            <a:prstGeom prst="pie">
              <a:avLst>
                <a:gd fmla="val 18953478" name="adj1"/>
                <a:gd fmla="val 8381030" name="adj2"/>
              </a:avLst>
            </a:prstGeom>
            <a:solidFill>
              <a:srgbClr val="2196F3"/>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0"/>
            <p:cNvSpPr/>
            <p:nvPr/>
          </p:nvSpPr>
          <p:spPr>
            <a:xfrm rot="248723">
              <a:off x="3023158" y="2234335"/>
              <a:ext cx="655715" cy="655993"/>
            </a:xfrm>
            <a:prstGeom prst="chord">
              <a:avLst>
                <a:gd fmla="val 2500565" name="adj1"/>
                <a:gd fmla="val 1811979" name="adj2"/>
              </a:avLst>
            </a:prstGeom>
            <a:solidFill>
              <a:srgbClr val="219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3" name="Google Shape;233;p20"/>
          <p:cNvSpPr txBox="1"/>
          <p:nvPr/>
        </p:nvSpPr>
        <p:spPr>
          <a:xfrm rot="2700000">
            <a:off x="3576053" y="3670537"/>
            <a:ext cx="507844" cy="266014"/>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a:t>
            </a:r>
            <a:r>
              <a:rPr b="1" lang="es" sz="1600">
                <a:solidFill>
                  <a:srgbClr val="FFFFFF"/>
                </a:solidFill>
                <a:latin typeface="Roboto"/>
                <a:ea typeface="Roboto"/>
                <a:cs typeface="Roboto"/>
                <a:sym typeface="Roboto"/>
              </a:rPr>
              <a:t>2</a:t>
            </a:r>
            <a:endParaRPr b="1" sz="1600">
              <a:solidFill>
                <a:srgbClr val="FFFFFF"/>
              </a:solidFill>
              <a:latin typeface="Roboto"/>
              <a:ea typeface="Roboto"/>
              <a:cs typeface="Roboto"/>
              <a:sym typeface="Roboto"/>
            </a:endParaRPr>
          </a:p>
        </p:txBody>
      </p:sp>
      <p:grpSp>
        <p:nvGrpSpPr>
          <p:cNvPr id="234" name="Google Shape;234;p20"/>
          <p:cNvGrpSpPr/>
          <p:nvPr/>
        </p:nvGrpSpPr>
        <p:grpSpPr>
          <a:xfrm rot="2700000">
            <a:off x="4975735" y="3486467"/>
            <a:ext cx="737809" cy="737809"/>
            <a:chOff x="5428888" y="2158023"/>
            <a:chExt cx="828900" cy="828900"/>
          </a:xfrm>
        </p:grpSpPr>
        <p:sp>
          <p:nvSpPr>
            <p:cNvPr id="235" name="Google Shape;235;p20"/>
            <p:cNvSpPr/>
            <p:nvPr/>
          </p:nvSpPr>
          <p:spPr>
            <a:xfrm rot="-8431175">
              <a:off x="5548912" y="2278047"/>
              <a:ext cx="588851" cy="588851"/>
            </a:xfrm>
            <a:prstGeom prst="pie">
              <a:avLst>
                <a:gd fmla="val 19686997" name="adj1"/>
                <a:gd fmla="val 7771013" name="adj2"/>
              </a:avLst>
            </a:prstGeom>
            <a:solidFill>
              <a:srgbClr val="1976D2"/>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0"/>
            <p:cNvSpPr/>
            <p:nvPr/>
          </p:nvSpPr>
          <p:spPr>
            <a:xfrm rot="-10551618">
              <a:off x="5498383" y="2253584"/>
              <a:ext cx="656613" cy="656891"/>
            </a:xfrm>
            <a:prstGeom prst="chord">
              <a:avLst>
                <a:gd fmla="val 2500565" name="adj1"/>
                <a:gd fmla="val 1811979" name="adj2"/>
              </a:avLst>
            </a:prstGeom>
            <a:solidFill>
              <a:srgbClr val="197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7" name="Google Shape;237;p20"/>
          <p:cNvSpPr txBox="1"/>
          <p:nvPr/>
        </p:nvSpPr>
        <p:spPr>
          <a:xfrm rot="2700000">
            <a:off x="5111706" y="3667398"/>
            <a:ext cx="507844" cy="266014"/>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a:t>
            </a:r>
            <a:r>
              <a:rPr b="1" lang="es" sz="1600">
                <a:solidFill>
                  <a:srgbClr val="FFFFFF"/>
                </a:solidFill>
                <a:latin typeface="Roboto"/>
                <a:ea typeface="Roboto"/>
                <a:cs typeface="Roboto"/>
                <a:sym typeface="Roboto"/>
              </a:rPr>
              <a:t>3</a:t>
            </a:r>
            <a:endParaRPr b="1" sz="1600">
              <a:solidFill>
                <a:srgbClr val="FFFFFF"/>
              </a:solidFill>
              <a:latin typeface="Roboto"/>
              <a:ea typeface="Roboto"/>
              <a:cs typeface="Roboto"/>
              <a:sym typeface="Roboto"/>
            </a:endParaRPr>
          </a:p>
        </p:txBody>
      </p:sp>
      <p:grpSp>
        <p:nvGrpSpPr>
          <p:cNvPr id="238" name="Google Shape;238;p20"/>
          <p:cNvGrpSpPr/>
          <p:nvPr/>
        </p:nvGrpSpPr>
        <p:grpSpPr>
          <a:xfrm rot="8100000">
            <a:off x="4983954" y="1894977"/>
            <a:ext cx="737677" cy="737677"/>
            <a:chOff x="2920647" y="2157958"/>
            <a:chExt cx="827700" cy="827700"/>
          </a:xfrm>
        </p:grpSpPr>
        <p:sp>
          <p:nvSpPr>
            <p:cNvPr id="239" name="Google Shape;239;p20"/>
            <p:cNvSpPr/>
            <p:nvPr/>
          </p:nvSpPr>
          <p:spPr>
            <a:xfrm rot="2368348">
              <a:off x="3040494" y="2277805"/>
              <a:ext cx="588007" cy="588007"/>
            </a:xfrm>
            <a:prstGeom prst="pie">
              <a:avLst>
                <a:gd fmla="val 18953478" name="adj1"/>
                <a:gd fmla="val 8381030" name="adj2"/>
              </a:avLst>
            </a:prstGeom>
            <a:solidFill>
              <a:srgbClr val="0D47A1"/>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0"/>
            <p:cNvSpPr/>
            <p:nvPr/>
          </p:nvSpPr>
          <p:spPr>
            <a:xfrm rot="248723">
              <a:off x="3023158" y="2234335"/>
              <a:ext cx="655715" cy="655993"/>
            </a:xfrm>
            <a:prstGeom prst="chord">
              <a:avLst>
                <a:gd fmla="val 2500565" name="adj1"/>
                <a:gd fmla="val 1811979" name="adj2"/>
              </a:avLst>
            </a:prstGeom>
            <a:solidFill>
              <a:srgbClr val="0D47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1" name="Google Shape;241;p20"/>
          <p:cNvSpPr txBox="1"/>
          <p:nvPr/>
        </p:nvSpPr>
        <p:spPr>
          <a:xfrm rot="2700000">
            <a:off x="5135828" y="2110762"/>
            <a:ext cx="507844" cy="266014"/>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a:t>
            </a:r>
            <a:r>
              <a:rPr b="1" lang="es" sz="1600">
                <a:solidFill>
                  <a:srgbClr val="FFFFFF"/>
                </a:solidFill>
                <a:latin typeface="Roboto"/>
                <a:ea typeface="Roboto"/>
                <a:cs typeface="Roboto"/>
                <a:sym typeface="Roboto"/>
              </a:rPr>
              <a:t>4</a:t>
            </a:r>
            <a:endParaRPr b="1" sz="1600">
              <a:solidFill>
                <a:srgbClr val="FFFFFF"/>
              </a:solidFill>
              <a:latin typeface="Roboto"/>
              <a:ea typeface="Roboto"/>
              <a:cs typeface="Roboto"/>
              <a:sym typeface="Roboto"/>
            </a:endParaRPr>
          </a:p>
        </p:txBody>
      </p:sp>
      <p:sp>
        <p:nvSpPr>
          <p:cNvPr id="242" name="Google Shape;242;p20"/>
          <p:cNvSpPr/>
          <p:nvPr/>
        </p:nvSpPr>
        <p:spPr>
          <a:xfrm rot="2700000">
            <a:off x="3754245" y="2243404"/>
            <a:ext cx="1622810" cy="1622810"/>
          </a:xfrm>
          <a:prstGeom prst="ellipse">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3" name="Google Shape;243;p20"/>
          <p:cNvCxnSpPr/>
          <p:nvPr/>
        </p:nvCxnSpPr>
        <p:spPr>
          <a:xfrm flipH="1">
            <a:off x="358451" y="1484900"/>
            <a:ext cx="8440800" cy="11700"/>
          </a:xfrm>
          <a:prstGeom prst="straightConnector1">
            <a:avLst/>
          </a:prstGeom>
          <a:noFill/>
          <a:ln cap="flat" cmpd="sng" w="10575">
            <a:solidFill>
              <a:srgbClr val="B7B7B7"/>
            </a:solidFill>
            <a:prstDash val="solid"/>
            <a:round/>
            <a:headEnd len="med" w="med" type="none"/>
            <a:tailEnd len="med" w="med" type="none"/>
          </a:ln>
        </p:spPr>
      </p:cxnSp>
      <p:cxnSp>
        <p:nvCxnSpPr>
          <p:cNvPr id="244" name="Google Shape;244;p20"/>
          <p:cNvCxnSpPr/>
          <p:nvPr/>
        </p:nvCxnSpPr>
        <p:spPr>
          <a:xfrm flipH="1">
            <a:off x="358451" y="4610958"/>
            <a:ext cx="8440800" cy="11700"/>
          </a:xfrm>
          <a:prstGeom prst="straightConnector1">
            <a:avLst/>
          </a:prstGeom>
          <a:noFill/>
          <a:ln cap="flat" cmpd="sng" w="10575">
            <a:solidFill>
              <a:srgbClr val="B7B7B7"/>
            </a:solidFill>
            <a:prstDash val="solid"/>
            <a:round/>
            <a:headEnd len="med" w="med" type="none"/>
            <a:tailEnd len="med" w="med" type="none"/>
          </a:ln>
        </p:spPr>
      </p:cxnSp>
      <p:pic>
        <p:nvPicPr>
          <p:cNvPr id="245" name="Google Shape;245;p20" title="Py.png"/>
          <p:cNvPicPr preferRelativeResize="0"/>
          <p:nvPr/>
        </p:nvPicPr>
        <p:blipFill>
          <a:blip r:embed="rId4">
            <a:alphaModFix/>
          </a:blip>
          <a:stretch>
            <a:fillRect/>
          </a:stretch>
        </p:blipFill>
        <p:spPr>
          <a:xfrm rot="2700000">
            <a:off x="4134434" y="2606434"/>
            <a:ext cx="896923" cy="896923"/>
          </a:xfrm>
          <a:prstGeom prst="rect">
            <a:avLst/>
          </a:prstGeom>
          <a:noFill/>
          <a:ln>
            <a:noFill/>
          </a:ln>
        </p:spPr>
      </p:pic>
      <p:sp>
        <p:nvSpPr>
          <p:cNvPr id="246" name="Google Shape;246;p20"/>
          <p:cNvSpPr txBox="1"/>
          <p:nvPr/>
        </p:nvSpPr>
        <p:spPr>
          <a:xfrm>
            <a:off x="3627387" y="260825"/>
            <a:ext cx="907200" cy="697200"/>
          </a:xfrm>
          <a:prstGeom prst="rect">
            <a:avLst/>
          </a:prstGeom>
          <a:noFill/>
          <a:ln>
            <a:noFill/>
          </a:ln>
        </p:spPr>
        <p:txBody>
          <a:bodyPr anchorCtr="0" anchor="ctr" bIns="78825" lIns="78825" spcFirstLastPara="1" rIns="78825" wrap="square" tIns="78825">
            <a:noAutofit/>
          </a:bodyPr>
          <a:lstStyle/>
          <a:p>
            <a:pPr indent="0" lvl="0" marL="0" marR="0" rtl="0" algn="r">
              <a:lnSpc>
                <a:spcPct val="100000"/>
              </a:lnSpc>
              <a:spcBef>
                <a:spcPts val="0"/>
              </a:spcBef>
              <a:spcAft>
                <a:spcPts val="0"/>
              </a:spcAft>
              <a:buNone/>
            </a:pPr>
            <a:r>
              <a:rPr b="1" lang="es" sz="4523">
                <a:solidFill>
                  <a:srgbClr val="FFFFFF"/>
                </a:solidFill>
                <a:latin typeface="Montserrat"/>
                <a:ea typeface="Montserrat"/>
                <a:cs typeface="Montserrat"/>
                <a:sym typeface="Montserrat"/>
              </a:rPr>
              <a:t>01</a:t>
            </a:r>
            <a:endParaRPr b="1" sz="4523">
              <a:solidFill>
                <a:srgbClr val="FFFFFF"/>
              </a:solidFill>
              <a:latin typeface="Montserrat"/>
              <a:ea typeface="Montserrat"/>
              <a:cs typeface="Montserrat"/>
              <a:sym typeface="Montserrat"/>
            </a:endParaRPr>
          </a:p>
        </p:txBody>
      </p:sp>
      <p:sp>
        <p:nvSpPr>
          <p:cNvPr id="247" name="Google Shape;247;p20"/>
          <p:cNvSpPr txBox="1"/>
          <p:nvPr>
            <p:ph idx="1" type="body"/>
          </p:nvPr>
        </p:nvSpPr>
        <p:spPr>
          <a:xfrm>
            <a:off x="4534638" y="260875"/>
            <a:ext cx="4367100" cy="697200"/>
          </a:xfrm>
          <a:prstGeom prst="rect">
            <a:avLst/>
          </a:prstGeom>
        </p:spPr>
        <p:txBody>
          <a:bodyPr anchorCtr="0" anchor="ctr" bIns="78825" lIns="78825" spcFirstLastPara="1" rIns="78825" wrap="square" tIns="78825">
            <a:normAutofit/>
          </a:bodyPr>
          <a:lstStyle/>
          <a:p>
            <a:pPr indent="0" lvl="0" marL="0" marR="0" rtl="0" algn="l">
              <a:lnSpc>
                <a:spcPct val="115000"/>
              </a:lnSpc>
              <a:spcBef>
                <a:spcPts val="0"/>
              </a:spcBef>
              <a:spcAft>
                <a:spcPts val="1312"/>
              </a:spcAft>
              <a:buNone/>
            </a:pPr>
            <a:r>
              <a:rPr b="1" lang="es" sz="1621">
                <a:solidFill>
                  <a:srgbClr val="FFFFFF"/>
                </a:solidFill>
              </a:rPr>
              <a:t>Crear modelo con Python, para detectar si los titulares de las noticias son “fake o no”.</a:t>
            </a:r>
            <a:endParaRPr b="1" sz="1621">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id="252" name="Google Shape;252;p21"/>
          <p:cNvPicPr preferRelativeResize="0"/>
          <p:nvPr/>
        </p:nvPicPr>
        <p:blipFill>
          <a:blip r:embed="rId3">
            <a:alphaModFix amt="36000"/>
          </a:blip>
          <a:stretch>
            <a:fillRect/>
          </a:stretch>
        </p:blipFill>
        <p:spPr>
          <a:xfrm>
            <a:off x="0" y="0"/>
            <a:ext cx="9144000" cy="5143499"/>
          </a:xfrm>
          <a:prstGeom prst="rect">
            <a:avLst/>
          </a:prstGeom>
          <a:noFill/>
          <a:ln>
            <a:noFill/>
          </a:ln>
        </p:spPr>
      </p:pic>
      <p:sp>
        <p:nvSpPr>
          <p:cNvPr id="253" name="Google Shape;253;p21"/>
          <p:cNvSpPr txBox="1"/>
          <p:nvPr>
            <p:ph idx="1" type="body"/>
          </p:nvPr>
        </p:nvSpPr>
        <p:spPr>
          <a:xfrm>
            <a:off x="419475" y="189350"/>
            <a:ext cx="51615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s" sz="1600">
                <a:latin typeface="Montserrat"/>
                <a:ea typeface="Montserrat"/>
                <a:cs typeface="Montserrat"/>
                <a:sym typeface="Montserrat"/>
              </a:rPr>
              <a:t>#1- Carga y Limpieza</a:t>
            </a:r>
            <a:endParaRPr b="1"/>
          </a:p>
        </p:txBody>
      </p:sp>
      <p:pic>
        <p:nvPicPr>
          <p:cNvPr id="254" name="Google Shape;254;p21" title="Py.png"/>
          <p:cNvPicPr preferRelativeResize="0"/>
          <p:nvPr/>
        </p:nvPicPr>
        <p:blipFill>
          <a:blip r:embed="rId4">
            <a:alphaModFix/>
          </a:blip>
          <a:stretch>
            <a:fillRect/>
          </a:stretch>
        </p:blipFill>
        <p:spPr>
          <a:xfrm>
            <a:off x="8500225" y="223775"/>
            <a:ext cx="420600" cy="420600"/>
          </a:xfrm>
          <a:prstGeom prst="rect">
            <a:avLst/>
          </a:prstGeom>
          <a:noFill/>
          <a:ln>
            <a:noFill/>
          </a:ln>
        </p:spPr>
      </p:pic>
      <p:pic>
        <p:nvPicPr>
          <p:cNvPr id="255" name="Google Shape;255;p21"/>
          <p:cNvPicPr preferRelativeResize="0"/>
          <p:nvPr/>
        </p:nvPicPr>
        <p:blipFill>
          <a:blip r:embed="rId5">
            <a:alphaModFix/>
          </a:blip>
          <a:stretch>
            <a:fillRect/>
          </a:stretch>
        </p:blipFill>
        <p:spPr>
          <a:xfrm>
            <a:off x="515949" y="762393"/>
            <a:ext cx="5322900" cy="2256300"/>
          </a:xfrm>
          <a:prstGeom prst="roundRect">
            <a:avLst>
              <a:gd fmla="val 3160" name="adj"/>
            </a:avLst>
          </a:prstGeom>
          <a:noFill/>
          <a:ln cap="flat" cmpd="sng" w="27025">
            <a:solidFill>
              <a:srgbClr val="0000FF"/>
            </a:solidFill>
            <a:prstDash val="solid"/>
            <a:round/>
            <a:headEnd len="sm" w="sm" type="none"/>
            <a:tailEnd len="sm" w="sm" type="none"/>
          </a:ln>
        </p:spPr>
      </p:pic>
      <p:pic>
        <p:nvPicPr>
          <p:cNvPr id="256" name="Google Shape;256;p21"/>
          <p:cNvPicPr preferRelativeResize="0"/>
          <p:nvPr/>
        </p:nvPicPr>
        <p:blipFill>
          <a:blip r:embed="rId6">
            <a:alphaModFix/>
          </a:blip>
          <a:stretch>
            <a:fillRect/>
          </a:stretch>
        </p:blipFill>
        <p:spPr>
          <a:xfrm>
            <a:off x="2347177" y="1963194"/>
            <a:ext cx="3401700" cy="397800"/>
          </a:xfrm>
          <a:prstGeom prst="roundRect">
            <a:avLst>
              <a:gd fmla="val 16667" name="adj"/>
            </a:avLst>
          </a:prstGeom>
          <a:noFill/>
          <a:ln cap="flat" cmpd="sng" w="7225">
            <a:solidFill>
              <a:srgbClr val="B7B7B7"/>
            </a:solidFill>
            <a:prstDash val="solid"/>
            <a:round/>
            <a:headEnd len="sm" w="sm" type="none"/>
            <a:tailEnd len="sm" w="sm" type="none"/>
          </a:ln>
        </p:spPr>
      </p:pic>
      <p:pic>
        <p:nvPicPr>
          <p:cNvPr id="257" name="Google Shape;257;p21"/>
          <p:cNvPicPr preferRelativeResize="0"/>
          <p:nvPr/>
        </p:nvPicPr>
        <p:blipFill rotWithShape="1">
          <a:blip r:embed="rId7">
            <a:alphaModFix/>
          </a:blip>
          <a:srcRect b="75660" l="0" r="32000" t="0"/>
          <a:stretch/>
        </p:blipFill>
        <p:spPr>
          <a:xfrm>
            <a:off x="778807" y="3194200"/>
            <a:ext cx="2134200" cy="663600"/>
          </a:xfrm>
          <a:prstGeom prst="roundRect">
            <a:avLst>
              <a:gd fmla="val 7366" name="adj"/>
            </a:avLst>
          </a:prstGeom>
          <a:noFill/>
          <a:ln cap="flat" cmpd="sng" w="28575">
            <a:solidFill>
              <a:srgbClr val="FFFF00"/>
            </a:solidFill>
            <a:prstDash val="solid"/>
            <a:round/>
            <a:headEnd len="sm" w="sm" type="none"/>
            <a:tailEnd len="sm" w="sm" type="none"/>
          </a:ln>
        </p:spPr>
      </p:pic>
      <p:pic>
        <p:nvPicPr>
          <p:cNvPr id="258" name="Google Shape;258;p21"/>
          <p:cNvPicPr preferRelativeResize="0"/>
          <p:nvPr/>
        </p:nvPicPr>
        <p:blipFill rotWithShape="1">
          <a:blip r:embed="rId8">
            <a:alphaModFix/>
          </a:blip>
          <a:srcRect b="0" l="0" r="26297" t="11738"/>
          <a:stretch/>
        </p:blipFill>
        <p:spPr>
          <a:xfrm>
            <a:off x="3137100" y="3194200"/>
            <a:ext cx="5844000" cy="1271700"/>
          </a:xfrm>
          <a:prstGeom prst="roundRect">
            <a:avLst>
              <a:gd fmla="val 4354" name="adj"/>
            </a:avLst>
          </a:prstGeom>
          <a:noFill/>
          <a:ln cap="flat" cmpd="sng" w="28575">
            <a:solidFill>
              <a:srgbClr val="FFFF00"/>
            </a:solidFill>
            <a:prstDash val="solid"/>
            <a:round/>
            <a:headEnd len="sm" w="sm" type="none"/>
            <a:tailEnd len="sm" w="sm" type="none"/>
          </a:ln>
        </p:spPr>
      </p:pic>
      <p:cxnSp>
        <p:nvCxnSpPr>
          <p:cNvPr id="259" name="Google Shape;259;p21"/>
          <p:cNvCxnSpPr/>
          <p:nvPr/>
        </p:nvCxnSpPr>
        <p:spPr>
          <a:xfrm>
            <a:off x="3367802" y="4405738"/>
            <a:ext cx="3112200" cy="0"/>
          </a:xfrm>
          <a:prstGeom prst="straightConnector1">
            <a:avLst/>
          </a:prstGeom>
          <a:noFill/>
          <a:ln cap="flat" cmpd="sng" w="13275">
            <a:solidFill>
              <a:srgbClr val="0000FF"/>
            </a:solidFill>
            <a:prstDash val="solid"/>
            <a:round/>
            <a:headEnd len="med" w="med" type="none"/>
            <a:tailEnd len="med" w="med" type="none"/>
          </a:ln>
        </p:spPr>
      </p:cxnSp>
      <p:cxnSp>
        <p:nvCxnSpPr>
          <p:cNvPr id="260" name="Google Shape;260;p21"/>
          <p:cNvCxnSpPr/>
          <p:nvPr/>
        </p:nvCxnSpPr>
        <p:spPr>
          <a:xfrm>
            <a:off x="3279074" y="3866607"/>
            <a:ext cx="5376900" cy="0"/>
          </a:xfrm>
          <a:prstGeom prst="straightConnector1">
            <a:avLst/>
          </a:prstGeom>
          <a:noFill/>
          <a:ln cap="flat" cmpd="sng" w="13275">
            <a:solidFill>
              <a:srgbClr val="0000FF"/>
            </a:solidFill>
            <a:prstDash val="solid"/>
            <a:round/>
            <a:headEnd len="med" w="med" type="none"/>
            <a:tailEnd len="med" w="med" type="none"/>
          </a:ln>
        </p:spPr>
      </p:cxnSp>
      <p:sp>
        <p:nvSpPr>
          <p:cNvPr id="261" name="Google Shape;261;p21"/>
          <p:cNvSpPr/>
          <p:nvPr/>
        </p:nvSpPr>
        <p:spPr>
          <a:xfrm rot="4177607">
            <a:off x="101129" y="3140304"/>
            <a:ext cx="572194" cy="300809"/>
          </a:xfrm>
          <a:prstGeom prst="curvedUpArrow">
            <a:avLst>
              <a:gd fmla="val 25000" name="adj1"/>
              <a:gd fmla="val 50000" name="adj2"/>
              <a:gd fmla="val 25000" name="adj3"/>
            </a:avLst>
          </a:prstGeom>
          <a:solidFill>
            <a:srgbClr val="EFEFEF"/>
          </a:solidFill>
          <a:ln cap="flat" cmpd="sng" w="8200">
            <a:solidFill>
              <a:schemeClr val="dk2"/>
            </a:solidFill>
            <a:prstDash val="solid"/>
            <a:round/>
            <a:headEnd len="sm" w="sm" type="none"/>
            <a:tailEnd len="sm" w="sm" type="none"/>
          </a:ln>
        </p:spPr>
        <p:txBody>
          <a:bodyPr anchorCtr="0" anchor="ctr" bIns="78625" lIns="78625" spcFirstLastPara="1" rIns="78625" wrap="square" tIns="78625">
            <a:noAutofit/>
          </a:bodyPr>
          <a:lstStyle/>
          <a:p>
            <a:pPr indent="0" lvl="0" marL="0" rtl="0" algn="ctr">
              <a:spcBef>
                <a:spcPts val="0"/>
              </a:spcBef>
              <a:spcAft>
                <a:spcPts val="0"/>
              </a:spcAft>
              <a:buNone/>
            </a:pPr>
            <a:r>
              <a:t/>
            </a:r>
            <a:endParaRPr sz="1204">
              <a:latin typeface="Lato"/>
              <a:ea typeface="Lato"/>
              <a:cs typeface="Lato"/>
              <a:sym typeface="Lato"/>
            </a:endParaRPr>
          </a:p>
        </p:txBody>
      </p:sp>
      <p:pic>
        <p:nvPicPr>
          <p:cNvPr id="262" name="Google Shape;262;p21"/>
          <p:cNvPicPr preferRelativeResize="0"/>
          <p:nvPr/>
        </p:nvPicPr>
        <p:blipFill>
          <a:blip r:embed="rId9">
            <a:alphaModFix/>
          </a:blip>
          <a:stretch>
            <a:fillRect/>
          </a:stretch>
        </p:blipFill>
        <p:spPr>
          <a:xfrm>
            <a:off x="5976000" y="1667677"/>
            <a:ext cx="3005100" cy="1350900"/>
          </a:xfrm>
          <a:prstGeom prst="roundRect">
            <a:avLst>
              <a:gd fmla="val 7926" name="adj"/>
            </a:avLst>
          </a:prstGeom>
          <a:noFill/>
          <a:ln cap="flat" cmpd="sng" w="27025">
            <a:solidFill>
              <a:srgbClr val="0000FF"/>
            </a:solidFill>
            <a:prstDash val="solid"/>
            <a:round/>
            <a:headEnd len="sm" w="sm" type="none"/>
            <a:tailEnd len="sm" w="sm" type="none"/>
          </a:ln>
        </p:spPr>
      </p:pic>
      <p:pic>
        <p:nvPicPr>
          <p:cNvPr id="263" name="Google Shape;263;p21"/>
          <p:cNvPicPr preferRelativeResize="0"/>
          <p:nvPr/>
        </p:nvPicPr>
        <p:blipFill>
          <a:blip r:embed="rId10">
            <a:alphaModFix/>
          </a:blip>
          <a:stretch>
            <a:fillRect/>
          </a:stretch>
        </p:blipFill>
        <p:spPr>
          <a:xfrm>
            <a:off x="778807" y="3948025"/>
            <a:ext cx="2134200" cy="963300"/>
          </a:xfrm>
          <a:prstGeom prst="roundRect">
            <a:avLst>
              <a:gd fmla="val 8794" name="adj"/>
            </a:avLst>
          </a:prstGeom>
          <a:noFill/>
          <a:ln cap="flat" cmpd="sng" w="28575">
            <a:solidFill>
              <a:srgbClr val="FFFF00"/>
            </a:solidFill>
            <a:prstDash val="solid"/>
            <a:round/>
            <a:headEnd len="sm" w="sm" type="none"/>
            <a:tailEnd len="sm" w="sm" type="none"/>
          </a:ln>
        </p:spPr>
      </p:pic>
      <p:sp>
        <p:nvSpPr>
          <p:cNvPr id="264" name="Google Shape;264;p21"/>
          <p:cNvSpPr txBox="1"/>
          <p:nvPr/>
        </p:nvSpPr>
        <p:spPr>
          <a:xfrm>
            <a:off x="6302550" y="1355250"/>
            <a:ext cx="2352000" cy="31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1300">
                <a:solidFill>
                  <a:srgbClr val="FFFFFF"/>
                </a:solidFill>
                <a:latin typeface="Montserrat"/>
                <a:ea typeface="Montserrat"/>
                <a:cs typeface="Montserrat"/>
                <a:sym typeface="Montserrat"/>
              </a:rPr>
              <a:t>“training_data.csv”</a:t>
            </a:r>
            <a:endParaRPr sz="13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22"/>
          <p:cNvPicPr preferRelativeResize="0"/>
          <p:nvPr/>
        </p:nvPicPr>
        <p:blipFill>
          <a:blip r:embed="rId3">
            <a:alphaModFix amt="36000"/>
          </a:blip>
          <a:stretch>
            <a:fillRect/>
          </a:stretch>
        </p:blipFill>
        <p:spPr>
          <a:xfrm>
            <a:off x="0" y="0"/>
            <a:ext cx="9144000" cy="5143499"/>
          </a:xfrm>
          <a:prstGeom prst="rect">
            <a:avLst/>
          </a:prstGeom>
          <a:noFill/>
          <a:ln>
            <a:noFill/>
          </a:ln>
        </p:spPr>
      </p:pic>
      <p:pic>
        <p:nvPicPr>
          <p:cNvPr id="270" name="Google Shape;270;p22"/>
          <p:cNvPicPr preferRelativeResize="0"/>
          <p:nvPr/>
        </p:nvPicPr>
        <p:blipFill>
          <a:blip r:embed="rId4">
            <a:alphaModFix/>
          </a:blip>
          <a:stretch>
            <a:fillRect/>
          </a:stretch>
        </p:blipFill>
        <p:spPr>
          <a:xfrm>
            <a:off x="486250" y="783275"/>
            <a:ext cx="5094600" cy="2242200"/>
          </a:xfrm>
          <a:prstGeom prst="roundRect">
            <a:avLst>
              <a:gd fmla="val 4529" name="adj"/>
            </a:avLst>
          </a:prstGeom>
          <a:noFill/>
          <a:ln cap="flat" cmpd="sng" w="28575">
            <a:solidFill>
              <a:srgbClr val="0000FF"/>
            </a:solidFill>
            <a:prstDash val="solid"/>
            <a:round/>
            <a:headEnd len="sm" w="sm" type="none"/>
            <a:tailEnd len="sm" w="sm" type="none"/>
          </a:ln>
        </p:spPr>
      </p:pic>
      <p:sp>
        <p:nvSpPr>
          <p:cNvPr id="271" name="Google Shape;271;p22"/>
          <p:cNvSpPr txBox="1"/>
          <p:nvPr>
            <p:ph idx="1" type="body"/>
          </p:nvPr>
        </p:nvSpPr>
        <p:spPr>
          <a:xfrm>
            <a:off x="419475" y="189350"/>
            <a:ext cx="51615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s" sz="1600">
                <a:latin typeface="Montserrat"/>
                <a:ea typeface="Montserrat"/>
                <a:cs typeface="Montserrat"/>
                <a:sym typeface="Montserrat"/>
              </a:rPr>
              <a:t>#1- Preprocesamiento de Datos</a:t>
            </a:r>
            <a:endParaRPr b="1"/>
          </a:p>
        </p:txBody>
      </p:sp>
      <p:pic>
        <p:nvPicPr>
          <p:cNvPr id="272" name="Google Shape;272;p22"/>
          <p:cNvPicPr preferRelativeResize="0"/>
          <p:nvPr/>
        </p:nvPicPr>
        <p:blipFill>
          <a:blip r:embed="rId5">
            <a:alphaModFix/>
          </a:blip>
          <a:stretch>
            <a:fillRect/>
          </a:stretch>
        </p:blipFill>
        <p:spPr>
          <a:xfrm>
            <a:off x="836775" y="3155150"/>
            <a:ext cx="8112600" cy="1800000"/>
          </a:xfrm>
          <a:prstGeom prst="roundRect">
            <a:avLst>
              <a:gd fmla="val 6682" name="adj"/>
            </a:avLst>
          </a:prstGeom>
          <a:noFill/>
          <a:ln cap="flat" cmpd="sng" w="27250">
            <a:solidFill>
              <a:srgbClr val="FFFF00"/>
            </a:solidFill>
            <a:prstDash val="solid"/>
            <a:round/>
            <a:headEnd len="sm" w="sm" type="none"/>
            <a:tailEnd len="sm" w="sm" type="none"/>
          </a:ln>
        </p:spPr>
      </p:pic>
      <p:sp>
        <p:nvSpPr>
          <p:cNvPr id="273" name="Google Shape;273;p22"/>
          <p:cNvSpPr/>
          <p:nvPr/>
        </p:nvSpPr>
        <p:spPr>
          <a:xfrm>
            <a:off x="2450317" y="4085548"/>
            <a:ext cx="368100" cy="137100"/>
          </a:xfrm>
          <a:prstGeom prst="roundRect">
            <a:avLst>
              <a:gd fmla="val 16667" name="adj"/>
            </a:avLst>
          </a:prstGeom>
          <a:noFill/>
          <a:ln cap="flat" cmpd="sng" w="7650">
            <a:solidFill>
              <a:srgbClr val="0000FF"/>
            </a:solidFill>
            <a:prstDash val="solid"/>
            <a:round/>
            <a:headEnd len="sm" w="sm" type="none"/>
            <a:tailEnd len="sm" w="sm" type="none"/>
          </a:ln>
        </p:spPr>
        <p:txBody>
          <a:bodyPr anchorCtr="0" anchor="ctr" bIns="73675" lIns="73675" spcFirstLastPara="1" rIns="73675" wrap="square" tIns="73675">
            <a:noAutofit/>
          </a:bodyPr>
          <a:lstStyle/>
          <a:p>
            <a:pPr indent="0" lvl="0" marL="0" rtl="0" algn="ctr">
              <a:spcBef>
                <a:spcPts val="0"/>
              </a:spcBef>
              <a:spcAft>
                <a:spcPts val="0"/>
              </a:spcAft>
              <a:buNone/>
            </a:pPr>
            <a:r>
              <a:t/>
            </a:r>
            <a:endParaRPr sz="1127">
              <a:latin typeface="Lato"/>
              <a:ea typeface="Lato"/>
              <a:cs typeface="Lato"/>
              <a:sym typeface="Lato"/>
            </a:endParaRPr>
          </a:p>
        </p:txBody>
      </p:sp>
      <p:sp>
        <p:nvSpPr>
          <p:cNvPr id="274" name="Google Shape;274;p22"/>
          <p:cNvSpPr/>
          <p:nvPr/>
        </p:nvSpPr>
        <p:spPr>
          <a:xfrm>
            <a:off x="6485410" y="4085548"/>
            <a:ext cx="326400" cy="137100"/>
          </a:xfrm>
          <a:prstGeom prst="roundRect">
            <a:avLst>
              <a:gd fmla="val 16667" name="adj"/>
            </a:avLst>
          </a:prstGeom>
          <a:noFill/>
          <a:ln cap="flat" cmpd="sng" w="7650">
            <a:solidFill>
              <a:srgbClr val="6AA84F"/>
            </a:solidFill>
            <a:prstDash val="solid"/>
            <a:round/>
            <a:headEnd len="sm" w="sm" type="none"/>
            <a:tailEnd len="sm" w="sm" type="none"/>
          </a:ln>
        </p:spPr>
        <p:txBody>
          <a:bodyPr anchorCtr="0" anchor="ctr" bIns="73675" lIns="73675" spcFirstLastPara="1" rIns="73675" wrap="square" tIns="73675">
            <a:noAutofit/>
          </a:bodyPr>
          <a:lstStyle/>
          <a:p>
            <a:pPr indent="0" lvl="0" marL="0" rtl="0" algn="ctr">
              <a:spcBef>
                <a:spcPts val="0"/>
              </a:spcBef>
              <a:spcAft>
                <a:spcPts val="0"/>
              </a:spcAft>
              <a:buNone/>
            </a:pPr>
            <a:r>
              <a:t/>
            </a:r>
            <a:endParaRPr sz="1127">
              <a:latin typeface="Lato"/>
              <a:ea typeface="Lato"/>
              <a:cs typeface="Lato"/>
              <a:sym typeface="Lato"/>
            </a:endParaRPr>
          </a:p>
        </p:txBody>
      </p:sp>
      <p:sp>
        <p:nvSpPr>
          <p:cNvPr id="275" name="Google Shape;275;p22"/>
          <p:cNvSpPr/>
          <p:nvPr/>
        </p:nvSpPr>
        <p:spPr>
          <a:xfrm>
            <a:off x="2780051" y="3747477"/>
            <a:ext cx="326400" cy="137100"/>
          </a:xfrm>
          <a:prstGeom prst="roundRect">
            <a:avLst>
              <a:gd fmla="val 16667" name="adj"/>
            </a:avLst>
          </a:prstGeom>
          <a:noFill/>
          <a:ln cap="flat" cmpd="sng" w="7650">
            <a:solidFill>
              <a:srgbClr val="0000FF"/>
            </a:solidFill>
            <a:prstDash val="solid"/>
            <a:round/>
            <a:headEnd len="sm" w="sm" type="none"/>
            <a:tailEnd len="sm" w="sm" type="none"/>
          </a:ln>
        </p:spPr>
        <p:txBody>
          <a:bodyPr anchorCtr="0" anchor="ctr" bIns="73675" lIns="73675" spcFirstLastPara="1" rIns="73675" wrap="square" tIns="73675">
            <a:noAutofit/>
          </a:bodyPr>
          <a:lstStyle/>
          <a:p>
            <a:pPr indent="0" lvl="0" marL="0" rtl="0" algn="ctr">
              <a:spcBef>
                <a:spcPts val="0"/>
              </a:spcBef>
              <a:spcAft>
                <a:spcPts val="0"/>
              </a:spcAft>
              <a:buNone/>
            </a:pPr>
            <a:r>
              <a:t/>
            </a:r>
            <a:endParaRPr sz="1127">
              <a:latin typeface="Lato"/>
              <a:ea typeface="Lato"/>
              <a:cs typeface="Lato"/>
              <a:sym typeface="Lato"/>
            </a:endParaRPr>
          </a:p>
        </p:txBody>
      </p:sp>
      <p:sp>
        <p:nvSpPr>
          <p:cNvPr id="276" name="Google Shape;276;p22"/>
          <p:cNvSpPr/>
          <p:nvPr/>
        </p:nvSpPr>
        <p:spPr>
          <a:xfrm>
            <a:off x="3301278" y="3747477"/>
            <a:ext cx="426000" cy="117300"/>
          </a:xfrm>
          <a:prstGeom prst="roundRect">
            <a:avLst>
              <a:gd fmla="val 16667" name="adj"/>
            </a:avLst>
          </a:prstGeom>
          <a:noFill/>
          <a:ln cap="flat" cmpd="sng" w="7650">
            <a:solidFill>
              <a:srgbClr val="0000FF"/>
            </a:solidFill>
            <a:prstDash val="solid"/>
            <a:round/>
            <a:headEnd len="sm" w="sm" type="none"/>
            <a:tailEnd len="sm" w="sm" type="none"/>
          </a:ln>
        </p:spPr>
        <p:txBody>
          <a:bodyPr anchorCtr="0" anchor="ctr" bIns="73675" lIns="73675" spcFirstLastPara="1" rIns="73675" wrap="square" tIns="73675">
            <a:noAutofit/>
          </a:bodyPr>
          <a:lstStyle/>
          <a:p>
            <a:pPr indent="0" lvl="0" marL="0" rtl="0" algn="ctr">
              <a:spcBef>
                <a:spcPts val="0"/>
              </a:spcBef>
              <a:spcAft>
                <a:spcPts val="0"/>
              </a:spcAft>
              <a:buNone/>
            </a:pPr>
            <a:r>
              <a:t/>
            </a:r>
            <a:endParaRPr sz="1127">
              <a:latin typeface="Lato"/>
              <a:ea typeface="Lato"/>
              <a:cs typeface="Lato"/>
              <a:sym typeface="Lato"/>
            </a:endParaRPr>
          </a:p>
        </p:txBody>
      </p:sp>
      <p:sp>
        <p:nvSpPr>
          <p:cNvPr id="277" name="Google Shape;277;p22"/>
          <p:cNvSpPr/>
          <p:nvPr/>
        </p:nvSpPr>
        <p:spPr>
          <a:xfrm>
            <a:off x="4185601" y="4085548"/>
            <a:ext cx="400200" cy="137100"/>
          </a:xfrm>
          <a:prstGeom prst="roundRect">
            <a:avLst>
              <a:gd fmla="val 16667" name="adj"/>
            </a:avLst>
          </a:prstGeom>
          <a:noFill/>
          <a:ln cap="flat" cmpd="sng" w="7650">
            <a:solidFill>
              <a:srgbClr val="0000FF"/>
            </a:solidFill>
            <a:prstDash val="solid"/>
            <a:round/>
            <a:headEnd len="sm" w="sm" type="none"/>
            <a:tailEnd len="sm" w="sm" type="none"/>
          </a:ln>
        </p:spPr>
        <p:txBody>
          <a:bodyPr anchorCtr="0" anchor="ctr" bIns="73675" lIns="73675" spcFirstLastPara="1" rIns="73675" wrap="square" tIns="73675">
            <a:noAutofit/>
          </a:bodyPr>
          <a:lstStyle/>
          <a:p>
            <a:pPr indent="0" lvl="0" marL="0" rtl="0" algn="ctr">
              <a:spcBef>
                <a:spcPts val="0"/>
              </a:spcBef>
              <a:spcAft>
                <a:spcPts val="0"/>
              </a:spcAft>
              <a:buNone/>
            </a:pPr>
            <a:r>
              <a:t/>
            </a:r>
            <a:endParaRPr sz="1127">
              <a:latin typeface="Lato"/>
              <a:ea typeface="Lato"/>
              <a:cs typeface="Lato"/>
              <a:sym typeface="Lato"/>
            </a:endParaRPr>
          </a:p>
        </p:txBody>
      </p:sp>
      <p:sp>
        <p:nvSpPr>
          <p:cNvPr id="278" name="Google Shape;278;p22"/>
          <p:cNvSpPr/>
          <p:nvPr/>
        </p:nvSpPr>
        <p:spPr>
          <a:xfrm>
            <a:off x="8167234" y="4085548"/>
            <a:ext cx="326400" cy="137100"/>
          </a:xfrm>
          <a:prstGeom prst="roundRect">
            <a:avLst>
              <a:gd fmla="val 16667" name="adj"/>
            </a:avLst>
          </a:prstGeom>
          <a:noFill/>
          <a:ln cap="flat" cmpd="sng" w="7650">
            <a:solidFill>
              <a:srgbClr val="6AA84F"/>
            </a:solidFill>
            <a:prstDash val="solid"/>
            <a:round/>
            <a:headEnd len="sm" w="sm" type="none"/>
            <a:tailEnd len="sm" w="sm" type="none"/>
          </a:ln>
        </p:spPr>
        <p:txBody>
          <a:bodyPr anchorCtr="0" anchor="ctr" bIns="73675" lIns="73675" spcFirstLastPara="1" rIns="73675" wrap="square" tIns="73675">
            <a:noAutofit/>
          </a:bodyPr>
          <a:lstStyle/>
          <a:p>
            <a:pPr indent="0" lvl="0" marL="0" rtl="0" algn="ctr">
              <a:spcBef>
                <a:spcPts val="0"/>
              </a:spcBef>
              <a:spcAft>
                <a:spcPts val="0"/>
              </a:spcAft>
              <a:buNone/>
            </a:pPr>
            <a:r>
              <a:t/>
            </a:r>
            <a:endParaRPr sz="1127">
              <a:latin typeface="Lato"/>
              <a:ea typeface="Lato"/>
              <a:cs typeface="Lato"/>
              <a:sym typeface="Lato"/>
            </a:endParaRPr>
          </a:p>
        </p:txBody>
      </p:sp>
      <p:sp>
        <p:nvSpPr>
          <p:cNvPr id="279" name="Google Shape;279;p22"/>
          <p:cNvSpPr/>
          <p:nvPr/>
        </p:nvSpPr>
        <p:spPr>
          <a:xfrm>
            <a:off x="6849881" y="3737800"/>
            <a:ext cx="303000" cy="137100"/>
          </a:xfrm>
          <a:prstGeom prst="roundRect">
            <a:avLst>
              <a:gd fmla="val 16667" name="adj"/>
            </a:avLst>
          </a:prstGeom>
          <a:noFill/>
          <a:ln cap="flat" cmpd="sng" w="7650">
            <a:solidFill>
              <a:srgbClr val="6AA84F"/>
            </a:solidFill>
            <a:prstDash val="solid"/>
            <a:round/>
            <a:headEnd len="sm" w="sm" type="none"/>
            <a:tailEnd len="sm" w="sm" type="none"/>
          </a:ln>
        </p:spPr>
        <p:txBody>
          <a:bodyPr anchorCtr="0" anchor="ctr" bIns="73675" lIns="73675" spcFirstLastPara="1" rIns="73675" wrap="square" tIns="73675">
            <a:noAutofit/>
          </a:bodyPr>
          <a:lstStyle/>
          <a:p>
            <a:pPr indent="0" lvl="0" marL="0" rtl="0" algn="ctr">
              <a:spcBef>
                <a:spcPts val="0"/>
              </a:spcBef>
              <a:spcAft>
                <a:spcPts val="0"/>
              </a:spcAft>
              <a:buNone/>
            </a:pPr>
            <a:r>
              <a:t/>
            </a:r>
            <a:endParaRPr sz="1127">
              <a:latin typeface="Lato"/>
              <a:ea typeface="Lato"/>
              <a:cs typeface="Lato"/>
              <a:sym typeface="Lato"/>
            </a:endParaRPr>
          </a:p>
        </p:txBody>
      </p:sp>
      <p:sp>
        <p:nvSpPr>
          <p:cNvPr id="280" name="Google Shape;280;p22"/>
          <p:cNvSpPr/>
          <p:nvPr/>
        </p:nvSpPr>
        <p:spPr>
          <a:xfrm>
            <a:off x="7350735" y="3737800"/>
            <a:ext cx="388200" cy="137100"/>
          </a:xfrm>
          <a:prstGeom prst="roundRect">
            <a:avLst>
              <a:gd fmla="val 16667" name="adj"/>
            </a:avLst>
          </a:prstGeom>
          <a:noFill/>
          <a:ln cap="flat" cmpd="sng" w="7650">
            <a:solidFill>
              <a:srgbClr val="6AA84F"/>
            </a:solidFill>
            <a:prstDash val="solid"/>
            <a:round/>
            <a:headEnd len="sm" w="sm" type="none"/>
            <a:tailEnd len="sm" w="sm" type="none"/>
          </a:ln>
        </p:spPr>
        <p:txBody>
          <a:bodyPr anchorCtr="0" anchor="ctr" bIns="73675" lIns="73675" spcFirstLastPara="1" rIns="73675" wrap="square" tIns="73675">
            <a:noAutofit/>
          </a:bodyPr>
          <a:lstStyle/>
          <a:p>
            <a:pPr indent="0" lvl="0" marL="0" rtl="0" algn="ctr">
              <a:spcBef>
                <a:spcPts val="0"/>
              </a:spcBef>
              <a:spcAft>
                <a:spcPts val="0"/>
              </a:spcAft>
              <a:buNone/>
            </a:pPr>
            <a:r>
              <a:t/>
            </a:r>
            <a:endParaRPr sz="1127">
              <a:latin typeface="Lato"/>
              <a:ea typeface="Lato"/>
              <a:cs typeface="Lato"/>
              <a:sym typeface="Lato"/>
            </a:endParaRPr>
          </a:p>
        </p:txBody>
      </p:sp>
      <p:sp>
        <p:nvSpPr>
          <p:cNvPr id="281" name="Google Shape;281;p22"/>
          <p:cNvSpPr/>
          <p:nvPr/>
        </p:nvSpPr>
        <p:spPr>
          <a:xfrm>
            <a:off x="3989381" y="4318831"/>
            <a:ext cx="794400" cy="137100"/>
          </a:xfrm>
          <a:prstGeom prst="roundRect">
            <a:avLst>
              <a:gd fmla="val 16667" name="adj"/>
            </a:avLst>
          </a:prstGeom>
          <a:noFill/>
          <a:ln cap="flat" cmpd="sng" w="7650">
            <a:solidFill>
              <a:srgbClr val="0000FF"/>
            </a:solidFill>
            <a:prstDash val="solid"/>
            <a:round/>
            <a:headEnd len="sm" w="sm" type="none"/>
            <a:tailEnd len="sm" w="sm" type="none"/>
          </a:ln>
        </p:spPr>
        <p:txBody>
          <a:bodyPr anchorCtr="0" anchor="ctr" bIns="73675" lIns="73675" spcFirstLastPara="1" rIns="73675" wrap="square" tIns="73675">
            <a:noAutofit/>
          </a:bodyPr>
          <a:lstStyle/>
          <a:p>
            <a:pPr indent="0" lvl="0" marL="0" rtl="0" algn="ctr">
              <a:spcBef>
                <a:spcPts val="0"/>
              </a:spcBef>
              <a:spcAft>
                <a:spcPts val="0"/>
              </a:spcAft>
              <a:buNone/>
            </a:pPr>
            <a:r>
              <a:t/>
            </a:r>
            <a:endParaRPr sz="1127">
              <a:latin typeface="Lato"/>
              <a:ea typeface="Lato"/>
              <a:cs typeface="Lato"/>
              <a:sym typeface="Lato"/>
            </a:endParaRPr>
          </a:p>
        </p:txBody>
      </p:sp>
      <p:sp>
        <p:nvSpPr>
          <p:cNvPr id="282" name="Google Shape;282;p22"/>
          <p:cNvSpPr/>
          <p:nvPr/>
        </p:nvSpPr>
        <p:spPr>
          <a:xfrm>
            <a:off x="8201995" y="4318838"/>
            <a:ext cx="713100" cy="137100"/>
          </a:xfrm>
          <a:prstGeom prst="roundRect">
            <a:avLst>
              <a:gd fmla="val 16667" name="adj"/>
            </a:avLst>
          </a:prstGeom>
          <a:noFill/>
          <a:ln cap="flat" cmpd="sng" w="7650">
            <a:solidFill>
              <a:srgbClr val="6AA84F"/>
            </a:solidFill>
            <a:prstDash val="solid"/>
            <a:round/>
            <a:headEnd len="sm" w="sm" type="none"/>
            <a:tailEnd len="sm" w="sm" type="none"/>
          </a:ln>
        </p:spPr>
        <p:txBody>
          <a:bodyPr anchorCtr="0" anchor="ctr" bIns="73675" lIns="73675" spcFirstLastPara="1" rIns="73675" wrap="square" tIns="73675">
            <a:noAutofit/>
          </a:bodyPr>
          <a:lstStyle/>
          <a:p>
            <a:pPr indent="0" lvl="0" marL="0" rtl="0" algn="ctr">
              <a:spcBef>
                <a:spcPts val="0"/>
              </a:spcBef>
              <a:spcAft>
                <a:spcPts val="0"/>
              </a:spcAft>
              <a:buNone/>
            </a:pPr>
            <a:r>
              <a:t/>
            </a:r>
            <a:endParaRPr sz="1127">
              <a:latin typeface="Lato"/>
              <a:ea typeface="Lato"/>
              <a:cs typeface="Lato"/>
              <a:sym typeface="Lato"/>
            </a:endParaRPr>
          </a:p>
        </p:txBody>
      </p:sp>
      <p:sp>
        <p:nvSpPr>
          <p:cNvPr id="283" name="Google Shape;283;p22"/>
          <p:cNvSpPr/>
          <p:nvPr/>
        </p:nvSpPr>
        <p:spPr>
          <a:xfrm>
            <a:off x="875850" y="4784587"/>
            <a:ext cx="922500" cy="137100"/>
          </a:xfrm>
          <a:prstGeom prst="roundRect">
            <a:avLst>
              <a:gd fmla="val 16667" name="adj"/>
            </a:avLst>
          </a:prstGeom>
          <a:noFill/>
          <a:ln cap="flat" cmpd="sng" w="7650">
            <a:solidFill>
              <a:srgbClr val="0000FF"/>
            </a:solidFill>
            <a:prstDash val="solid"/>
            <a:round/>
            <a:headEnd len="sm" w="sm" type="none"/>
            <a:tailEnd len="sm" w="sm" type="none"/>
          </a:ln>
        </p:spPr>
        <p:txBody>
          <a:bodyPr anchorCtr="0" anchor="ctr" bIns="73675" lIns="73675" spcFirstLastPara="1" rIns="73675" wrap="square" tIns="73675">
            <a:noAutofit/>
          </a:bodyPr>
          <a:lstStyle/>
          <a:p>
            <a:pPr indent="0" lvl="0" marL="0" rtl="0" algn="ctr">
              <a:spcBef>
                <a:spcPts val="0"/>
              </a:spcBef>
              <a:spcAft>
                <a:spcPts val="0"/>
              </a:spcAft>
              <a:buNone/>
            </a:pPr>
            <a:r>
              <a:t/>
            </a:r>
            <a:endParaRPr sz="1127">
              <a:latin typeface="Lato"/>
              <a:ea typeface="Lato"/>
              <a:cs typeface="Lato"/>
              <a:sym typeface="Lato"/>
            </a:endParaRPr>
          </a:p>
        </p:txBody>
      </p:sp>
      <p:sp>
        <p:nvSpPr>
          <p:cNvPr id="284" name="Google Shape;284;p22"/>
          <p:cNvSpPr/>
          <p:nvPr/>
        </p:nvSpPr>
        <p:spPr>
          <a:xfrm>
            <a:off x="2767333" y="4784587"/>
            <a:ext cx="200400" cy="137100"/>
          </a:xfrm>
          <a:prstGeom prst="roundRect">
            <a:avLst>
              <a:gd fmla="val 16667" name="adj"/>
            </a:avLst>
          </a:prstGeom>
          <a:noFill/>
          <a:ln cap="flat" cmpd="sng" w="7650">
            <a:solidFill>
              <a:srgbClr val="0000FF"/>
            </a:solidFill>
            <a:prstDash val="solid"/>
            <a:round/>
            <a:headEnd len="sm" w="sm" type="none"/>
            <a:tailEnd len="sm" w="sm" type="none"/>
          </a:ln>
        </p:spPr>
        <p:txBody>
          <a:bodyPr anchorCtr="0" anchor="ctr" bIns="73675" lIns="73675" spcFirstLastPara="1" rIns="73675" wrap="square" tIns="73675">
            <a:noAutofit/>
          </a:bodyPr>
          <a:lstStyle/>
          <a:p>
            <a:pPr indent="0" lvl="0" marL="0" rtl="0" algn="ctr">
              <a:spcBef>
                <a:spcPts val="0"/>
              </a:spcBef>
              <a:spcAft>
                <a:spcPts val="0"/>
              </a:spcAft>
              <a:buNone/>
            </a:pPr>
            <a:r>
              <a:t/>
            </a:r>
            <a:endParaRPr sz="1127">
              <a:latin typeface="Lato"/>
              <a:ea typeface="Lato"/>
              <a:cs typeface="Lato"/>
              <a:sym typeface="Lato"/>
            </a:endParaRPr>
          </a:p>
        </p:txBody>
      </p:sp>
      <p:sp>
        <p:nvSpPr>
          <p:cNvPr id="285" name="Google Shape;285;p22"/>
          <p:cNvSpPr/>
          <p:nvPr/>
        </p:nvSpPr>
        <p:spPr>
          <a:xfrm>
            <a:off x="6513547" y="4784587"/>
            <a:ext cx="124500" cy="137100"/>
          </a:xfrm>
          <a:prstGeom prst="roundRect">
            <a:avLst>
              <a:gd fmla="val 16667" name="adj"/>
            </a:avLst>
          </a:prstGeom>
          <a:noFill/>
          <a:ln cap="flat" cmpd="sng" w="7650">
            <a:solidFill>
              <a:srgbClr val="6AA84F"/>
            </a:solidFill>
            <a:prstDash val="solid"/>
            <a:round/>
            <a:headEnd len="sm" w="sm" type="none"/>
            <a:tailEnd len="sm" w="sm" type="none"/>
          </a:ln>
        </p:spPr>
        <p:txBody>
          <a:bodyPr anchorCtr="0" anchor="ctr" bIns="73675" lIns="73675" spcFirstLastPara="1" rIns="73675" wrap="square" tIns="73675">
            <a:noAutofit/>
          </a:bodyPr>
          <a:lstStyle/>
          <a:p>
            <a:pPr indent="0" lvl="0" marL="0" rtl="0" algn="ctr">
              <a:spcBef>
                <a:spcPts val="0"/>
              </a:spcBef>
              <a:spcAft>
                <a:spcPts val="0"/>
              </a:spcAft>
              <a:buNone/>
            </a:pPr>
            <a:r>
              <a:t/>
            </a:r>
            <a:endParaRPr sz="1127">
              <a:latin typeface="Lato"/>
              <a:ea typeface="Lato"/>
              <a:cs typeface="Lato"/>
              <a:sym typeface="Lato"/>
            </a:endParaRPr>
          </a:p>
        </p:txBody>
      </p:sp>
      <p:sp>
        <p:nvSpPr>
          <p:cNvPr id="286" name="Google Shape;286;p22"/>
          <p:cNvSpPr/>
          <p:nvPr/>
        </p:nvSpPr>
        <p:spPr>
          <a:xfrm>
            <a:off x="4697034" y="4784587"/>
            <a:ext cx="848100" cy="137100"/>
          </a:xfrm>
          <a:prstGeom prst="roundRect">
            <a:avLst>
              <a:gd fmla="val 16667" name="adj"/>
            </a:avLst>
          </a:prstGeom>
          <a:noFill/>
          <a:ln cap="flat" cmpd="sng" w="7650">
            <a:solidFill>
              <a:srgbClr val="6AA84F"/>
            </a:solidFill>
            <a:prstDash val="solid"/>
            <a:round/>
            <a:headEnd len="sm" w="sm" type="none"/>
            <a:tailEnd len="sm" w="sm" type="none"/>
          </a:ln>
        </p:spPr>
        <p:txBody>
          <a:bodyPr anchorCtr="0" anchor="ctr" bIns="73675" lIns="73675" spcFirstLastPara="1" rIns="73675" wrap="square" tIns="73675">
            <a:noAutofit/>
          </a:bodyPr>
          <a:lstStyle/>
          <a:p>
            <a:pPr indent="0" lvl="0" marL="0" rtl="0" algn="ctr">
              <a:spcBef>
                <a:spcPts val="0"/>
              </a:spcBef>
              <a:spcAft>
                <a:spcPts val="0"/>
              </a:spcAft>
              <a:buNone/>
            </a:pPr>
            <a:r>
              <a:t/>
            </a:r>
            <a:endParaRPr sz="1127">
              <a:latin typeface="Lato"/>
              <a:ea typeface="Lato"/>
              <a:cs typeface="Lato"/>
              <a:sym typeface="Lato"/>
            </a:endParaRPr>
          </a:p>
        </p:txBody>
      </p:sp>
      <p:sp>
        <p:nvSpPr>
          <p:cNvPr id="287" name="Google Shape;287;p22"/>
          <p:cNvSpPr/>
          <p:nvPr/>
        </p:nvSpPr>
        <p:spPr>
          <a:xfrm rot="3600121">
            <a:off x="57884" y="3088587"/>
            <a:ext cx="665440" cy="349856"/>
          </a:xfrm>
          <a:prstGeom prst="curvedUpArrow">
            <a:avLst>
              <a:gd fmla="val 25000" name="adj1"/>
              <a:gd fmla="val 50000" name="adj2"/>
              <a:gd fmla="val 25000" name="adj3"/>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88" name="Google Shape;288;p22" title="Py.png"/>
          <p:cNvPicPr preferRelativeResize="0"/>
          <p:nvPr/>
        </p:nvPicPr>
        <p:blipFill>
          <a:blip r:embed="rId6">
            <a:alphaModFix/>
          </a:blip>
          <a:stretch>
            <a:fillRect/>
          </a:stretch>
        </p:blipFill>
        <p:spPr>
          <a:xfrm>
            <a:off x="8500225" y="223775"/>
            <a:ext cx="420600" cy="420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id="293" name="Google Shape;293;p23"/>
          <p:cNvPicPr preferRelativeResize="0"/>
          <p:nvPr/>
        </p:nvPicPr>
        <p:blipFill>
          <a:blip r:embed="rId3">
            <a:alphaModFix amt="36000"/>
          </a:blip>
          <a:stretch>
            <a:fillRect/>
          </a:stretch>
        </p:blipFill>
        <p:spPr>
          <a:xfrm>
            <a:off x="0" y="0"/>
            <a:ext cx="9144000" cy="5143499"/>
          </a:xfrm>
          <a:prstGeom prst="rect">
            <a:avLst/>
          </a:prstGeom>
          <a:noFill/>
          <a:ln>
            <a:noFill/>
          </a:ln>
        </p:spPr>
      </p:pic>
      <p:sp>
        <p:nvSpPr>
          <p:cNvPr id="294" name="Google Shape;294;p23"/>
          <p:cNvSpPr txBox="1"/>
          <p:nvPr>
            <p:ph idx="1" type="body"/>
          </p:nvPr>
        </p:nvSpPr>
        <p:spPr>
          <a:xfrm>
            <a:off x="419475" y="189350"/>
            <a:ext cx="58224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s" sz="1600">
                <a:latin typeface="Montserrat"/>
                <a:ea typeface="Montserrat"/>
                <a:cs typeface="Montserrat"/>
                <a:sym typeface="Montserrat"/>
              </a:rPr>
              <a:t>#2- División de Datos + Dataloaders</a:t>
            </a:r>
            <a:endParaRPr b="1" sz="1600">
              <a:latin typeface="Montserrat"/>
              <a:ea typeface="Montserrat"/>
              <a:cs typeface="Montserrat"/>
              <a:sym typeface="Montserrat"/>
            </a:endParaRPr>
          </a:p>
        </p:txBody>
      </p:sp>
      <p:pic>
        <p:nvPicPr>
          <p:cNvPr id="295" name="Google Shape;295;p23" title="322-3225839_tnt-pytorch-machine-learning-logo.png"/>
          <p:cNvPicPr preferRelativeResize="0"/>
          <p:nvPr/>
        </p:nvPicPr>
        <p:blipFill>
          <a:blip r:embed="rId4">
            <a:alphaModFix/>
          </a:blip>
          <a:stretch>
            <a:fillRect/>
          </a:stretch>
        </p:blipFill>
        <p:spPr>
          <a:xfrm>
            <a:off x="6925391" y="288333"/>
            <a:ext cx="1265649" cy="255825"/>
          </a:xfrm>
          <a:prstGeom prst="rect">
            <a:avLst/>
          </a:prstGeom>
          <a:noFill/>
          <a:ln>
            <a:noFill/>
          </a:ln>
        </p:spPr>
      </p:pic>
      <p:pic>
        <p:nvPicPr>
          <p:cNvPr id="296" name="Google Shape;296;p23" title="Py.png"/>
          <p:cNvPicPr preferRelativeResize="0"/>
          <p:nvPr/>
        </p:nvPicPr>
        <p:blipFill>
          <a:blip r:embed="rId5">
            <a:alphaModFix/>
          </a:blip>
          <a:stretch>
            <a:fillRect/>
          </a:stretch>
        </p:blipFill>
        <p:spPr>
          <a:xfrm>
            <a:off x="8500225" y="223775"/>
            <a:ext cx="420600" cy="420600"/>
          </a:xfrm>
          <a:prstGeom prst="rect">
            <a:avLst/>
          </a:prstGeom>
          <a:noFill/>
          <a:ln>
            <a:noFill/>
          </a:ln>
        </p:spPr>
      </p:pic>
      <p:pic>
        <p:nvPicPr>
          <p:cNvPr id="297" name="Google Shape;297;p23"/>
          <p:cNvPicPr preferRelativeResize="0"/>
          <p:nvPr/>
        </p:nvPicPr>
        <p:blipFill>
          <a:blip r:embed="rId6">
            <a:alphaModFix/>
          </a:blip>
          <a:stretch>
            <a:fillRect/>
          </a:stretch>
        </p:blipFill>
        <p:spPr>
          <a:xfrm>
            <a:off x="508510" y="802186"/>
            <a:ext cx="3747900" cy="886500"/>
          </a:xfrm>
          <a:prstGeom prst="roundRect">
            <a:avLst>
              <a:gd fmla="val 10970" name="adj"/>
            </a:avLst>
          </a:prstGeom>
          <a:noFill/>
          <a:ln cap="flat" cmpd="sng" w="16750">
            <a:solidFill>
              <a:srgbClr val="0000FF"/>
            </a:solidFill>
            <a:prstDash val="solid"/>
            <a:round/>
            <a:headEnd len="sm" w="sm" type="none"/>
            <a:tailEnd len="sm" w="sm" type="none"/>
          </a:ln>
        </p:spPr>
      </p:pic>
      <p:pic>
        <p:nvPicPr>
          <p:cNvPr id="298" name="Google Shape;298;p23"/>
          <p:cNvPicPr preferRelativeResize="0"/>
          <p:nvPr/>
        </p:nvPicPr>
        <p:blipFill>
          <a:blip r:embed="rId7">
            <a:alphaModFix/>
          </a:blip>
          <a:stretch>
            <a:fillRect/>
          </a:stretch>
        </p:blipFill>
        <p:spPr>
          <a:xfrm>
            <a:off x="505375" y="1777506"/>
            <a:ext cx="3747900" cy="1444200"/>
          </a:xfrm>
          <a:prstGeom prst="roundRect">
            <a:avLst>
              <a:gd fmla="val 7462" name="adj"/>
            </a:avLst>
          </a:prstGeom>
          <a:noFill/>
          <a:ln cap="flat" cmpd="sng" w="16750">
            <a:solidFill>
              <a:srgbClr val="0000FF"/>
            </a:solidFill>
            <a:prstDash val="solid"/>
            <a:round/>
            <a:headEnd len="sm" w="sm" type="none"/>
            <a:tailEnd len="sm" w="sm" type="none"/>
          </a:ln>
        </p:spPr>
      </p:pic>
      <p:pic>
        <p:nvPicPr>
          <p:cNvPr id="299" name="Google Shape;299;p23"/>
          <p:cNvPicPr preferRelativeResize="0"/>
          <p:nvPr/>
        </p:nvPicPr>
        <p:blipFill>
          <a:blip r:embed="rId8">
            <a:alphaModFix/>
          </a:blip>
          <a:stretch>
            <a:fillRect/>
          </a:stretch>
        </p:blipFill>
        <p:spPr>
          <a:xfrm>
            <a:off x="4751362" y="802186"/>
            <a:ext cx="3751800" cy="2419500"/>
          </a:xfrm>
          <a:prstGeom prst="roundRect">
            <a:avLst>
              <a:gd fmla="val 5427" name="adj"/>
            </a:avLst>
          </a:prstGeom>
          <a:noFill/>
          <a:ln cap="flat" cmpd="sng" w="16750">
            <a:solidFill>
              <a:srgbClr val="0000FF"/>
            </a:solidFill>
            <a:prstDash val="solid"/>
            <a:round/>
            <a:headEnd len="sm" w="sm" type="none"/>
            <a:tailEnd len="sm" w="sm" type="none"/>
          </a:ln>
        </p:spPr>
      </p:pic>
      <p:pic>
        <p:nvPicPr>
          <p:cNvPr id="300" name="Google Shape;300;p23"/>
          <p:cNvPicPr preferRelativeResize="0"/>
          <p:nvPr/>
        </p:nvPicPr>
        <p:blipFill rotWithShape="1">
          <a:blip r:embed="rId9">
            <a:alphaModFix/>
          </a:blip>
          <a:srcRect b="52244" l="0" r="0" t="0"/>
          <a:stretch/>
        </p:blipFill>
        <p:spPr>
          <a:xfrm>
            <a:off x="969575" y="3993626"/>
            <a:ext cx="1593900" cy="638100"/>
          </a:xfrm>
          <a:prstGeom prst="roundRect">
            <a:avLst>
              <a:gd fmla="val 4903" name="adj"/>
            </a:avLst>
          </a:prstGeom>
          <a:noFill/>
          <a:ln cap="flat" cmpd="sng" w="26675">
            <a:solidFill>
              <a:srgbClr val="FFFF00"/>
            </a:solidFill>
            <a:prstDash val="solid"/>
            <a:round/>
            <a:headEnd len="sm" w="sm" type="none"/>
            <a:tailEnd len="sm" w="sm" type="none"/>
          </a:ln>
        </p:spPr>
      </p:pic>
      <p:pic>
        <p:nvPicPr>
          <p:cNvPr id="301" name="Google Shape;301;p23" title="Captura de pantalla 2026-01-29 173147.png"/>
          <p:cNvPicPr preferRelativeResize="0"/>
          <p:nvPr/>
        </p:nvPicPr>
        <p:blipFill rotWithShape="1">
          <a:blip r:embed="rId10">
            <a:alphaModFix/>
          </a:blip>
          <a:srcRect b="2125" l="0" r="0" t="2125"/>
          <a:stretch/>
        </p:blipFill>
        <p:spPr>
          <a:xfrm>
            <a:off x="5087725" y="3538222"/>
            <a:ext cx="3412500" cy="840000"/>
          </a:xfrm>
          <a:prstGeom prst="roundRect">
            <a:avLst>
              <a:gd fmla="val 13401" name="adj"/>
            </a:avLst>
          </a:prstGeom>
          <a:noFill/>
          <a:ln cap="flat" cmpd="sng" w="30525">
            <a:solidFill>
              <a:srgbClr val="FFFF00"/>
            </a:solidFill>
            <a:prstDash val="solid"/>
            <a:round/>
            <a:headEnd len="sm" w="sm" type="none"/>
            <a:tailEnd len="sm" w="sm" type="none"/>
          </a:ln>
        </p:spPr>
      </p:pic>
      <p:pic>
        <p:nvPicPr>
          <p:cNvPr id="302" name="Google Shape;302;p23"/>
          <p:cNvPicPr preferRelativeResize="0"/>
          <p:nvPr/>
        </p:nvPicPr>
        <p:blipFill>
          <a:blip r:embed="rId11">
            <a:alphaModFix/>
          </a:blip>
          <a:stretch>
            <a:fillRect/>
          </a:stretch>
        </p:blipFill>
        <p:spPr>
          <a:xfrm>
            <a:off x="969576" y="3441836"/>
            <a:ext cx="3283800" cy="420600"/>
          </a:xfrm>
          <a:prstGeom prst="roundRect">
            <a:avLst>
              <a:gd fmla="val 20621" name="adj"/>
            </a:avLst>
          </a:prstGeom>
          <a:noFill/>
          <a:ln cap="flat" cmpd="sng" w="30550">
            <a:solidFill>
              <a:srgbClr val="FFFF00"/>
            </a:solidFill>
            <a:prstDash val="solid"/>
            <a:round/>
            <a:headEnd len="sm" w="sm" type="none"/>
            <a:tailEnd len="sm" w="sm" type="none"/>
          </a:ln>
        </p:spPr>
      </p:pic>
      <p:pic>
        <p:nvPicPr>
          <p:cNvPr id="303" name="Google Shape;303;p23"/>
          <p:cNvPicPr preferRelativeResize="0"/>
          <p:nvPr/>
        </p:nvPicPr>
        <p:blipFill rotWithShape="1">
          <a:blip r:embed="rId9">
            <a:alphaModFix/>
          </a:blip>
          <a:srcRect b="90" l="0" r="0" t="52153"/>
          <a:stretch/>
        </p:blipFill>
        <p:spPr>
          <a:xfrm>
            <a:off x="2662602" y="3993649"/>
            <a:ext cx="1593900" cy="638100"/>
          </a:xfrm>
          <a:prstGeom prst="roundRect">
            <a:avLst>
              <a:gd fmla="val 4903" name="adj"/>
            </a:avLst>
          </a:prstGeom>
          <a:noFill/>
          <a:ln cap="flat" cmpd="sng" w="26675">
            <a:solidFill>
              <a:srgbClr val="FFFF00"/>
            </a:solidFill>
            <a:prstDash val="solid"/>
            <a:round/>
            <a:headEnd len="sm" w="sm" type="none"/>
            <a:tailEnd len="sm" w="sm" type="none"/>
          </a:ln>
        </p:spPr>
      </p:pic>
      <p:sp>
        <p:nvSpPr>
          <p:cNvPr id="304" name="Google Shape;304;p23"/>
          <p:cNvSpPr/>
          <p:nvPr/>
        </p:nvSpPr>
        <p:spPr>
          <a:xfrm rot="3600121">
            <a:off x="70584" y="3311897"/>
            <a:ext cx="665440" cy="349856"/>
          </a:xfrm>
          <a:prstGeom prst="curvedUpArrow">
            <a:avLst>
              <a:gd fmla="val 25000" name="adj1"/>
              <a:gd fmla="val 50000" name="adj2"/>
              <a:gd fmla="val 25000" name="adj3"/>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5" name="Google Shape;305;p23"/>
          <p:cNvSpPr/>
          <p:nvPr/>
        </p:nvSpPr>
        <p:spPr>
          <a:xfrm rot="3600121">
            <a:off x="4357834" y="3311897"/>
            <a:ext cx="665440" cy="349856"/>
          </a:xfrm>
          <a:prstGeom prst="curvedUpArrow">
            <a:avLst>
              <a:gd fmla="val 25000" name="adj1"/>
              <a:gd fmla="val 50000" name="adj2"/>
              <a:gd fmla="val 25000" name="adj3"/>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6" name="Google Shape;306;p23"/>
          <p:cNvSpPr/>
          <p:nvPr/>
        </p:nvSpPr>
        <p:spPr>
          <a:xfrm>
            <a:off x="8272901" y="359250"/>
            <a:ext cx="209700" cy="183900"/>
          </a:xfrm>
          <a:prstGeom prst="mathPlus">
            <a:avLst>
              <a:gd fmla="val 13671" name="adj1"/>
            </a:avLst>
          </a:prstGeom>
          <a:solidFill>
            <a:srgbClr val="FBE5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pic>
        <p:nvPicPr>
          <p:cNvPr id="311" name="Google Shape;311;p24"/>
          <p:cNvPicPr preferRelativeResize="0"/>
          <p:nvPr/>
        </p:nvPicPr>
        <p:blipFill>
          <a:blip r:embed="rId3">
            <a:alphaModFix amt="36000"/>
          </a:blip>
          <a:stretch>
            <a:fillRect/>
          </a:stretch>
        </p:blipFill>
        <p:spPr>
          <a:xfrm>
            <a:off x="0" y="0"/>
            <a:ext cx="9144000" cy="5143499"/>
          </a:xfrm>
          <a:prstGeom prst="rect">
            <a:avLst/>
          </a:prstGeom>
          <a:noFill/>
          <a:ln>
            <a:noFill/>
          </a:ln>
        </p:spPr>
      </p:pic>
      <p:sp>
        <p:nvSpPr>
          <p:cNvPr id="312" name="Google Shape;312;p24"/>
          <p:cNvSpPr txBox="1"/>
          <p:nvPr>
            <p:ph idx="1" type="body"/>
          </p:nvPr>
        </p:nvSpPr>
        <p:spPr>
          <a:xfrm>
            <a:off x="419475" y="189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s" sz="1600">
                <a:latin typeface="Montserrat"/>
                <a:ea typeface="Montserrat"/>
                <a:cs typeface="Montserrat"/>
                <a:sym typeface="Montserrat"/>
              </a:rPr>
              <a:t>#2</a:t>
            </a:r>
            <a:r>
              <a:rPr b="1" lang="es" sz="1600">
                <a:latin typeface="Montserrat"/>
                <a:ea typeface="Montserrat"/>
                <a:cs typeface="Montserrat"/>
                <a:sym typeface="Montserrat"/>
              </a:rPr>
              <a:t>- </a:t>
            </a:r>
            <a:r>
              <a:rPr b="1" lang="es" sz="1600">
                <a:latin typeface="Montserrat"/>
                <a:ea typeface="Montserrat"/>
                <a:cs typeface="Montserrat"/>
                <a:sym typeface="Montserrat"/>
              </a:rPr>
              <a:t>Generación de Embeddings con DistilBert</a:t>
            </a:r>
            <a:endParaRPr b="1" sz="1600">
              <a:latin typeface="Montserrat"/>
              <a:ea typeface="Montserrat"/>
              <a:cs typeface="Montserrat"/>
              <a:sym typeface="Montserrat"/>
            </a:endParaRPr>
          </a:p>
        </p:txBody>
      </p:sp>
      <p:pic>
        <p:nvPicPr>
          <p:cNvPr id="313" name="Google Shape;313;p24"/>
          <p:cNvPicPr preferRelativeResize="0"/>
          <p:nvPr/>
        </p:nvPicPr>
        <p:blipFill>
          <a:blip r:embed="rId4">
            <a:alphaModFix/>
          </a:blip>
          <a:stretch>
            <a:fillRect/>
          </a:stretch>
        </p:blipFill>
        <p:spPr>
          <a:xfrm>
            <a:off x="500375" y="760875"/>
            <a:ext cx="7017000" cy="1219200"/>
          </a:xfrm>
          <a:prstGeom prst="roundRect">
            <a:avLst>
              <a:gd fmla="val 14494" name="adj"/>
            </a:avLst>
          </a:prstGeom>
          <a:noFill/>
          <a:ln cap="flat" cmpd="sng" w="16750">
            <a:solidFill>
              <a:srgbClr val="0000FF"/>
            </a:solidFill>
            <a:prstDash val="solid"/>
            <a:round/>
            <a:headEnd len="sm" w="sm" type="none"/>
            <a:tailEnd len="sm" w="sm" type="none"/>
          </a:ln>
        </p:spPr>
      </p:pic>
      <p:pic>
        <p:nvPicPr>
          <p:cNvPr id="314" name="Google Shape;314;p24"/>
          <p:cNvPicPr preferRelativeResize="0"/>
          <p:nvPr/>
        </p:nvPicPr>
        <p:blipFill>
          <a:blip r:embed="rId5">
            <a:alphaModFix/>
          </a:blip>
          <a:stretch>
            <a:fillRect/>
          </a:stretch>
        </p:blipFill>
        <p:spPr>
          <a:xfrm>
            <a:off x="2626268" y="2124011"/>
            <a:ext cx="4890900" cy="1468200"/>
          </a:xfrm>
          <a:prstGeom prst="roundRect">
            <a:avLst>
              <a:gd fmla="val 6055" name="adj"/>
            </a:avLst>
          </a:prstGeom>
          <a:noFill/>
          <a:ln cap="flat" cmpd="sng" w="26675">
            <a:solidFill>
              <a:srgbClr val="FFFF00"/>
            </a:solidFill>
            <a:prstDash val="solid"/>
            <a:round/>
            <a:headEnd len="sm" w="sm" type="none"/>
            <a:tailEnd len="sm" w="sm" type="none"/>
          </a:ln>
        </p:spPr>
      </p:pic>
      <p:sp>
        <p:nvSpPr>
          <p:cNvPr id="315" name="Google Shape;315;p24"/>
          <p:cNvSpPr/>
          <p:nvPr/>
        </p:nvSpPr>
        <p:spPr>
          <a:xfrm rot="4538656">
            <a:off x="29041" y="2021207"/>
            <a:ext cx="665480" cy="349911"/>
          </a:xfrm>
          <a:prstGeom prst="curvedUpArrow">
            <a:avLst>
              <a:gd fmla="val 25000" name="adj1"/>
              <a:gd fmla="val 50000" name="adj2"/>
              <a:gd fmla="val 25000" name="adj3"/>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316" name="Google Shape;316;p24" title="Py.png"/>
          <p:cNvPicPr preferRelativeResize="0"/>
          <p:nvPr/>
        </p:nvPicPr>
        <p:blipFill>
          <a:blip r:embed="rId6">
            <a:alphaModFix/>
          </a:blip>
          <a:stretch>
            <a:fillRect/>
          </a:stretch>
        </p:blipFill>
        <p:spPr>
          <a:xfrm>
            <a:off x="8500225" y="223775"/>
            <a:ext cx="420600" cy="420600"/>
          </a:xfrm>
          <a:prstGeom prst="rect">
            <a:avLst/>
          </a:prstGeom>
          <a:noFill/>
          <a:ln>
            <a:noFill/>
          </a:ln>
        </p:spPr>
      </p:pic>
      <p:pic>
        <p:nvPicPr>
          <p:cNvPr id="317" name="Google Shape;317;p24" title="DB.png"/>
          <p:cNvPicPr preferRelativeResize="0"/>
          <p:nvPr/>
        </p:nvPicPr>
        <p:blipFill rotWithShape="1">
          <a:blip r:embed="rId7">
            <a:alphaModFix/>
          </a:blip>
          <a:srcRect b="41287" l="37230" r="37367" t="29071"/>
          <a:stretch/>
        </p:blipFill>
        <p:spPr>
          <a:xfrm>
            <a:off x="7701236" y="273044"/>
            <a:ext cx="534851" cy="336832"/>
          </a:xfrm>
          <a:prstGeom prst="rect">
            <a:avLst/>
          </a:prstGeom>
          <a:noFill/>
          <a:ln>
            <a:noFill/>
          </a:ln>
        </p:spPr>
      </p:pic>
      <p:sp>
        <p:nvSpPr>
          <p:cNvPr id="318" name="Google Shape;318;p24"/>
          <p:cNvSpPr/>
          <p:nvPr/>
        </p:nvSpPr>
        <p:spPr>
          <a:xfrm>
            <a:off x="8286468" y="359250"/>
            <a:ext cx="209700" cy="183900"/>
          </a:xfrm>
          <a:prstGeom prst="mathPlus">
            <a:avLst>
              <a:gd fmla="val 13671" name="adj1"/>
            </a:avLst>
          </a:prstGeom>
          <a:solidFill>
            <a:srgbClr val="FBE5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319" name="Google Shape;319;p24" title="Bert-removebg-preview.png"/>
          <p:cNvPicPr preferRelativeResize="0"/>
          <p:nvPr/>
        </p:nvPicPr>
        <p:blipFill>
          <a:blip r:embed="rId8">
            <a:alphaModFix/>
          </a:blip>
          <a:stretch>
            <a:fillRect/>
          </a:stretch>
        </p:blipFill>
        <p:spPr>
          <a:xfrm>
            <a:off x="1261090" y="1989878"/>
            <a:ext cx="1151775" cy="1731910"/>
          </a:xfrm>
          <a:prstGeom prst="rect">
            <a:avLst/>
          </a:prstGeom>
          <a:noFill/>
          <a:ln>
            <a:noFill/>
          </a:ln>
        </p:spPr>
      </p:pic>
      <p:pic>
        <p:nvPicPr>
          <p:cNvPr id="320" name="Google Shape;320;p24"/>
          <p:cNvPicPr preferRelativeResize="0"/>
          <p:nvPr/>
        </p:nvPicPr>
        <p:blipFill>
          <a:blip r:embed="rId9">
            <a:alphaModFix/>
          </a:blip>
          <a:stretch>
            <a:fillRect/>
          </a:stretch>
        </p:blipFill>
        <p:spPr>
          <a:xfrm>
            <a:off x="1261100" y="3747875"/>
            <a:ext cx="6248100" cy="1219200"/>
          </a:xfrm>
          <a:prstGeom prst="roundRect">
            <a:avLst>
              <a:gd fmla="val 5020" name="adj"/>
            </a:avLst>
          </a:prstGeom>
          <a:noFill/>
          <a:ln cap="flat" cmpd="sng" w="26675">
            <a:solidFill>
              <a:srgbClr val="FFFF00"/>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pic>
        <p:nvPicPr>
          <p:cNvPr id="325" name="Google Shape;325;p25"/>
          <p:cNvPicPr preferRelativeResize="0"/>
          <p:nvPr/>
        </p:nvPicPr>
        <p:blipFill>
          <a:blip r:embed="rId3">
            <a:alphaModFix amt="36000"/>
          </a:blip>
          <a:stretch>
            <a:fillRect/>
          </a:stretch>
        </p:blipFill>
        <p:spPr>
          <a:xfrm>
            <a:off x="0" y="0"/>
            <a:ext cx="9144000" cy="5143499"/>
          </a:xfrm>
          <a:prstGeom prst="rect">
            <a:avLst/>
          </a:prstGeom>
          <a:noFill/>
          <a:ln>
            <a:noFill/>
          </a:ln>
        </p:spPr>
      </p:pic>
      <p:sp>
        <p:nvSpPr>
          <p:cNvPr id="326" name="Google Shape;326;p25"/>
          <p:cNvSpPr txBox="1"/>
          <p:nvPr>
            <p:ph idx="1" type="body"/>
          </p:nvPr>
        </p:nvSpPr>
        <p:spPr>
          <a:xfrm>
            <a:off x="419475" y="189350"/>
            <a:ext cx="3914700" cy="523800"/>
          </a:xfrm>
          <a:prstGeom prst="rect">
            <a:avLst/>
          </a:prstGeom>
        </p:spPr>
        <p:txBody>
          <a:bodyPr anchorCtr="0" anchor="ctr" bIns="91425" lIns="91425" spcFirstLastPara="1" rIns="91425" wrap="square" tIns="91425">
            <a:normAutofit fontScale="92500"/>
          </a:bodyPr>
          <a:lstStyle/>
          <a:p>
            <a:pPr indent="0" lvl="0" marL="0" rtl="0" algn="l">
              <a:spcBef>
                <a:spcPts val="0"/>
              </a:spcBef>
              <a:spcAft>
                <a:spcPts val="0"/>
              </a:spcAft>
              <a:buNone/>
            </a:pPr>
            <a:r>
              <a:rPr b="1" lang="es" sz="1600">
                <a:latin typeface="Montserrat"/>
                <a:ea typeface="Montserrat"/>
                <a:cs typeface="Montserrat"/>
                <a:sym typeface="Montserrat"/>
              </a:rPr>
              <a:t>#3- Arquitectura de la red neuronal</a:t>
            </a:r>
            <a:endParaRPr b="1"/>
          </a:p>
        </p:txBody>
      </p:sp>
      <p:pic>
        <p:nvPicPr>
          <p:cNvPr id="327" name="Google Shape;327;p25" title="Py.png"/>
          <p:cNvPicPr preferRelativeResize="0"/>
          <p:nvPr/>
        </p:nvPicPr>
        <p:blipFill>
          <a:blip r:embed="rId4">
            <a:alphaModFix/>
          </a:blip>
          <a:stretch>
            <a:fillRect/>
          </a:stretch>
        </p:blipFill>
        <p:spPr>
          <a:xfrm>
            <a:off x="8500225" y="223775"/>
            <a:ext cx="420600" cy="420600"/>
          </a:xfrm>
          <a:prstGeom prst="rect">
            <a:avLst/>
          </a:prstGeom>
          <a:noFill/>
          <a:ln>
            <a:noFill/>
          </a:ln>
        </p:spPr>
      </p:pic>
      <p:pic>
        <p:nvPicPr>
          <p:cNvPr id="328" name="Google Shape;328;p25" title="322-3225839_tnt-pytorch-machine-learning-logo.png"/>
          <p:cNvPicPr preferRelativeResize="0"/>
          <p:nvPr/>
        </p:nvPicPr>
        <p:blipFill>
          <a:blip r:embed="rId5">
            <a:alphaModFix/>
          </a:blip>
          <a:stretch>
            <a:fillRect/>
          </a:stretch>
        </p:blipFill>
        <p:spPr>
          <a:xfrm>
            <a:off x="6925391" y="288333"/>
            <a:ext cx="1265649" cy="255825"/>
          </a:xfrm>
          <a:prstGeom prst="rect">
            <a:avLst/>
          </a:prstGeom>
          <a:noFill/>
          <a:ln>
            <a:noFill/>
          </a:ln>
        </p:spPr>
      </p:pic>
      <p:sp>
        <p:nvSpPr>
          <p:cNvPr id="329" name="Google Shape;329;p25"/>
          <p:cNvSpPr/>
          <p:nvPr/>
        </p:nvSpPr>
        <p:spPr>
          <a:xfrm>
            <a:off x="8272901" y="359250"/>
            <a:ext cx="209700" cy="183900"/>
          </a:xfrm>
          <a:prstGeom prst="mathPlus">
            <a:avLst>
              <a:gd fmla="val 13671" name="adj1"/>
            </a:avLst>
          </a:prstGeom>
          <a:solidFill>
            <a:srgbClr val="FBE5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330" name="Google Shape;330;p25"/>
          <p:cNvPicPr preferRelativeResize="0"/>
          <p:nvPr/>
        </p:nvPicPr>
        <p:blipFill>
          <a:blip r:embed="rId6">
            <a:alphaModFix/>
          </a:blip>
          <a:stretch>
            <a:fillRect/>
          </a:stretch>
        </p:blipFill>
        <p:spPr>
          <a:xfrm>
            <a:off x="1204117" y="678325"/>
            <a:ext cx="3866400" cy="2298000"/>
          </a:xfrm>
          <a:prstGeom prst="roundRect">
            <a:avLst>
              <a:gd fmla="val 5559" name="adj"/>
            </a:avLst>
          </a:prstGeom>
          <a:noFill/>
          <a:ln cap="flat" cmpd="sng" w="16750">
            <a:solidFill>
              <a:srgbClr val="0000FF"/>
            </a:solidFill>
            <a:prstDash val="solid"/>
            <a:round/>
            <a:headEnd len="sm" w="sm" type="none"/>
            <a:tailEnd len="sm" w="sm" type="none"/>
          </a:ln>
        </p:spPr>
      </p:pic>
      <p:pic>
        <p:nvPicPr>
          <p:cNvPr id="331" name="Google Shape;331;p25"/>
          <p:cNvPicPr preferRelativeResize="0"/>
          <p:nvPr/>
        </p:nvPicPr>
        <p:blipFill>
          <a:blip r:embed="rId7">
            <a:alphaModFix/>
          </a:blip>
          <a:stretch>
            <a:fillRect/>
          </a:stretch>
        </p:blipFill>
        <p:spPr>
          <a:xfrm>
            <a:off x="1204118" y="3060728"/>
            <a:ext cx="5015700" cy="1999200"/>
          </a:xfrm>
          <a:prstGeom prst="roundRect">
            <a:avLst>
              <a:gd fmla="val 7752" name="adj"/>
            </a:avLst>
          </a:prstGeom>
          <a:noFill/>
          <a:ln cap="flat" cmpd="sng" w="16750">
            <a:solidFill>
              <a:srgbClr val="0000FF"/>
            </a:solidFill>
            <a:prstDash val="solid"/>
            <a:round/>
            <a:headEnd len="sm" w="sm" type="none"/>
            <a:tailEnd len="sm" w="sm" type="none"/>
          </a:ln>
        </p:spPr>
      </p:pic>
      <p:pic>
        <p:nvPicPr>
          <p:cNvPr id="332" name="Google Shape;332;p25"/>
          <p:cNvPicPr preferRelativeResize="0"/>
          <p:nvPr/>
        </p:nvPicPr>
        <p:blipFill rotWithShape="1">
          <a:blip r:embed="rId8">
            <a:alphaModFix/>
          </a:blip>
          <a:srcRect b="0" l="0" r="42528" t="37849"/>
          <a:stretch/>
        </p:blipFill>
        <p:spPr>
          <a:xfrm>
            <a:off x="5312825" y="1825100"/>
            <a:ext cx="2050500" cy="370500"/>
          </a:xfrm>
          <a:prstGeom prst="roundRect">
            <a:avLst>
              <a:gd fmla="val 16667" name="adj"/>
            </a:avLst>
          </a:prstGeom>
          <a:noFill/>
          <a:ln cap="flat" cmpd="sng" w="26675">
            <a:solidFill>
              <a:srgbClr val="FFFF00"/>
            </a:solidFill>
            <a:prstDash val="solid"/>
            <a:round/>
            <a:headEnd len="sm" w="sm" type="none"/>
            <a:tailEnd len="sm" w="sm" type="none"/>
          </a:ln>
        </p:spPr>
      </p:pic>
      <p:sp>
        <p:nvSpPr>
          <p:cNvPr id="333" name="Google Shape;333;p25"/>
          <p:cNvSpPr/>
          <p:nvPr/>
        </p:nvSpPr>
        <p:spPr>
          <a:xfrm rot="-2109559">
            <a:off x="5152650" y="2381692"/>
            <a:ext cx="538680" cy="256019"/>
          </a:xfrm>
          <a:prstGeom prst="curvedUpArrow">
            <a:avLst>
              <a:gd fmla="val 25000" name="adj1"/>
              <a:gd fmla="val 50000" name="adj2"/>
              <a:gd fmla="val 25000" name="adj3"/>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34" name="Google Shape;334;p25"/>
          <p:cNvCxnSpPr/>
          <p:nvPr/>
        </p:nvCxnSpPr>
        <p:spPr>
          <a:xfrm rot="10800000">
            <a:off x="984175" y="2548351"/>
            <a:ext cx="1060200" cy="0"/>
          </a:xfrm>
          <a:prstGeom prst="straightConnector1">
            <a:avLst/>
          </a:prstGeom>
          <a:noFill/>
          <a:ln cap="flat" cmpd="sng" w="9850">
            <a:solidFill>
              <a:srgbClr val="0000FF"/>
            </a:solidFill>
            <a:prstDash val="solid"/>
            <a:round/>
            <a:headEnd len="med" w="med" type="oval"/>
            <a:tailEnd len="med" w="med" type="none"/>
          </a:ln>
        </p:spPr>
      </p:cxnSp>
      <p:sp>
        <p:nvSpPr>
          <p:cNvPr id="335" name="Google Shape;335;p25"/>
          <p:cNvSpPr txBox="1"/>
          <p:nvPr/>
        </p:nvSpPr>
        <p:spPr>
          <a:xfrm>
            <a:off x="41424" y="2350300"/>
            <a:ext cx="1135500" cy="255900"/>
          </a:xfrm>
          <a:prstGeom prst="rect">
            <a:avLst/>
          </a:prstGeom>
          <a:noFill/>
          <a:ln>
            <a:noFill/>
          </a:ln>
        </p:spPr>
        <p:txBody>
          <a:bodyPr anchorCtr="0" anchor="ctr" bIns="94475" lIns="94475" spcFirstLastPara="1" rIns="94475" wrap="square" tIns="94475">
            <a:noAutofit/>
          </a:bodyPr>
          <a:lstStyle/>
          <a:p>
            <a:pPr indent="0" lvl="0" marL="0" rtl="0" algn="ctr">
              <a:spcBef>
                <a:spcPts val="0"/>
              </a:spcBef>
              <a:spcAft>
                <a:spcPts val="0"/>
              </a:spcAft>
              <a:buNone/>
            </a:pPr>
            <a:r>
              <a:rPr i="1" lang="es" sz="1100">
                <a:solidFill>
                  <a:schemeClr val="lt1"/>
                </a:solidFill>
                <a:latin typeface="Lato"/>
                <a:ea typeface="Lato"/>
                <a:cs typeface="Lato"/>
                <a:sym typeface="Lato"/>
              </a:rPr>
              <a:t>DataLoaders</a:t>
            </a:r>
            <a:endParaRPr i="1" sz="1100">
              <a:solidFill>
                <a:schemeClr val="lt1"/>
              </a:solidFill>
              <a:latin typeface="Lato"/>
              <a:ea typeface="Lato"/>
              <a:cs typeface="Lato"/>
              <a:sym typeface="Lato"/>
            </a:endParaRPr>
          </a:p>
        </p:txBody>
      </p:sp>
      <p:cxnSp>
        <p:nvCxnSpPr>
          <p:cNvPr id="336" name="Google Shape;336;p25"/>
          <p:cNvCxnSpPr>
            <a:endCxn id="337" idx="3"/>
          </p:cNvCxnSpPr>
          <p:nvPr/>
        </p:nvCxnSpPr>
        <p:spPr>
          <a:xfrm rot="10800000">
            <a:off x="915425" y="3335400"/>
            <a:ext cx="821400" cy="0"/>
          </a:xfrm>
          <a:prstGeom prst="straightConnector1">
            <a:avLst/>
          </a:prstGeom>
          <a:noFill/>
          <a:ln cap="flat" cmpd="sng" w="9850">
            <a:solidFill>
              <a:srgbClr val="0000FF"/>
            </a:solidFill>
            <a:prstDash val="solid"/>
            <a:round/>
            <a:headEnd len="med" w="med" type="oval"/>
            <a:tailEnd len="med" w="med" type="none"/>
          </a:ln>
        </p:spPr>
      </p:cxnSp>
      <p:sp>
        <p:nvSpPr>
          <p:cNvPr id="337" name="Google Shape;337;p25"/>
          <p:cNvSpPr txBox="1"/>
          <p:nvPr/>
        </p:nvSpPr>
        <p:spPr>
          <a:xfrm>
            <a:off x="94025" y="3136500"/>
            <a:ext cx="821400" cy="397800"/>
          </a:xfrm>
          <a:prstGeom prst="rect">
            <a:avLst/>
          </a:prstGeom>
          <a:noFill/>
          <a:ln>
            <a:noFill/>
          </a:ln>
        </p:spPr>
        <p:txBody>
          <a:bodyPr anchorCtr="0" anchor="ctr" bIns="94475" lIns="94475" spcFirstLastPara="1" rIns="94475" wrap="square" tIns="94475">
            <a:noAutofit/>
          </a:bodyPr>
          <a:lstStyle/>
          <a:p>
            <a:pPr indent="0" lvl="0" marL="0" rtl="0" algn="ctr">
              <a:spcBef>
                <a:spcPts val="0"/>
              </a:spcBef>
              <a:spcAft>
                <a:spcPts val="0"/>
              </a:spcAft>
              <a:buNone/>
            </a:pPr>
            <a:r>
              <a:rPr i="1" lang="es" sz="1100">
                <a:solidFill>
                  <a:schemeClr val="lt1"/>
                </a:solidFill>
                <a:latin typeface="Lato"/>
                <a:ea typeface="Lato"/>
                <a:cs typeface="Lato"/>
                <a:sym typeface="Lato"/>
              </a:rPr>
              <a:t>Red</a:t>
            </a:r>
            <a:endParaRPr i="1" sz="1100">
              <a:solidFill>
                <a:schemeClr val="lt1"/>
              </a:solidFill>
              <a:latin typeface="Lato"/>
              <a:ea typeface="Lato"/>
              <a:cs typeface="Lato"/>
              <a:sym typeface="Lato"/>
            </a:endParaRPr>
          </a:p>
          <a:p>
            <a:pPr indent="0" lvl="0" marL="0" rtl="0" algn="ctr">
              <a:spcBef>
                <a:spcPts val="0"/>
              </a:spcBef>
              <a:spcAft>
                <a:spcPts val="0"/>
              </a:spcAft>
              <a:buNone/>
            </a:pPr>
            <a:r>
              <a:rPr i="1" lang="es" sz="1100">
                <a:solidFill>
                  <a:schemeClr val="lt1"/>
                </a:solidFill>
                <a:latin typeface="Lato"/>
                <a:ea typeface="Lato"/>
                <a:cs typeface="Lato"/>
                <a:sym typeface="Lato"/>
              </a:rPr>
              <a:t>Neuronal</a:t>
            </a:r>
            <a:endParaRPr i="1" sz="1100">
              <a:solidFill>
                <a:schemeClr val="lt1"/>
              </a:solidFill>
              <a:latin typeface="Lato"/>
              <a:ea typeface="Lato"/>
              <a:cs typeface="Lato"/>
              <a:sym typeface="Lato"/>
            </a:endParaRPr>
          </a:p>
        </p:txBody>
      </p:sp>
      <p:cxnSp>
        <p:nvCxnSpPr>
          <p:cNvPr id="338" name="Google Shape;338;p25"/>
          <p:cNvCxnSpPr/>
          <p:nvPr/>
        </p:nvCxnSpPr>
        <p:spPr>
          <a:xfrm rot="10800000">
            <a:off x="1119200" y="2709538"/>
            <a:ext cx="2634000" cy="0"/>
          </a:xfrm>
          <a:prstGeom prst="straightConnector1">
            <a:avLst/>
          </a:prstGeom>
          <a:noFill/>
          <a:ln cap="flat" cmpd="sng" w="9850">
            <a:solidFill>
              <a:srgbClr val="0000FF"/>
            </a:solidFill>
            <a:prstDash val="solid"/>
            <a:round/>
            <a:headEnd len="med" w="med" type="oval"/>
            <a:tailEnd len="med" w="med" type="none"/>
          </a:ln>
        </p:spPr>
      </p:cxnSp>
      <p:sp>
        <p:nvSpPr>
          <p:cNvPr id="339" name="Google Shape;339;p25"/>
          <p:cNvSpPr txBox="1"/>
          <p:nvPr/>
        </p:nvSpPr>
        <p:spPr>
          <a:xfrm>
            <a:off x="225460" y="2599113"/>
            <a:ext cx="946200" cy="255900"/>
          </a:xfrm>
          <a:prstGeom prst="rect">
            <a:avLst/>
          </a:prstGeom>
          <a:noFill/>
          <a:ln>
            <a:noFill/>
          </a:ln>
        </p:spPr>
        <p:txBody>
          <a:bodyPr anchorCtr="0" anchor="ctr" bIns="94475" lIns="94475" spcFirstLastPara="1" rIns="94475" wrap="square" tIns="94475">
            <a:noAutofit/>
          </a:bodyPr>
          <a:lstStyle/>
          <a:p>
            <a:pPr indent="0" lvl="0" marL="0" rtl="0" algn="ctr">
              <a:spcBef>
                <a:spcPts val="0"/>
              </a:spcBef>
              <a:spcAft>
                <a:spcPts val="0"/>
              </a:spcAft>
              <a:buNone/>
            </a:pPr>
            <a:r>
              <a:rPr i="1" lang="es" sz="1100">
                <a:solidFill>
                  <a:schemeClr val="lt1"/>
                </a:solidFill>
                <a:latin typeface="Lato"/>
                <a:ea typeface="Lato"/>
                <a:cs typeface="Lato"/>
                <a:sym typeface="Lato"/>
              </a:rPr>
              <a:t>batch_size</a:t>
            </a:r>
            <a:endParaRPr i="1" sz="1100">
              <a:solidFill>
                <a:schemeClr val="lt1"/>
              </a:solidFill>
              <a:latin typeface="Lato"/>
              <a:ea typeface="Lato"/>
              <a:cs typeface="Lato"/>
              <a:sym typeface="Lato"/>
            </a:endParaRPr>
          </a:p>
        </p:txBody>
      </p:sp>
      <p:cxnSp>
        <p:nvCxnSpPr>
          <p:cNvPr id="340" name="Google Shape;340;p25"/>
          <p:cNvCxnSpPr/>
          <p:nvPr/>
        </p:nvCxnSpPr>
        <p:spPr>
          <a:xfrm rot="10800000">
            <a:off x="1066675" y="1558025"/>
            <a:ext cx="1713900" cy="0"/>
          </a:xfrm>
          <a:prstGeom prst="straightConnector1">
            <a:avLst/>
          </a:prstGeom>
          <a:noFill/>
          <a:ln cap="flat" cmpd="sng" w="9850">
            <a:solidFill>
              <a:srgbClr val="0000FF"/>
            </a:solidFill>
            <a:prstDash val="solid"/>
            <a:round/>
            <a:headEnd len="med" w="med" type="oval"/>
            <a:tailEnd len="med" w="med" type="none"/>
          </a:ln>
        </p:spPr>
      </p:cxnSp>
      <p:sp>
        <p:nvSpPr>
          <p:cNvPr id="341" name="Google Shape;341;p25"/>
          <p:cNvSpPr txBox="1"/>
          <p:nvPr/>
        </p:nvSpPr>
        <p:spPr>
          <a:xfrm>
            <a:off x="41414" y="1412539"/>
            <a:ext cx="1060200" cy="255900"/>
          </a:xfrm>
          <a:prstGeom prst="rect">
            <a:avLst/>
          </a:prstGeom>
          <a:noFill/>
          <a:ln>
            <a:noFill/>
          </a:ln>
        </p:spPr>
        <p:txBody>
          <a:bodyPr anchorCtr="0" anchor="ctr" bIns="94475" lIns="94475" spcFirstLastPara="1" rIns="94475" wrap="square" tIns="94475">
            <a:noAutofit/>
          </a:bodyPr>
          <a:lstStyle/>
          <a:p>
            <a:pPr indent="0" lvl="0" marL="0" rtl="0" algn="ctr">
              <a:spcBef>
                <a:spcPts val="0"/>
              </a:spcBef>
              <a:spcAft>
                <a:spcPts val="0"/>
              </a:spcAft>
              <a:buNone/>
            </a:pPr>
            <a:r>
              <a:rPr i="1" lang="es" sz="1100">
                <a:solidFill>
                  <a:schemeClr val="lt1"/>
                </a:solidFill>
                <a:latin typeface="Lato"/>
                <a:ea typeface="Lato"/>
                <a:cs typeface="Lato"/>
                <a:sym typeface="Lato"/>
              </a:rPr>
              <a:t>Torch.tensor</a:t>
            </a:r>
            <a:endParaRPr i="1" sz="1100">
              <a:solidFill>
                <a:schemeClr val="lt1"/>
              </a:solidFill>
              <a:latin typeface="Lato"/>
              <a:ea typeface="Lato"/>
              <a:cs typeface="Lato"/>
              <a:sym typeface="Lato"/>
            </a:endParaRPr>
          </a:p>
        </p:txBody>
      </p:sp>
      <p:cxnSp>
        <p:nvCxnSpPr>
          <p:cNvPr id="342" name="Google Shape;342;p25"/>
          <p:cNvCxnSpPr/>
          <p:nvPr/>
        </p:nvCxnSpPr>
        <p:spPr>
          <a:xfrm rot="10800000">
            <a:off x="896775" y="3813675"/>
            <a:ext cx="2120400" cy="0"/>
          </a:xfrm>
          <a:prstGeom prst="straightConnector1">
            <a:avLst/>
          </a:prstGeom>
          <a:noFill/>
          <a:ln cap="flat" cmpd="sng" w="9850">
            <a:solidFill>
              <a:srgbClr val="0000FF"/>
            </a:solidFill>
            <a:prstDash val="solid"/>
            <a:round/>
            <a:headEnd len="med" w="med" type="oval"/>
            <a:tailEnd len="med" w="med" type="none"/>
          </a:ln>
        </p:spPr>
      </p:cxnSp>
      <p:sp>
        <p:nvSpPr>
          <p:cNvPr id="343" name="Google Shape;343;p25"/>
          <p:cNvSpPr txBox="1"/>
          <p:nvPr/>
        </p:nvSpPr>
        <p:spPr>
          <a:xfrm>
            <a:off x="26442" y="3668177"/>
            <a:ext cx="1060200" cy="255900"/>
          </a:xfrm>
          <a:prstGeom prst="rect">
            <a:avLst/>
          </a:prstGeom>
          <a:noFill/>
          <a:ln>
            <a:noFill/>
          </a:ln>
        </p:spPr>
        <p:txBody>
          <a:bodyPr anchorCtr="0" anchor="ctr" bIns="94475" lIns="94475" spcFirstLastPara="1" rIns="94475" wrap="square" tIns="94475">
            <a:noAutofit/>
          </a:bodyPr>
          <a:lstStyle/>
          <a:p>
            <a:pPr indent="0" lvl="0" marL="0" rtl="0" algn="ctr">
              <a:spcBef>
                <a:spcPts val="0"/>
              </a:spcBef>
              <a:spcAft>
                <a:spcPts val="0"/>
              </a:spcAft>
              <a:buNone/>
            </a:pPr>
            <a:r>
              <a:rPr i="1" lang="es" sz="1100">
                <a:solidFill>
                  <a:schemeClr val="lt1"/>
                </a:solidFill>
                <a:latin typeface="Lato"/>
                <a:ea typeface="Lato"/>
                <a:cs typeface="Lato"/>
                <a:sym typeface="Lato"/>
              </a:rPr>
              <a:t>Dropout</a:t>
            </a:r>
            <a:endParaRPr i="1" sz="1100">
              <a:solidFill>
                <a:schemeClr val="lt1"/>
              </a:solidFill>
              <a:latin typeface="Lato"/>
              <a:ea typeface="Lato"/>
              <a:cs typeface="Lato"/>
              <a:sym typeface="Lato"/>
            </a:endParaRPr>
          </a:p>
          <a:p>
            <a:pPr indent="0" lvl="0" marL="0" rtl="0" algn="ctr">
              <a:spcBef>
                <a:spcPts val="0"/>
              </a:spcBef>
              <a:spcAft>
                <a:spcPts val="0"/>
              </a:spcAft>
              <a:buNone/>
            </a:pPr>
            <a:r>
              <a:rPr i="1" lang="es" sz="1100">
                <a:solidFill>
                  <a:schemeClr val="lt1"/>
                </a:solidFill>
                <a:latin typeface="Lato"/>
                <a:ea typeface="Lato"/>
                <a:cs typeface="Lato"/>
                <a:sym typeface="Lato"/>
              </a:rPr>
              <a:t>(Capas ocultas)</a:t>
            </a:r>
            <a:endParaRPr i="1" sz="1100">
              <a:solidFill>
                <a:schemeClr val="lt1"/>
              </a:solidFill>
              <a:latin typeface="Lato"/>
              <a:ea typeface="Lato"/>
              <a:cs typeface="Lato"/>
              <a:sym typeface="Lato"/>
            </a:endParaRPr>
          </a:p>
        </p:txBody>
      </p:sp>
      <p:cxnSp>
        <p:nvCxnSpPr>
          <p:cNvPr id="344" name="Google Shape;344;p25"/>
          <p:cNvCxnSpPr/>
          <p:nvPr/>
        </p:nvCxnSpPr>
        <p:spPr>
          <a:xfrm rot="10800000">
            <a:off x="850644" y="4535979"/>
            <a:ext cx="1463400" cy="0"/>
          </a:xfrm>
          <a:prstGeom prst="straightConnector1">
            <a:avLst/>
          </a:prstGeom>
          <a:noFill/>
          <a:ln cap="flat" cmpd="sng" w="9850">
            <a:solidFill>
              <a:srgbClr val="0000FF"/>
            </a:solidFill>
            <a:prstDash val="solid"/>
            <a:round/>
            <a:headEnd len="med" w="med" type="oval"/>
            <a:tailEnd len="med" w="med" type="none"/>
          </a:ln>
        </p:spPr>
      </p:cxnSp>
      <p:sp>
        <p:nvSpPr>
          <p:cNvPr id="345" name="Google Shape;345;p25"/>
          <p:cNvSpPr txBox="1"/>
          <p:nvPr/>
        </p:nvSpPr>
        <p:spPr>
          <a:xfrm>
            <a:off x="86736" y="4408030"/>
            <a:ext cx="1060200" cy="255900"/>
          </a:xfrm>
          <a:prstGeom prst="rect">
            <a:avLst/>
          </a:prstGeom>
          <a:noFill/>
          <a:ln>
            <a:noFill/>
          </a:ln>
        </p:spPr>
        <p:txBody>
          <a:bodyPr anchorCtr="0" anchor="ctr" bIns="94475" lIns="94475" spcFirstLastPara="1" rIns="94475" wrap="square" tIns="94475">
            <a:noAutofit/>
          </a:bodyPr>
          <a:lstStyle/>
          <a:p>
            <a:pPr indent="0" lvl="0" marL="0" rtl="0" algn="ctr">
              <a:spcBef>
                <a:spcPts val="0"/>
              </a:spcBef>
              <a:spcAft>
                <a:spcPts val="0"/>
              </a:spcAft>
              <a:buNone/>
            </a:pPr>
            <a:r>
              <a:rPr i="1" lang="es" sz="1100">
                <a:solidFill>
                  <a:schemeClr val="lt1"/>
                </a:solidFill>
                <a:latin typeface="Lato"/>
                <a:ea typeface="Lato"/>
                <a:cs typeface="Lato"/>
                <a:sym typeface="Lato"/>
              </a:rPr>
              <a:t>Relu</a:t>
            </a:r>
            <a:endParaRPr i="1" sz="1100">
              <a:solidFill>
                <a:schemeClr val="lt1"/>
              </a:solidFill>
              <a:latin typeface="Lato"/>
              <a:ea typeface="Lato"/>
              <a:cs typeface="Lato"/>
              <a:sym typeface="Lato"/>
            </a:endParaRPr>
          </a:p>
          <a:p>
            <a:pPr indent="0" lvl="0" marL="0" rtl="0" algn="ctr">
              <a:spcBef>
                <a:spcPts val="0"/>
              </a:spcBef>
              <a:spcAft>
                <a:spcPts val="0"/>
              </a:spcAft>
              <a:buNone/>
            </a:pPr>
            <a:r>
              <a:rPr i="1" lang="es" sz="1100">
                <a:solidFill>
                  <a:schemeClr val="lt1"/>
                </a:solidFill>
                <a:latin typeface="Lato"/>
                <a:ea typeface="Lato"/>
                <a:cs typeface="Lato"/>
                <a:sym typeface="Lato"/>
              </a:rPr>
              <a:t>(Capas ocultas)</a:t>
            </a:r>
            <a:endParaRPr i="1" sz="1100">
              <a:solidFill>
                <a:schemeClr val="lt1"/>
              </a:solidFill>
              <a:latin typeface="Lato"/>
              <a:ea typeface="Lato"/>
              <a:cs typeface="Lato"/>
              <a:sym typeface="Lato"/>
            </a:endParaRPr>
          </a:p>
        </p:txBody>
      </p:sp>
      <p:cxnSp>
        <p:nvCxnSpPr>
          <p:cNvPr id="346" name="Google Shape;346;p25"/>
          <p:cNvCxnSpPr/>
          <p:nvPr/>
        </p:nvCxnSpPr>
        <p:spPr>
          <a:xfrm>
            <a:off x="5216525" y="4956225"/>
            <a:ext cx="1305600" cy="0"/>
          </a:xfrm>
          <a:prstGeom prst="straightConnector1">
            <a:avLst/>
          </a:prstGeom>
          <a:noFill/>
          <a:ln cap="flat" cmpd="sng" w="9850">
            <a:solidFill>
              <a:srgbClr val="0000FF"/>
            </a:solidFill>
            <a:prstDash val="solid"/>
            <a:round/>
            <a:headEnd len="med" w="med" type="oval"/>
            <a:tailEnd len="med" w="med" type="none"/>
          </a:ln>
        </p:spPr>
      </p:cxnSp>
      <p:sp>
        <p:nvSpPr>
          <p:cNvPr id="347" name="Google Shape;347;p25"/>
          <p:cNvSpPr txBox="1"/>
          <p:nvPr/>
        </p:nvSpPr>
        <p:spPr>
          <a:xfrm>
            <a:off x="6320826" y="4690213"/>
            <a:ext cx="2559900" cy="397800"/>
          </a:xfrm>
          <a:prstGeom prst="rect">
            <a:avLst/>
          </a:prstGeom>
          <a:noFill/>
          <a:ln>
            <a:noFill/>
          </a:ln>
        </p:spPr>
        <p:txBody>
          <a:bodyPr anchorCtr="0" anchor="ctr" bIns="94475" lIns="94475" spcFirstLastPara="1" rIns="94475" wrap="square" tIns="94475">
            <a:noAutofit/>
          </a:bodyPr>
          <a:lstStyle/>
          <a:p>
            <a:pPr indent="0" lvl="0" marL="0" rtl="0" algn="ctr">
              <a:spcBef>
                <a:spcPts val="0"/>
              </a:spcBef>
              <a:spcAft>
                <a:spcPts val="0"/>
              </a:spcAft>
              <a:buNone/>
            </a:pPr>
            <a:r>
              <a:rPr b="1" i="1" lang="es" sz="1143">
                <a:solidFill>
                  <a:schemeClr val="lt1"/>
                </a:solidFill>
                <a:latin typeface="Lato"/>
                <a:ea typeface="Lato"/>
                <a:cs typeface="Lato"/>
                <a:sym typeface="Lato"/>
              </a:rPr>
              <a:t> CAPA DE SALIDA</a:t>
            </a:r>
            <a:endParaRPr b="1" i="1" sz="1143">
              <a:solidFill>
                <a:schemeClr val="lt1"/>
              </a:solidFill>
              <a:latin typeface="Lato"/>
              <a:ea typeface="Lato"/>
              <a:cs typeface="Lato"/>
              <a:sym typeface="Lato"/>
            </a:endParaRPr>
          </a:p>
          <a:p>
            <a:pPr indent="0" lvl="0" marL="0" rtl="0" algn="ctr">
              <a:spcBef>
                <a:spcPts val="0"/>
              </a:spcBef>
              <a:spcAft>
                <a:spcPts val="0"/>
              </a:spcAft>
              <a:buNone/>
            </a:pPr>
            <a:r>
              <a:rPr i="1" lang="es" sz="1143">
                <a:solidFill>
                  <a:schemeClr val="lt1"/>
                </a:solidFill>
                <a:latin typeface="Lato"/>
                <a:ea typeface="Lato"/>
                <a:cs typeface="Lato"/>
                <a:sym typeface="Lato"/>
              </a:rPr>
              <a:t>sin F. Activación, “logits” </a:t>
            </a:r>
            <a:endParaRPr i="1" sz="1143">
              <a:solidFill>
                <a:schemeClr val="lt1"/>
              </a:solidFill>
              <a:latin typeface="Lato"/>
              <a:ea typeface="Lato"/>
              <a:cs typeface="Lato"/>
              <a:sym typeface="Lato"/>
            </a:endParaRPr>
          </a:p>
        </p:txBody>
      </p:sp>
      <p:pic>
        <p:nvPicPr>
          <p:cNvPr id="348" name="Google Shape;348;p25"/>
          <p:cNvPicPr preferRelativeResize="0"/>
          <p:nvPr/>
        </p:nvPicPr>
        <p:blipFill>
          <a:blip r:embed="rId9">
            <a:alphaModFix/>
          </a:blip>
          <a:stretch>
            <a:fillRect/>
          </a:stretch>
        </p:blipFill>
        <p:spPr>
          <a:xfrm>
            <a:off x="4457951" y="3987425"/>
            <a:ext cx="4387800" cy="477300"/>
          </a:xfrm>
          <a:prstGeom prst="roundRect">
            <a:avLst>
              <a:gd fmla="val 16667" name="adj"/>
            </a:avLst>
          </a:prstGeom>
          <a:noFill/>
          <a:ln cap="flat" cmpd="sng" w="16750">
            <a:solidFill>
              <a:srgbClr val="0000FF"/>
            </a:solidFill>
            <a:prstDash val="solid"/>
            <a:round/>
            <a:headEnd len="sm" w="sm" type="none"/>
            <a:tailEnd len="sm" w="sm" type="none"/>
          </a:ln>
        </p:spPr>
      </p:pic>
      <p:cxnSp>
        <p:nvCxnSpPr>
          <p:cNvPr id="349" name="Google Shape;349;p25"/>
          <p:cNvCxnSpPr/>
          <p:nvPr/>
        </p:nvCxnSpPr>
        <p:spPr>
          <a:xfrm rot="10800000">
            <a:off x="7153000" y="3869950"/>
            <a:ext cx="0" cy="411900"/>
          </a:xfrm>
          <a:prstGeom prst="straightConnector1">
            <a:avLst/>
          </a:prstGeom>
          <a:noFill/>
          <a:ln cap="flat" cmpd="sng" w="9850">
            <a:solidFill>
              <a:srgbClr val="0000FF"/>
            </a:solidFill>
            <a:prstDash val="solid"/>
            <a:round/>
            <a:headEnd len="med" w="med" type="oval"/>
            <a:tailEnd len="med" w="med" type="none"/>
          </a:ln>
        </p:spPr>
      </p:cxnSp>
      <p:sp>
        <p:nvSpPr>
          <p:cNvPr id="350" name="Google Shape;350;p25"/>
          <p:cNvSpPr/>
          <p:nvPr/>
        </p:nvSpPr>
        <p:spPr>
          <a:xfrm>
            <a:off x="4480490" y="4150425"/>
            <a:ext cx="569700" cy="183900"/>
          </a:xfrm>
          <a:prstGeom prst="roundRect">
            <a:avLst>
              <a:gd fmla="val 16667" name="adj"/>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51" name="Google Shape;351;p25"/>
          <p:cNvSpPr txBox="1"/>
          <p:nvPr/>
        </p:nvSpPr>
        <p:spPr>
          <a:xfrm>
            <a:off x="6267972" y="3516775"/>
            <a:ext cx="1770000" cy="255900"/>
          </a:xfrm>
          <a:prstGeom prst="rect">
            <a:avLst/>
          </a:prstGeom>
          <a:noFill/>
          <a:ln>
            <a:noFill/>
          </a:ln>
        </p:spPr>
        <p:txBody>
          <a:bodyPr anchorCtr="0" anchor="ctr" bIns="94475" lIns="94475" spcFirstLastPara="1" rIns="94475" wrap="square" tIns="94475">
            <a:noAutofit/>
          </a:bodyPr>
          <a:lstStyle/>
          <a:p>
            <a:pPr indent="0" lvl="0" marL="0" rtl="0" algn="ctr">
              <a:spcBef>
                <a:spcPts val="0"/>
              </a:spcBef>
              <a:spcAft>
                <a:spcPts val="0"/>
              </a:spcAft>
              <a:buNone/>
            </a:pPr>
            <a:r>
              <a:rPr i="1" lang="es" sz="1143">
                <a:solidFill>
                  <a:schemeClr val="lt1"/>
                </a:solidFill>
                <a:latin typeface="Lato"/>
                <a:ea typeface="Lato"/>
                <a:cs typeface="Lato"/>
                <a:sym typeface="Lato"/>
              </a:rPr>
              <a:t>Instancia de la</a:t>
            </a:r>
            <a:endParaRPr i="1" sz="1143">
              <a:solidFill>
                <a:schemeClr val="lt1"/>
              </a:solidFill>
              <a:latin typeface="Lato"/>
              <a:ea typeface="Lato"/>
              <a:cs typeface="Lato"/>
              <a:sym typeface="Lato"/>
            </a:endParaRPr>
          </a:p>
          <a:p>
            <a:pPr indent="0" lvl="0" marL="0" rtl="0" algn="ctr">
              <a:spcBef>
                <a:spcPts val="0"/>
              </a:spcBef>
              <a:spcAft>
                <a:spcPts val="0"/>
              </a:spcAft>
              <a:buNone/>
            </a:pPr>
            <a:r>
              <a:rPr i="1" lang="es" sz="1143">
                <a:solidFill>
                  <a:schemeClr val="lt1"/>
                </a:solidFill>
                <a:latin typeface="Lato"/>
                <a:ea typeface="Lato"/>
                <a:cs typeface="Lato"/>
                <a:sym typeface="Lato"/>
              </a:rPr>
              <a:t>Red Neuronal</a:t>
            </a:r>
            <a:endParaRPr i="1" sz="1143">
              <a:solidFill>
                <a:schemeClr val="lt1"/>
              </a:solidFill>
              <a:latin typeface="Lato"/>
              <a:ea typeface="Lato"/>
              <a:cs typeface="Lato"/>
              <a:sym typeface="Lato"/>
            </a:endParaRPr>
          </a:p>
        </p:txBody>
      </p:sp>
      <p:sp>
        <p:nvSpPr>
          <p:cNvPr id="352" name="Google Shape;352;p25"/>
          <p:cNvSpPr/>
          <p:nvPr/>
        </p:nvSpPr>
        <p:spPr>
          <a:xfrm>
            <a:off x="5773475" y="2254650"/>
            <a:ext cx="315600" cy="7872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Lato"/>
              <a:ea typeface="Lato"/>
              <a:cs typeface="Lato"/>
              <a:sym typeface="Lato"/>
            </a:endParaRPr>
          </a:p>
        </p:txBody>
      </p:sp>
      <p:cxnSp>
        <p:nvCxnSpPr>
          <p:cNvPr id="353" name="Google Shape;353;p25"/>
          <p:cNvCxnSpPr/>
          <p:nvPr/>
        </p:nvCxnSpPr>
        <p:spPr>
          <a:xfrm rot="10800000">
            <a:off x="940600" y="2254650"/>
            <a:ext cx="1533300" cy="0"/>
          </a:xfrm>
          <a:prstGeom prst="straightConnector1">
            <a:avLst/>
          </a:prstGeom>
          <a:noFill/>
          <a:ln cap="flat" cmpd="sng" w="9850">
            <a:solidFill>
              <a:srgbClr val="0000FF"/>
            </a:solidFill>
            <a:prstDash val="solid"/>
            <a:round/>
            <a:headEnd len="med" w="med" type="oval"/>
            <a:tailEnd len="med" w="med" type="none"/>
          </a:ln>
        </p:spPr>
      </p:cxnSp>
      <p:sp>
        <p:nvSpPr>
          <p:cNvPr id="354" name="Google Shape;354;p25"/>
          <p:cNvSpPr txBox="1"/>
          <p:nvPr/>
        </p:nvSpPr>
        <p:spPr>
          <a:xfrm>
            <a:off x="15126" y="2047838"/>
            <a:ext cx="1135500" cy="255900"/>
          </a:xfrm>
          <a:prstGeom prst="rect">
            <a:avLst/>
          </a:prstGeom>
          <a:noFill/>
          <a:ln>
            <a:noFill/>
          </a:ln>
        </p:spPr>
        <p:txBody>
          <a:bodyPr anchorCtr="0" anchor="ctr" bIns="94475" lIns="94475" spcFirstLastPara="1" rIns="94475" wrap="square" tIns="94475">
            <a:noAutofit/>
          </a:bodyPr>
          <a:lstStyle/>
          <a:p>
            <a:pPr indent="0" lvl="0" marL="0" rtl="0" algn="ctr">
              <a:spcBef>
                <a:spcPts val="0"/>
              </a:spcBef>
              <a:spcAft>
                <a:spcPts val="0"/>
              </a:spcAft>
              <a:buNone/>
            </a:pPr>
            <a:r>
              <a:rPr i="1" lang="es" sz="1100">
                <a:solidFill>
                  <a:schemeClr val="lt1"/>
                </a:solidFill>
                <a:latin typeface="Lato"/>
                <a:ea typeface="Lato"/>
                <a:cs typeface="Lato"/>
                <a:sym typeface="Lato"/>
              </a:rPr>
              <a:t>TensorDatasets</a:t>
            </a:r>
            <a:endParaRPr i="1" sz="1100">
              <a:solidFill>
                <a:schemeClr val="l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pic>
        <p:nvPicPr>
          <p:cNvPr id="359" name="Google Shape;359;p26"/>
          <p:cNvPicPr preferRelativeResize="0"/>
          <p:nvPr/>
        </p:nvPicPr>
        <p:blipFill>
          <a:blip r:embed="rId3">
            <a:alphaModFix amt="36000"/>
          </a:blip>
          <a:stretch>
            <a:fillRect/>
          </a:stretch>
        </p:blipFill>
        <p:spPr>
          <a:xfrm>
            <a:off x="0" y="0"/>
            <a:ext cx="9144000" cy="5143499"/>
          </a:xfrm>
          <a:prstGeom prst="rect">
            <a:avLst/>
          </a:prstGeom>
          <a:noFill/>
          <a:ln>
            <a:noFill/>
          </a:ln>
        </p:spPr>
      </p:pic>
      <p:pic>
        <p:nvPicPr>
          <p:cNvPr id="360" name="Google Shape;360;p26"/>
          <p:cNvPicPr preferRelativeResize="0"/>
          <p:nvPr/>
        </p:nvPicPr>
        <p:blipFill rotWithShape="1">
          <a:blip r:embed="rId4">
            <a:alphaModFix/>
          </a:blip>
          <a:srcRect b="24828" l="0" r="0" t="0"/>
          <a:stretch/>
        </p:blipFill>
        <p:spPr>
          <a:xfrm>
            <a:off x="1785253" y="783925"/>
            <a:ext cx="5609400" cy="2189400"/>
          </a:xfrm>
          <a:prstGeom prst="roundRect">
            <a:avLst>
              <a:gd fmla="val 6900" name="adj"/>
            </a:avLst>
          </a:prstGeom>
          <a:noFill/>
          <a:ln cap="flat" cmpd="sng" w="17300">
            <a:solidFill>
              <a:srgbClr val="0000FF"/>
            </a:solidFill>
            <a:prstDash val="solid"/>
            <a:round/>
            <a:headEnd len="sm" w="sm" type="none"/>
            <a:tailEnd len="sm" w="sm" type="none"/>
          </a:ln>
        </p:spPr>
      </p:pic>
      <p:sp>
        <p:nvSpPr>
          <p:cNvPr id="361" name="Google Shape;361;p26"/>
          <p:cNvSpPr txBox="1"/>
          <p:nvPr>
            <p:ph idx="1" type="body"/>
          </p:nvPr>
        </p:nvSpPr>
        <p:spPr>
          <a:xfrm>
            <a:off x="419475" y="189350"/>
            <a:ext cx="39147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s" sz="1600">
                <a:latin typeface="Montserrat"/>
                <a:ea typeface="Montserrat"/>
                <a:cs typeface="Montserrat"/>
                <a:sym typeface="Montserrat"/>
              </a:rPr>
              <a:t>#3- Compilar y Entrenar Modelo</a:t>
            </a:r>
            <a:endParaRPr b="1"/>
          </a:p>
        </p:txBody>
      </p:sp>
      <p:pic>
        <p:nvPicPr>
          <p:cNvPr id="362" name="Google Shape;362;p26"/>
          <p:cNvPicPr preferRelativeResize="0"/>
          <p:nvPr/>
        </p:nvPicPr>
        <p:blipFill rotWithShape="1">
          <a:blip r:embed="rId5">
            <a:alphaModFix/>
          </a:blip>
          <a:srcRect b="0" l="0" r="0" t="10442"/>
          <a:stretch/>
        </p:blipFill>
        <p:spPr>
          <a:xfrm>
            <a:off x="3217157" y="3044101"/>
            <a:ext cx="5042100" cy="1881900"/>
          </a:xfrm>
          <a:prstGeom prst="roundRect">
            <a:avLst>
              <a:gd fmla="val 9761" name="adj"/>
            </a:avLst>
          </a:prstGeom>
          <a:noFill/>
          <a:ln cap="flat" cmpd="sng" w="25575">
            <a:solidFill>
              <a:srgbClr val="FFFF00"/>
            </a:solidFill>
            <a:prstDash val="solid"/>
            <a:round/>
            <a:headEnd len="sm" w="sm" type="none"/>
            <a:tailEnd len="sm" w="sm" type="none"/>
          </a:ln>
        </p:spPr>
      </p:pic>
      <p:sp>
        <p:nvSpPr>
          <p:cNvPr id="363" name="Google Shape;363;p26"/>
          <p:cNvSpPr/>
          <p:nvPr/>
        </p:nvSpPr>
        <p:spPr>
          <a:xfrm rot="2698904">
            <a:off x="2343797" y="3228034"/>
            <a:ext cx="665458" cy="350018"/>
          </a:xfrm>
          <a:prstGeom prst="curvedUpArrow">
            <a:avLst>
              <a:gd fmla="val 25000" name="adj1"/>
              <a:gd fmla="val 50000" name="adj2"/>
              <a:gd fmla="val 25000" name="adj3"/>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364" name="Google Shape;364;p26" title="Py.png"/>
          <p:cNvPicPr preferRelativeResize="0"/>
          <p:nvPr/>
        </p:nvPicPr>
        <p:blipFill>
          <a:blip r:embed="rId6">
            <a:alphaModFix/>
          </a:blip>
          <a:stretch>
            <a:fillRect/>
          </a:stretch>
        </p:blipFill>
        <p:spPr>
          <a:xfrm>
            <a:off x="8500225" y="223775"/>
            <a:ext cx="420600" cy="420600"/>
          </a:xfrm>
          <a:prstGeom prst="rect">
            <a:avLst/>
          </a:prstGeom>
          <a:noFill/>
          <a:ln>
            <a:noFill/>
          </a:ln>
        </p:spPr>
      </p:pic>
      <p:cxnSp>
        <p:nvCxnSpPr>
          <p:cNvPr id="365" name="Google Shape;365;p26"/>
          <p:cNvCxnSpPr/>
          <p:nvPr/>
        </p:nvCxnSpPr>
        <p:spPr>
          <a:xfrm rot="10800000">
            <a:off x="1197745" y="1737067"/>
            <a:ext cx="2159400" cy="0"/>
          </a:xfrm>
          <a:prstGeom prst="straightConnector1">
            <a:avLst/>
          </a:prstGeom>
          <a:noFill/>
          <a:ln cap="flat" cmpd="sng" w="9850">
            <a:solidFill>
              <a:srgbClr val="0000FF"/>
            </a:solidFill>
            <a:prstDash val="solid"/>
            <a:round/>
            <a:headEnd len="med" w="med" type="oval"/>
            <a:tailEnd len="med" w="med" type="none"/>
          </a:ln>
        </p:spPr>
      </p:cxnSp>
      <p:sp>
        <p:nvSpPr>
          <p:cNvPr id="366" name="Google Shape;366;p26"/>
          <p:cNvSpPr txBox="1"/>
          <p:nvPr/>
        </p:nvSpPr>
        <p:spPr>
          <a:xfrm>
            <a:off x="20291" y="1538188"/>
            <a:ext cx="1317900" cy="397800"/>
          </a:xfrm>
          <a:prstGeom prst="rect">
            <a:avLst/>
          </a:prstGeom>
          <a:noFill/>
          <a:ln>
            <a:noFill/>
          </a:ln>
        </p:spPr>
        <p:txBody>
          <a:bodyPr anchorCtr="0" anchor="ctr" bIns="94475" lIns="94475" spcFirstLastPara="1" rIns="94475" wrap="square" tIns="94475">
            <a:noAutofit/>
          </a:bodyPr>
          <a:lstStyle/>
          <a:p>
            <a:pPr indent="0" lvl="0" marL="0" rtl="0" algn="ctr">
              <a:spcBef>
                <a:spcPts val="0"/>
              </a:spcBef>
              <a:spcAft>
                <a:spcPts val="0"/>
              </a:spcAft>
              <a:buNone/>
            </a:pPr>
            <a:r>
              <a:rPr i="1" lang="es" sz="1143">
                <a:solidFill>
                  <a:schemeClr val="lt1"/>
                </a:solidFill>
                <a:latin typeface="Lato"/>
                <a:ea typeface="Lato"/>
                <a:cs typeface="Lato"/>
                <a:sym typeface="Lato"/>
              </a:rPr>
              <a:t>Optimizador</a:t>
            </a:r>
            <a:endParaRPr i="1" sz="1143">
              <a:solidFill>
                <a:schemeClr val="lt1"/>
              </a:solidFill>
              <a:latin typeface="Lato"/>
              <a:ea typeface="Lato"/>
              <a:cs typeface="Lato"/>
              <a:sym typeface="Lato"/>
            </a:endParaRPr>
          </a:p>
        </p:txBody>
      </p:sp>
      <p:cxnSp>
        <p:nvCxnSpPr>
          <p:cNvPr id="367" name="Google Shape;367;p26"/>
          <p:cNvCxnSpPr/>
          <p:nvPr/>
        </p:nvCxnSpPr>
        <p:spPr>
          <a:xfrm rot="10800000">
            <a:off x="1183936" y="2170012"/>
            <a:ext cx="701100" cy="0"/>
          </a:xfrm>
          <a:prstGeom prst="straightConnector1">
            <a:avLst/>
          </a:prstGeom>
          <a:noFill/>
          <a:ln cap="flat" cmpd="sng" w="9850">
            <a:solidFill>
              <a:srgbClr val="0000FF"/>
            </a:solidFill>
            <a:prstDash val="solid"/>
            <a:round/>
            <a:headEnd len="med" w="med" type="oval"/>
            <a:tailEnd len="med" w="med" type="none"/>
          </a:ln>
        </p:spPr>
      </p:cxnSp>
      <p:sp>
        <p:nvSpPr>
          <p:cNvPr id="368" name="Google Shape;368;p26"/>
          <p:cNvSpPr txBox="1"/>
          <p:nvPr/>
        </p:nvSpPr>
        <p:spPr>
          <a:xfrm>
            <a:off x="244628" y="1943084"/>
            <a:ext cx="1317900" cy="397800"/>
          </a:xfrm>
          <a:prstGeom prst="rect">
            <a:avLst/>
          </a:prstGeom>
          <a:noFill/>
          <a:ln>
            <a:noFill/>
          </a:ln>
        </p:spPr>
        <p:txBody>
          <a:bodyPr anchorCtr="0" anchor="ctr" bIns="94475" lIns="94475" spcFirstLastPara="1" rIns="94475" wrap="square" tIns="94475">
            <a:noAutofit/>
          </a:bodyPr>
          <a:lstStyle/>
          <a:p>
            <a:pPr indent="0" lvl="0" marL="0" rtl="0" algn="ctr">
              <a:spcBef>
                <a:spcPts val="0"/>
              </a:spcBef>
              <a:spcAft>
                <a:spcPts val="0"/>
              </a:spcAft>
              <a:buNone/>
            </a:pPr>
            <a:r>
              <a:rPr i="1" lang="es" sz="1143">
                <a:solidFill>
                  <a:schemeClr val="lt1"/>
                </a:solidFill>
                <a:latin typeface="Lato"/>
                <a:ea typeface="Lato"/>
                <a:cs typeface="Lato"/>
                <a:sym typeface="Lato"/>
              </a:rPr>
              <a:t>Épocas</a:t>
            </a:r>
            <a:endParaRPr i="1" sz="1143">
              <a:solidFill>
                <a:schemeClr val="lt1"/>
              </a:solidFill>
              <a:latin typeface="Lato"/>
              <a:ea typeface="Lato"/>
              <a:cs typeface="Lato"/>
              <a:sym typeface="Lato"/>
            </a:endParaRPr>
          </a:p>
        </p:txBody>
      </p:sp>
      <p:cxnSp>
        <p:nvCxnSpPr>
          <p:cNvPr id="369" name="Google Shape;369;p26"/>
          <p:cNvCxnSpPr/>
          <p:nvPr/>
        </p:nvCxnSpPr>
        <p:spPr>
          <a:xfrm rot="10800000">
            <a:off x="1187207" y="2355543"/>
            <a:ext cx="701100" cy="0"/>
          </a:xfrm>
          <a:prstGeom prst="straightConnector1">
            <a:avLst/>
          </a:prstGeom>
          <a:noFill/>
          <a:ln cap="flat" cmpd="sng" w="9850">
            <a:solidFill>
              <a:srgbClr val="0000FF"/>
            </a:solidFill>
            <a:prstDash val="solid"/>
            <a:round/>
            <a:headEnd len="med" w="med" type="oval"/>
            <a:tailEnd len="med" w="med" type="none"/>
          </a:ln>
        </p:spPr>
      </p:cxnSp>
      <p:sp>
        <p:nvSpPr>
          <p:cNvPr id="370" name="Google Shape;370;p26"/>
          <p:cNvSpPr txBox="1"/>
          <p:nvPr/>
        </p:nvSpPr>
        <p:spPr>
          <a:xfrm>
            <a:off x="177799" y="2156655"/>
            <a:ext cx="1317900" cy="397800"/>
          </a:xfrm>
          <a:prstGeom prst="rect">
            <a:avLst/>
          </a:prstGeom>
          <a:noFill/>
          <a:ln>
            <a:noFill/>
          </a:ln>
        </p:spPr>
        <p:txBody>
          <a:bodyPr anchorCtr="0" anchor="ctr" bIns="94475" lIns="94475" spcFirstLastPara="1" rIns="94475" wrap="square" tIns="94475">
            <a:noAutofit/>
          </a:bodyPr>
          <a:lstStyle/>
          <a:p>
            <a:pPr indent="0" lvl="0" marL="0" rtl="0" algn="ctr">
              <a:spcBef>
                <a:spcPts val="0"/>
              </a:spcBef>
              <a:spcAft>
                <a:spcPts val="0"/>
              </a:spcAft>
              <a:buNone/>
            </a:pPr>
            <a:r>
              <a:rPr i="1" lang="es" sz="1143">
                <a:solidFill>
                  <a:schemeClr val="lt1"/>
                </a:solidFill>
                <a:latin typeface="Lato"/>
                <a:ea typeface="Lato"/>
                <a:cs typeface="Lato"/>
                <a:sym typeface="Lato"/>
              </a:rPr>
              <a:t>Paciencia</a:t>
            </a:r>
            <a:endParaRPr i="1" sz="1143">
              <a:solidFill>
                <a:schemeClr val="lt1"/>
              </a:solidFill>
              <a:latin typeface="Lato"/>
              <a:ea typeface="Lato"/>
              <a:cs typeface="Lato"/>
              <a:sym typeface="Lato"/>
            </a:endParaRPr>
          </a:p>
        </p:txBody>
      </p:sp>
      <p:cxnSp>
        <p:nvCxnSpPr>
          <p:cNvPr id="371" name="Google Shape;371;p26"/>
          <p:cNvCxnSpPr/>
          <p:nvPr/>
        </p:nvCxnSpPr>
        <p:spPr>
          <a:xfrm rot="10800000">
            <a:off x="1421236" y="1199863"/>
            <a:ext cx="2093400" cy="0"/>
          </a:xfrm>
          <a:prstGeom prst="straightConnector1">
            <a:avLst/>
          </a:prstGeom>
          <a:noFill/>
          <a:ln cap="flat" cmpd="sng" w="9850">
            <a:solidFill>
              <a:srgbClr val="0000FF"/>
            </a:solidFill>
            <a:prstDash val="solid"/>
            <a:round/>
            <a:headEnd len="med" w="med" type="oval"/>
            <a:tailEnd len="med" w="med" type="none"/>
          </a:ln>
        </p:spPr>
      </p:cxnSp>
      <p:sp>
        <p:nvSpPr>
          <p:cNvPr id="372" name="Google Shape;372;p26"/>
          <p:cNvSpPr txBox="1"/>
          <p:nvPr/>
        </p:nvSpPr>
        <p:spPr>
          <a:xfrm>
            <a:off x="5400" y="828980"/>
            <a:ext cx="1485000" cy="741900"/>
          </a:xfrm>
          <a:prstGeom prst="rect">
            <a:avLst/>
          </a:prstGeom>
          <a:noFill/>
          <a:ln>
            <a:noFill/>
          </a:ln>
        </p:spPr>
        <p:txBody>
          <a:bodyPr anchorCtr="0" anchor="ctr" bIns="94475" lIns="94475" spcFirstLastPara="1" rIns="94475" wrap="square" tIns="94475">
            <a:noAutofit/>
          </a:bodyPr>
          <a:lstStyle/>
          <a:p>
            <a:pPr indent="0" lvl="0" marL="0" rtl="0" algn="r">
              <a:spcBef>
                <a:spcPts val="0"/>
              </a:spcBef>
              <a:spcAft>
                <a:spcPts val="0"/>
              </a:spcAft>
              <a:buNone/>
            </a:pPr>
            <a:r>
              <a:rPr i="1" lang="es" sz="1143">
                <a:solidFill>
                  <a:schemeClr val="lt1"/>
                </a:solidFill>
                <a:latin typeface="Lato"/>
                <a:ea typeface="Lato"/>
                <a:cs typeface="Lato"/>
                <a:sym typeface="Lato"/>
              </a:rPr>
              <a:t>Función pérdida, para </a:t>
            </a:r>
            <a:r>
              <a:rPr i="1" lang="es" sz="1143">
                <a:solidFill>
                  <a:schemeClr val="lt1"/>
                </a:solidFill>
                <a:latin typeface="Lato"/>
                <a:ea typeface="Lato"/>
                <a:cs typeface="Lato"/>
                <a:sym typeface="Lato"/>
              </a:rPr>
              <a:t>Clasificación</a:t>
            </a:r>
            <a:r>
              <a:rPr i="1" lang="es" sz="1143">
                <a:solidFill>
                  <a:schemeClr val="lt1"/>
                </a:solidFill>
                <a:latin typeface="Lato"/>
                <a:ea typeface="Lato"/>
                <a:cs typeface="Lato"/>
                <a:sym typeface="Lato"/>
              </a:rPr>
              <a:t> Binaria</a:t>
            </a:r>
            <a:endParaRPr i="1" sz="1143">
              <a:solidFill>
                <a:schemeClr val="lt1"/>
              </a:solidFill>
              <a:latin typeface="Lato"/>
              <a:ea typeface="Lato"/>
              <a:cs typeface="Lato"/>
              <a:sym typeface="Lato"/>
            </a:endParaRPr>
          </a:p>
          <a:p>
            <a:pPr indent="0" lvl="0" marL="0" rtl="0" algn="r">
              <a:spcBef>
                <a:spcPts val="0"/>
              </a:spcBef>
              <a:spcAft>
                <a:spcPts val="0"/>
              </a:spcAft>
              <a:buNone/>
            </a:pPr>
            <a:r>
              <a:rPr i="1" lang="es" sz="1143">
                <a:solidFill>
                  <a:schemeClr val="lt1"/>
                </a:solidFill>
                <a:latin typeface="Lato"/>
                <a:ea typeface="Lato"/>
                <a:cs typeface="Lato"/>
                <a:sym typeface="Lato"/>
              </a:rPr>
              <a:t>“logits” </a:t>
            </a:r>
            <a:endParaRPr i="1" sz="1143">
              <a:solidFill>
                <a:schemeClr val="lt1"/>
              </a:solidFill>
              <a:latin typeface="Lato"/>
              <a:ea typeface="Lato"/>
              <a:cs typeface="Lato"/>
              <a:sym typeface="Lato"/>
            </a:endParaRPr>
          </a:p>
        </p:txBody>
      </p:sp>
      <p:pic>
        <p:nvPicPr>
          <p:cNvPr id="373" name="Google Shape;373;p26" title="322-3225839_tnt-pytorch-machine-learning-logo.png"/>
          <p:cNvPicPr preferRelativeResize="0"/>
          <p:nvPr/>
        </p:nvPicPr>
        <p:blipFill>
          <a:blip r:embed="rId7">
            <a:alphaModFix/>
          </a:blip>
          <a:stretch>
            <a:fillRect/>
          </a:stretch>
        </p:blipFill>
        <p:spPr>
          <a:xfrm>
            <a:off x="6925391" y="288333"/>
            <a:ext cx="1265649" cy="255825"/>
          </a:xfrm>
          <a:prstGeom prst="rect">
            <a:avLst/>
          </a:prstGeom>
          <a:noFill/>
          <a:ln>
            <a:noFill/>
          </a:ln>
        </p:spPr>
      </p:pic>
      <p:sp>
        <p:nvSpPr>
          <p:cNvPr id="374" name="Google Shape;374;p26"/>
          <p:cNvSpPr/>
          <p:nvPr/>
        </p:nvSpPr>
        <p:spPr>
          <a:xfrm>
            <a:off x="8272901" y="359250"/>
            <a:ext cx="209700" cy="183900"/>
          </a:xfrm>
          <a:prstGeom prst="mathPlus">
            <a:avLst>
              <a:gd fmla="val 13671" name="adj1"/>
            </a:avLst>
          </a:prstGeom>
          <a:solidFill>
            <a:srgbClr val="FBE5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75" name="Google Shape;375;p26"/>
          <p:cNvCxnSpPr/>
          <p:nvPr/>
        </p:nvCxnSpPr>
        <p:spPr>
          <a:xfrm>
            <a:off x="5596695" y="1526763"/>
            <a:ext cx="2118000" cy="0"/>
          </a:xfrm>
          <a:prstGeom prst="straightConnector1">
            <a:avLst/>
          </a:prstGeom>
          <a:noFill/>
          <a:ln cap="flat" cmpd="sng" w="9850">
            <a:solidFill>
              <a:srgbClr val="0000FF"/>
            </a:solidFill>
            <a:prstDash val="solid"/>
            <a:round/>
            <a:headEnd len="med" w="med" type="oval"/>
            <a:tailEnd len="med" w="med" type="none"/>
          </a:ln>
        </p:spPr>
      </p:cxnSp>
      <p:sp>
        <p:nvSpPr>
          <p:cNvPr id="376" name="Google Shape;376;p26"/>
          <p:cNvSpPr txBox="1"/>
          <p:nvPr/>
        </p:nvSpPr>
        <p:spPr>
          <a:xfrm>
            <a:off x="7618375" y="1363826"/>
            <a:ext cx="1317900" cy="255900"/>
          </a:xfrm>
          <a:prstGeom prst="rect">
            <a:avLst/>
          </a:prstGeom>
          <a:noFill/>
          <a:ln>
            <a:noFill/>
          </a:ln>
        </p:spPr>
        <p:txBody>
          <a:bodyPr anchorCtr="0" anchor="ctr" bIns="94475" lIns="94475" spcFirstLastPara="1" rIns="94475" wrap="square" tIns="94475">
            <a:noAutofit/>
          </a:bodyPr>
          <a:lstStyle/>
          <a:p>
            <a:pPr indent="0" lvl="0" marL="0" rtl="0" algn="ctr">
              <a:spcBef>
                <a:spcPts val="0"/>
              </a:spcBef>
              <a:spcAft>
                <a:spcPts val="0"/>
              </a:spcAft>
              <a:buNone/>
            </a:pPr>
            <a:r>
              <a:rPr i="1" lang="es" sz="1143">
                <a:solidFill>
                  <a:schemeClr val="lt1"/>
                </a:solidFill>
                <a:latin typeface="Lato"/>
                <a:ea typeface="Lato"/>
                <a:cs typeface="Lato"/>
                <a:sym typeface="Lato"/>
              </a:rPr>
              <a:t>Learning</a:t>
            </a:r>
            <a:r>
              <a:rPr i="1" lang="es" sz="1143">
                <a:solidFill>
                  <a:schemeClr val="lt1"/>
                </a:solidFill>
                <a:latin typeface="Lato"/>
                <a:ea typeface="Lato"/>
                <a:cs typeface="Lato"/>
                <a:sym typeface="Lato"/>
              </a:rPr>
              <a:t> Rate</a:t>
            </a:r>
            <a:endParaRPr i="1" sz="1143">
              <a:solidFill>
                <a:schemeClr val="lt1"/>
              </a:solidFill>
              <a:latin typeface="Lato"/>
              <a:ea typeface="Lato"/>
              <a:cs typeface="Lato"/>
              <a:sym typeface="Lato"/>
            </a:endParaRPr>
          </a:p>
        </p:txBody>
      </p:sp>
      <p:sp>
        <p:nvSpPr>
          <p:cNvPr id="377" name="Google Shape;377;p26"/>
          <p:cNvSpPr/>
          <p:nvPr/>
        </p:nvSpPr>
        <p:spPr>
          <a:xfrm>
            <a:off x="3347044" y="3311400"/>
            <a:ext cx="4912500" cy="176400"/>
          </a:xfrm>
          <a:prstGeom prst="roundRect">
            <a:avLst>
              <a:gd fmla="val 16667" name="adj"/>
            </a:avLst>
          </a:prstGeom>
          <a:noFill/>
          <a:ln cap="flat" cmpd="sng" w="9125">
            <a:solidFill>
              <a:srgbClr val="0000FF"/>
            </a:solidFill>
            <a:prstDash val="solid"/>
            <a:round/>
            <a:headEnd len="sm" w="sm" type="none"/>
            <a:tailEnd len="sm" w="sm" type="none"/>
          </a:ln>
        </p:spPr>
        <p:txBody>
          <a:bodyPr anchorCtr="0" anchor="ctr" bIns="87700" lIns="87700" spcFirstLastPara="1" rIns="87700" wrap="square" tIns="87700">
            <a:noAutofit/>
          </a:bodyPr>
          <a:lstStyle/>
          <a:p>
            <a:pPr indent="0" lvl="0" marL="0" rtl="0" algn="ctr">
              <a:spcBef>
                <a:spcPts val="0"/>
              </a:spcBef>
              <a:spcAft>
                <a:spcPts val="0"/>
              </a:spcAft>
              <a:buNone/>
            </a:pPr>
            <a:r>
              <a:t/>
            </a:r>
            <a:endParaRPr sz="1342">
              <a:latin typeface="Lato"/>
              <a:ea typeface="Lato"/>
              <a:cs typeface="Lato"/>
              <a:sym typeface="Lato"/>
            </a:endParaRPr>
          </a:p>
        </p:txBody>
      </p:sp>
      <p:sp>
        <p:nvSpPr>
          <p:cNvPr id="378" name="Google Shape;378;p26"/>
          <p:cNvSpPr/>
          <p:nvPr/>
        </p:nvSpPr>
        <p:spPr>
          <a:xfrm>
            <a:off x="5134800" y="4583719"/>
            <a:ext cx="2488800" cy="176400"/>
          </a:xfrm>
          <a:prstGeom prst="roundRect">
            <a:avLst>
              <a:gd fmla="val 16667" name="adj"/>
            </a:avLst>
          </a:prstGeom>
          <a:noFill/>
          <a:ln cap="flat" cmpd="sng" w="9125">
            <a:solidFill>
              <a:srgbClr val="0000FF"/>
            </a:solidFill>
            <a:prstDash val="solid"/>
            <a:round/>
            <a:headEnd len="sm" w="sm" type="none"/>
            <a:tailEnd len="sm" w="sm" type="none"/>
          </a:ln>
        </p:spPr>
        <p:txBody>
          <a:bodyPr anchorCtr="0" anchor="ctr" bIns="87700" lIns="87700" spcFirstLastPara="1" rIns="87700" wrap="square" tIns="87700">
            <a:noAutofit/>
          </a:bodyPr>
          <a:lstStyle/>
          <a:p>
            <a:pPr indent="0" lvl="0" marL="0" rtl="0" algn="ctr">
              <a:spcBef>
                <a:spcPts val="0"/>
              </a:spcBef>
              <a:spcAft>
                <a:spcPts val="0"/>
              </a:spcAft>
              <a:buNone/>
            </a:pPr>
            <a:r>
              <a:t/>
            </a:r>
            <a:endParaRPr sz="1342">
              <a:latin typeface="Lato"/>
              <a:ea typeface="Lato"/>
              <a:cs typeface="Lato"/>
              <a:sym typeface="Lato"/>
            </a:endParaRPr>
          </a:p>
        </p:txBody>
      </p:sp>
      <p:cxnSp>
        <p:nvCxnSpPr>
          <p:cNvPr id="379" name="Google Shape;379;p26"/>
          <p:cNvCxnSpPr/>
          <p:nvPr/>
        </p:nvCxnSpPr>
        <p:spPr>
          <a:xfrm>
            <a:off x="3805775" y="1737075"/>
            <a:ext cx="3909000" cy="0"/>
          </a:xfrm>
          <a:prstGeom prst="straightConnector1">
            <a:avLst/>
          </a:prstGeom>
          <a:noFill/>
          <a:ln cap="flat" cmpd="sng" w="9850">
            <a:solidFill>
              <a:srgbClr val="0000FF"/>
            </a:solidFill>
            <a:prstDash val="solid"/>
            <a:round/>
            <a:headEnd len="med" w="med" type="oval"/>
            <a:tailEnd len="med" w="med" type="none"/>
          </a:ln>
        </p:spPr>
      </p:cxnSp>
      <p:sp>
        <p:nvSpPr>
          <p:cNvPr id="380" name="Google Shape;380;p26"/>
          <p:cNvSpPr txBox="1"/>
          <p:nvPr/>
        </p:nvSpPr>
        <p:spPr>
          <a:xfrm>
            <a:off x="7611687" y="1623162"/>
            <a:ext cx="1317900" cy="255900"/>
          </a:xfrm>
          <a:prstGeom prst="rect">
            <a:avLst/>
          </a:prstGeom>
          <a:noFill/>
          <a:ln>
            <a:noFill/>
          </a:ln>
        </p:spPr>
        <p:txBody>
          <a:bodyPr anchorCtr="0" anchor="ctr" bIns="94475" lIns="94475" spcFirstLastPara="1" rIns="94475" wrap="square" tIns="94475">
            <a:noAutofit/>
          </a:bodyPr>
          <a:lstStyle/>
          <a:p>
            <a:pPr indent="0" lvl="0" marL="0" rtl="0" algn="ctr">
              <a:spcBef>
                <a:spcPts val="0"/>
              </a:spcBef>
              <a:spcAft>
                <a:spcPts val="0"/>
              </a:spcAft>
              <a:buNone/>
            </a:pPr>
            <a:r>
              <a:rPr i="1" lang="es" sz="1143">
                <a:solidFill>
                  <a:schemeClr val="lt1"/>
                </a:solidFill>
                <a:latin typeface="Lato"/>
                <a:ea typeface="Lato"/>
                <a:cs typeface="Lato"/>
                <a:sym typeface="Lato"/>
              </a:rPr>
              <a:t>Red Neuronal</a:t>
            </a:r>
            <a:endParaRPr i="1" sz="1143">
              <a:solidFill>
                <a:schemeClr val="lt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id="385" name="Google Shape;385;p27"/>
          <p:cNvPicPr preferRelativeResize="0"/>
          <p:nvPr/>
        </p:nvPicPr>
        <p:blipFill>
          <a:blip r:embed="rId3">
            <a:alphaModFix amt="36000"/>
          </a:blip>
          <a:stretch>
            <a:fillRect/>
          </a:stretch>
        </p:blipFill>
        <p:spPr>
          <a:xfrm>
            <a:off x="0" y="0"/>
            <a:ext cx="9144000" cy="5143499"/>
          </a:xfrm>
          <a:prstGeom prst="rect">
            <a:avLst/>
          </a:prstGeom>
          <a:noFill/>
          <a:ln>
            <a:noFill/>
          </a:ln>
        </p:spPr>
      </p:pic>
      <p:sp>
        <p:nvSpPr>
          <p:cNvPr id="386" name="Google Shape;386;p27"/>
          <p:cNvSpPr txBox="1"/>
          <p:nvPr>
            <p:ph idx="1" type="body"/>
          </p:nvPr>
        </p:nvSpPr>
        <p:spPr>
          <a:xfrm>
            <a:off x="419475" y="189350"/>
            <a:ext cx="39147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s" sz="1600">
                <a:latin typeface="Montserrat"/>
                <a:ea typeface="Montserrat"/>
                <a:cs typeface="Montserrat"/>
                <a:sym typeface="Montserrat"/>
              </a:rPr>
              <a:t>#4- Evaluación del Modelo</a:t>
            </a:r>
            <a:endParaRPr b="1"/>
          </a:p>
        </p:txBody>
      </p:sp>
      <p:pic>
        <p:nvPicPr>
          <p:cNvPr id="387" name="Google Shape;387;p27" title="Py.png"/>
          <p:cNvPicPr preferRelativeResize="0"/>
          <p:nvPr/>
        </p:nvPicPr>
        <p:blipFill>
          <a:blip r:embed="rId4">
            <a:alphaModFix/>
          </a:blip>
          <a:stretch>
            <a:fillRect/>
          </a:stretch>
        </p:blipFill>
        <p:spPr>
          <a:xfrm>
            <a:off x="8500225" y="223775"/>
            <a:ext cx="420600" cy="420600"/>
          </a:xfrm>
          <a:prstGeom prst="rect">
            <a:avLst/>
          </a:prstGeom>
          <a:noFill/>
          <a:ln>
            <a:noFill/>
          </a:ln>
        </p:spPr>
      </p:pic>
      <p:pic>
        <p:nvPicPr>
          <p:cNvPr id="388" name="Google Shape;388;p27" title="Py.png"/>
          <p:cNvPicPr preferRelativeResize="0"/>
          <p:nvPr/>
        </p:nvPicPr>
        <p:blipFill>
          <a:blip r:embed="rId4">
            <a:alphaModFix/>
          </a:blip>
          <a:stretch>
            <a:fillRect/>
          </a:stretch>
        </p:blipFill>
        <p:spPr>
          <a:xfrm>
            <a:off x="8500225" y="223775"/>
            <a:ext cx="420600" cy="420600"/>
          </a:xfrm>
          <a:prstGeom prst="rect">
            <a:avLst/>
          </a:prstGeom>
          <a:noFill/>
          <a:ln>
            <a:noFill/>
          </a:ln>
        </p:spPr>
      </p:pic>
      <p:pic>
        <p:nvPicPr>
          <p:cNvPr id="389" name="Google Shape;389;p27" title="322-3225839_tnt-pytorch-machine-learning-logo.png"/>
          <p:cNvPicPr preferRelativeResize="0"/>
          <p:nvPr/>
        </p:nvPicPr>
        <p:blipFill>
          <a:blip r:embed="rId5">
            <a:alphaModFix/>
          </a:blip>
          <a:stretch>
            <a:fillRect/>
          </a:stretch>
        </p:blipFill>
        <p:spPr>
          <a:xfrm>
            <a:off x="6925391" y="288333"/>
            <a:ext cx="1265649" cy="255825"/>
          </a:xfrm>
          <a:prstGeom prst="rect">
            <a:avLst/>
          </a:prstGeom>
          <a:noFill/>
          <a:ln>
            <a:noFill/>
          </a:ln>
        </p:spPr>
      </p:pic>
      <p:sp>
        <p:nvSpPr>
          <p:cNvPr id="390" name="Google Shape;390;p27"/>
          <p:cNvSpPr/>
          <p:nvPr/>
        </p:nvSpPr>
        <p:spPr>
          <a:xfrm>
            <a:off x="8272901" y="359250"/>
            <a:ext cx="209700" cy="183900"/>
          </a:xfrm>
          <a:prstGeom prst="mathPlus">
            <a:avLst>
              <a:gd fmla="val 13671" name="adj1"/>
            </a:avLst>
          </a:prstGeom>
          <a:solidFill>
            <a:srgbClr val="FBE5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391" name="Google Shape;391;p27"/>
          <p:cNvPicPr preferRelativeResize="0"/>
          <p:nvPr/>
        </p:nvPicPr>
        <p:blipFill>
          <a:blip r:embed="rId6">
            <a:alphaModFix/>
          </a:blip>
          <a:stretch>
            <a:fillRect/>
          </a:stretch>
        </p:blipFill>
        <p:spPr>
          <a:xfrm>
            <a:off x="1412258" y="703005"/>
            <a:ext cx="6268800" cy="1836900"/>
          </a:xfrm>
          <a:prstGeom prst="roundRect">
            <a:avLst>
              <a:gd fmla="val 9280" name="adj"/>
            </a:avLst>
          </a:prstGeom>
          <a:noFill/>
          <a:ln cap="flat" cmpd="sng" w="15950">
            <a:solidFill>
              <a:srgbClr val="0000FF"/>
            </a:solidFill>
            <a:prstDash val="solid"/>
            <a:round/>
            <a:headEnd len="sm" w="sm" type="none"/>
            <a:tailEnd len="sm" w="sm" type="none"/>
          </a:ln>
        </p:spPr>
      </p:pic>
      <p:cxnSp>
        <p:nvCxnSpPr>
          <p:cNvPr id="392" name="Google Shape;392;p27"/>
          <p:cNvCxnSpPr/>
          <p:nvPr/>
        </p:nvCxnSpPr>
        <p:spPr>
          <a:xfrm rot="10800000">
            <a:off x="1267675" y="1562000"/>
            <a:ext cx="1889700" cy="0"/>
          </a:xfrm>
          <a:prstGeom prst="straightConnector1">
            <a:avLst/>
          </a:prstGeom>
          <a:noFill/>
          <a:ln cap="flat" cmpd="sng" w="9075">
            <a:solidFill>
              <a:srgbClr val="0000FF"/>
            </a:solidFill>
            <a:prstDash val="solid"/>
            <a:round/>
            <a:headEnd len="med" w="med" type="oval"/>
            <a:tailEnd len="med" w="med" type="none"/>
          </a:ln>
        </p:spPr>
      </p:cxnSp>
      <p:sp>
        <p:nvSpPr>
          <p:cNvPr id="393" name="Google Shape;393;p27"/>
          <p:cNvSpPr txBox="1"/>
          <p:nvPr/>
        </p:nvSpPr>
        <p:spPr>
          <a:xfrm>
            <a:off x="499513" y="1428435"/>
            <a:ext cx="878400" cy="255900"/>
          </a:xfrm>
          <a:prstGeom prst="rect">
            <a:avLst/>
          </a:prstGeom>
          <a:noFill/>
          <a:ln>
            <a:noFill/>
          </a:ln>
        </p:spPr>
        <p:txBody>
          <a:bodyPr anchorCtr="0" anchor="ctr" bIns="87100" lIns="87100" spcFirstLastPara="1" rIns="87100" wrap="square" tIns="87100">
            <a:noAutofit/>
          </a:bodyPr>
          <a:lstStyle/>
          <a:p>
            <a:pPr indent="0" lvl="0" marL="0" rtl="0" algn="l">
              <a:spcBef>
                <a:spcPts val="0"/>
              </a:spcBef>
              <a:spcAft>
                <a:spcPts val="0"/>
              </a:spcAft>
              <a:buNone/>
            </a:pPr>
            <a:r>
              <a:rPr i="1" lang="es" sz="1138">
                <a:solidFill>
                  <a:schemeClr val="lt1"/>
                </a:solidFill>
                <a:latin typeface="Lato"/>
                <a:ea typeface="Lato"/>
                <a:cs typeface="Lato"/>
                <a:sym typeface="Lato"/>
              </a:rPr>
              <a:t>Threshold</a:t>
            </a:r>
            <a:endParaRPr i="1" sz="1138">
              <a:solidFill>
                <a:schemeClr val="lt1"/>
              </a:solidFill>
              <a:latin typeface="Lato"/>
              <a:ea typeface="Lato"/>
              <a:cs typeface="Lato"/>
              <a:sym typeface="Lato"/>
            </a:endParaRPr>
          </a:p>
        </p:txBody>
      </p:sp>
      <p:cxnSp>
        <p:nvCxnSpPr>
          <p:cNvPr id="394" name="Google Shape;394;p27"/>
          <p:cNvCxnSpPr/>
          <p:nvPr/>
        </p:nvCxnSpPr>
        <p:spPr>
          <a:xfrm rot="10800000">
            <a:off x="1161625" y="2313668"/>
            <a:ext cx="325500" cy="0"/>
          </a:xfrm>
          <a:prstGeom prst="straightConnector1">
            <a:avLst/>
          </a:prstGeom>
          <a:noFill/>
          <a:ln cap="flat" cmpd="sng" w="9075">
            <a:solidFill>
              <a:srgbClr val="0000FF"/>
            </a:solidFill>
            <a:prstDash val="solid"/>
            <a:round/>
            <a:headEnd len="med" w="med" type="oval"/>
            <a:tailEnd len="med" w="med" type="none"/>
          </a:ln>
        </p:spPr>
      </p:cxnSp>
      <p:sp>
        <p:nvSpPr>
          <p:cNvPr id="395" name="Google Shape;395;p27"/>
          <p:cNvSpPr txBox="1"/>
          <p:nvPr/>
        </p:nvSpPr>
        <p:spPr>
          <a:xfrm>
            <a:off x="434676" y="2130282"/>
            <a:ext cx="878400" cy="366900"/>
          </a:xfrm>
          <a:prstGeom prst="rect">
            <a:avLst/>
          </a:prstGeom>
          <a:noFill/>
          <a:ln>
            <a:noFill/>
          </a:ln>
        </p:spPr>
        <p:txBody>
          <a:bodyPr anchorCtr="0" anchor="ctr" bIns="87100" lIns="87100" spcFirstLastPara="1" rIns="87100" wrap="square" tIns="87100">
            <a:noAutofit/>
          </a:bodyPr>
          <a:lstStyle/>
          <a:p>
            <a:pPr indent="0" lvl="0" marL="0" rtl="0" algn="l">
              <a:spcBef>
                <a:spcPts val="0"/>
              </a:spcBef>
              <a:spcAft>
                <a:spcPts val="0"/>
              </a:spcAft>
              <a:buNone/>
            </a:pPr>
            <a:r>
              <a:rPr i="1" lang="es" sz="1138">
                <a:solidFill>
                  <a:schemeClr val="lt1"/>
                </a:solidFill>
                <a:latin typeface="Lato"/>
                <a:ea typeface="Lato"/>
                <a:cs typeface="Lato"/>
                <a:sym typeface="Lato"/>
              </a:rPr>
              <a:t>F2-Score </a:t>
            </a:r>
            <a:endParaRPr i="1" sz="1138">
              <a:solidFill>
                <a:schemeClr val="lt1"/>
              </a:solidFill>
              <a:latin typeface="Lato"/>
              <a:ea typeface="Lato"/>
              <a:cs typeface="Lato"/>
              <a:sym typeface="Lato"/>
            </a:endParaRPr>
          </a:p>
          <a:p>
            <a:pPr indent="0" lvl="0" marL="0" rtl="0" algn="l">
              <a:spcBef>
                <a:spcPts val="0"/>
              </a:spcBef>
              <a:spcAft>
                <a:spcPts val="0"/>
              </a:spcAft>
              <a:buNone/>
            </a:pPr>
            <a:r>
              <a:rPr i="1" lang="es" sz="1138">
                <a:solidFill>
                  <a:schemeClr val="lt1"/>
                </a:solidFill>
                <a:latin typeface="Lato"/>
                <a:ea typeface="Lato"/>
                <a:cs typeface="Lato"/>
                <a:sym typeface="Lato"/>
              </a:rPr>
              <a:t>(Recall)</a:t>
            </a:r>
            <a:endParaRPr i="1" sz="1138">
              <a:solidFill>
                <a:schemeClr val="lt1"/>
              </a:solidFill>
              <a:latin typeface="Lato"/>
              <a:ea typeface="Lato"/>
              <a:cs typeface="Lato"/>
              <a:sym typeface="Lato"/>
            </a:endParaRPr>
          </a:p>
        </p:txBody>
      </p:sp>
      <p:pic>
        <p:nvPicPr>
          <p:cNvPr id="396" name="Google Shape;396;p27"/>
          <p:cNvPicPr preferRelativeResize="0"/>
          <p:nvPr/>
        </p:nvPicPr>
        <p:blipFill>
          <a:blip r:embed="rId7">
            <a:alphaModFix/>
          </a:blip>
          <a:stretch>
            <a:fillRect/>
          </a:stretch>
        </p:blipFill>
        <p:spPr>
          <a:xfrm>
            <a:off x="4478548" y="2651875"/>
            <a:ext cx="3202500" cy="1384800"/>
          </a:xfrm>
          <a:prstGeom prst="roundRect">
            <a:avLst>
              <a:gd fmla="val 6700" name="adj"/>
            </a:avLst>
          </a:prstGeom>
          <a:noFill/>
          <a:ln cap="flat" cmpd="sng" w="26675">
            <a:solidFill>
              <a:srgbClr val="FFFF00"/>
            </a:solidFill>
            <a:prstDash val="solid"/>
            <a:round/>
            <a:headEnd len="sm" w="sm" type="none"/>
            <a:tailEnd len="sm" w="sm" type="none"/>
          </a:ln>
        </p:spPr>
      </p:pic>
      <p:pic>
        <p:nvPicPr>
          <p:cNvPr id="397" name="Google Shape;397;p27"/>
          <p:cNvPicPr preferRelativeResize="0"/>
          <p:nvPr/>
        </p:nvPicPr>
        <p:blipFill>
          <a:blip r:embed="rId8">
            <a:alphaModFix/>
          </a:blip>
          <a:stretch>
            <a:fillRect/>
          </a:stretch>
        </p:blipFill>
        <p:spPr>
          <a:xfrm>
            <a:off x="1726711" y="2651876"/>
            <a:ext cx="2633700" cy="2346600"/>
          </a:xfrm>
          <a:prstGeom prst="roundRect">
            <a:avLst>
              <a:gd fmla="val 5232" name="adj"/>
            </a:avLst>
          </a:prstGeom>
          <a:noFill/>
          <a:ln cap="flat" cmpd="sng" w="26675">
            <a:solidFill>
              <a:srgbClr val="FFFF00"/>
            </a:solidFill>
            <a:prstDash val="solid"/>
            <a:round/>
            <a:headEnd len="sm" w="sm" type="none"/>
            <a:tailEnd len="sm" w="sm" type="none"/>
          </a:ln>
        </p:spPr>
      </p:pic>
      <p:sp>
        <p:nvSpPr>
          <p:cNvPr id="398" name="Google Shape;398;p27"/>
          <p:cNvSpPr/>
          <p:nvPr/>
        </p:nvSpPr>
        <p:spPr>
          <a:xfrm rot="4538656">
            <a:off x="991641" y="2687907"/>
            <a:ext cx="665480" cy="349911"/>
          </a:xfrm>
          <a:prstGeom prst="curvedUpArrow">
            <a:avLst>
              <a:gd fmla="val 25000" name="adj1"/>
              <a:gd fmla="val 50000" name="adj2"/>
              <a:gd fmla="val 25000" name="adj3"/>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9" name="Google Shape;399;p27"/>
          <p:cNvSpPr/>
          <p:nvPr/>
        </p:nvSpPr>
        <p:spPr>
          <a:xfrm>
            <a:off x="4510725" y="3044675"/>
            <a:ext cx="2007900" cy="287100"/>
          </a:xfrm>
          <a:prstGeom prst="roundRect">
            <a:avLst>
              <a:gd fmla="val 16667" name="adj"/>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00" name="Google Shape;400;p27"/>
          <p:cNvCxnSpPr/>
          <p:nvPr/>
        </p:nvCxnSpPr>
        <p:spPr>
          <a:xfrm rot="10800000">
            <a:off x="1122250" y="1306513"/>
            <a:ext cx="2131500" cy="0"/>
          </a:xfrm>
          <a:prstGeom prst="straightConnector1">
            <a:avLst/>
          </a:prstGeom>
          <a:noFill/>
          <a:ln cap="flat" cmpd="sng" w="9075">
            <a:solidFill>
              <a:srgbClr val="0000FF"/>
            </a:solidFill>
            <a:prstDash val="solid"/>
            <a:round/>
            <a:headEnd len="med" w="med" type="oval"/>
            <a:tailEnd len="med" w="med" type="none"/>
          </a:ln>
        </p:spPr>
      </p:cxnSp>
      <p:sp>
        <p:nvSpPr>
          <p:cNvPr id="401" name="Google Shape;401;p27"/>
          <p:cNvSpPr txBox="1"/>
          <p:nvPr/>
        </p:nvSpPr>
        <p:spPr>
          <a:xfrm>
            <a:off x="55500" y="974324"/>
            <a:ext cx="1128000" cy="454200"/>
          </a:xfrm>
          <a:prstGeom prst="rect">
            <a:avLst/>
          </a:prstGeom>
          <a:noFill/>
          <a:ln>
            <a:noFill/>
          </a:ln>
        </p:spPr>
        <p:txBody>
          <a:bodyPr anchorCtr="0" anchor="ctr" bIns="87100" lIns="87100" spcFirstLastPara="1" rIns="87100" wrap="square" tIns="87100">
            <a:noAutofit/>
          </a:bodyPr>
          <a:lstStyle/>
          <a:p>
            <a:pPr indent="0" lvl="0" marL="0" rtl="0" algn="ctr">
              <a:spcBef>
                <a:spcPts val="0"/>
              </a:spcBef>
              <a:spcAft>
                <a:spcPts val="0"/>
              </a:spcAft>
              <a:buNone/>
            </a:pPr>
            <a:r>
              <a:rPr i="1" lang="es" sz="1138">
                <a:solidFill>
                  <a:schemeClr val="lt1"/>
                </a:solidFill>
                <a:latin typeface="Lato"/>
                <a:ea typeface="Lato"/>
                <a:cs typeface="Lato"/>
                <a:sym typeface="Lato"/>
              </a:rPr>
              <a:t>Sigmoid</a:t>
            </a:r>
            <a:endParaRPr i="1" sz="1138">
              <a:solidFill>
                <a:schemeClr val="lt1"/>
              </a:solidFill>
              <a:latin typeface="Lato"/>
              <a:ea typeface="Lato"/>
              <a:cs typeface="Lato"/>
              <a:sym typeface="Lato"/>
            </a:endParaRPr>
          </a:p>
          <a:p>
            <a:pPr indent="0" lvl="0" marL="0" rtl="0" algn="ctr">
              <a:spcBef>
                <a:spcPts val="0"/>
              </a:spcBef>
              <a:spcAft>
                <a:spcPts val="0"/>
              </a:spcAft>
              <a:buNone/>
            </a:pPr>
            <a:r>
              <a:rPr i="1" lang="es" sz="1138">
                <a:solidFill>
                  <a:schemeClr val="lt1"/>
                </a:solidFill>
                <a:latin typeface="Lato"/>
                <a:ea typeface="Lato"/>
                <a:cs typeface="Lato"/>
                <a:sym typeface="Lato"/>
              </a:rPr>
              <a:t>“logits”</a:t>
            </a:r>
            <a:endParaRPr i="1" sz="1138">
              <a:solidFill>
                <a:schemeClr val="lt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5" name="Shape 405"/>
        <p:cNvGrpSpPr/>
        <p:nvPr/>
      </p:nvGrpSpPr>
      <p:grpSpPr>
        <a:xfrm>
          <a:off x="0" y="0"/>
          <a:ext cx="0" cy="0"/>
          <a:chOff x="0" y="0"/>
          <a:chExt cx="0" cy="0"/>
        </a:xfrm>
      </p:grpSpPr>
      <p:sp>
        <p:nvSpPr>
          <p:cNvPr id="406" name="Google Shape;406;p28"/>
          <p:cNvSpPr/>
          <p:nvPr/>
        </p:nvSpPr>
        <p:spPr>
          <a:xfrm rot="5400000">
            <a:off x="-676437" y="2362639"/>
            <a:ext cx="3254700" cy="1318800"/>
          </a:xfrm>
          <a:prstGeom prst="roundRect">
            <a:avLst>
              <a:gd fmla="val 9482" name="adj"/>
            </a:avLst>
          </a:prstGeom>
          <a:noFill/>
          <a:ln cap="flat" cmpd="sng" w="28575">
            <a:solidFill>
              <a:schemeClr val="lt1"/>
            </a:solidFill>
            <a:prstDash val="solid"/>
            <a:round/>
            <a:headEnd len="sm" w="sm" type="none"/>
            <a:tailEnd len="sm" w="sm" type="none"/>
          </a:ln>
        </p:spPr>
        <p:txBody>
          <a:bodyPr anchorCtr="0" anchor="ctr" bIns="87150" lIns="87150" spcFirstLastPara="1" rIns="87150" wrap="square" tIns="87150">
            <a:noAutofit/>
          </a:bodyPr>
          <a:lstStyle/>
          <a:p>
            <a:pPr indent="0" lvl="0" marL="0" rtl="0" algn="ctr">
              <a:spcBef>
                <a:spcPts val="0"/>
              </a:spcBef>
              <a:spcAft>
                <a:spcPts val="0"/>
              </a:spcAft>
              <a:buNone/>
            </a:pPr>
            <a:r>
              <a:t/>
            </a:r>
            <a:endParaRPr sz="1334">
              <a:latin typeface="Lato"/>
              <a:ea typeface="Lato"/>
              <a:cs typeface="Lato"/>
              <a:sym typeface="Lato"/>
            </a:endParaRPr>
          </a:p>
        </p:txBody>
      </p:sp>
      <p:pic>
        <p:nvPicPr>
          <p:cNvPr id="407" name="Google Shape;407;p28"/>
          <p:cNvPicPr preferRelativeResize="0"/>
          <p:nvPr/>
        </p:nvPicPr>
        <p:blipFill rotWithShape="1">
          <a:blip r:embed="rId4">
            <a:alphaModFix/>
          </a:blip>
          <a:srcRect b="2790" l="0" r="0" t="7200"/>
          <a:stretch/>
        </p:blipFill>
        <p:spPr>
          <a:xfrm>
            <a:off x="2257770" y="1819327"/>
            <a:ext cx="5255700" cy="2773200"/>
          </a:xfrm>
          <a:prstGeom prst="roundRect">
            <a:avLst>
              <a:gd fmla="val 3409" name="adj"/>
            </a:avLst>
          </a:prstGeom>
          <a:noFill/>
          <a:ln cap="flat" cmpd="sng" w="26500">
            <a:solidFill>
              <a:srgbClr val="FFFF00"/>
            </a:solidFill>
            <a:prstDash val="solid"/>
            <a:round/>
            <a:headEnd len="sm" w="sm" type="none"/>
            <a:tailEnd len="sm" w="sm" type="none"/>
          </a:ln>
        </p:spPr>
      </p:pic>
      <p:sp>
        <p:nvSpPr>
          <p:cNvPr id="408" name="Google Shape;408;p28"/>
          <p:cNvSpPr txBox="1"/>
          <p:nvPr/>
        </p:nvSpPr>
        <p:spPr>
          <a:xfrm>
            <a:off x="299613" y="1389621"/>
            <a:ext cx="1318800" cy="591600"/>
          </a:xfrm>
          <a:prstGeom prst="rect">
            <a:avLst/>
          </a:prstGeom>
          <a:noFill/>
          <a:ln>
            <a:noFill/>
          </a:ln>
        </p:spPr>
        <p:txBody>
          <a:bodyPr anchorCtr="0" anchor="ctr" bIns="79550" lIns="79550" spcFirstLastPara="1" rIns="79550" wrap="square" tIns="79550">
            <a:spAutoFit/>
          </a:bodyPr>
          <a:lstStyle/>
          <a:p>
            <a:pPr indent="0" lvl="0" marL="0" marR="0" rtl="0" algn="ctr">
              <a:lnSpc>
                <a:spcPct val="100000"/>
              </a:lnSpc>
              <a:spcBef>
                <a:spcPts val="0"/>
              </a:spcBef>
              <a:spcAft>
                <a:spcPts val="0"/>
              </a:spcAft>
              <a:buNone/>
            </a:pPr>
            <a:r>
              <a:rPr b="1" lang="es">
                <a:solidFill>
                  <a:schemeClr val="lt1"/>
                </a:solidFill>
                <a:latin typeface="Montserrat"/>
                <a:ea typeface="Montserrat"/>
                <a:cs typeface="Montserrat"/>
                <a:sym typeface="Montserrat"/>
              </a:rPr>
              <a:t>FakeNews</a:t>
            </a:r>
            <a:endParaRPr b="1">
              <a:solidFill>
                <a:schemeClr val="lt1"/>
              </a:solidFill>
              <a:latin typeface="Montserrat"/>
              <a:ea typeface="Montserrat"/>
              <a:cs typeface="Montserrat"/>
              <a:sym typeface="Montserrat"/>
            </a:endParaRPr>
          </a:p>
          <a:p>
            <a:pPr indent="0" lvl="0" marL="0" marR="0" rtl="0" algn="ctr">
              <a:lnSpc>
                <a:spcPct val="100000"/>
              </a:lnSpc>
              <a:spcBef>
                <a:spcPts val="0"/>
              </a:spcBef>
              <a:spcAft>
                <a:spcPts val="0"/>
              </a:spcAft>
              <a:buNone/>
            </a:pPr>
            <a:r>
              <a:rPr b="1" lang="es">
                <a:solidFill>
                  <a:schemeClr val="lt1"/>
                </a:solidFill>
                <a:latin typeface="Montserrat"/>
                <a:ea typeface="Montserrat"/>
                <a:cs typeface="Montserrat"/>
                <a:sym typeface="Montserrat"/>
              </a:rPr>
              <a:t>Classifier</a:t>
            </a:r>
            <a:endParaRPr b="1">
              <a:solidFill>
                <a:schemeClr val="lt1"/>
              </a:solidFill>
              <a:latin typeface="Montserrat"/>
              <a:ea typeface="Montserrat"/>
              <a:cs typeface="Montserrat"/>
              <a:sym typeface="Montserrat"/>
            </a:endParaRPr>
          </a:p>
        </p:txBody>
      </p:sp>
      <p:pic>
        <p:nvPicPr>
          <p:cNvPr id="409" name="Google Shape;409;p28"/>
          <p:cNvPicPr preferRelativeResize="0"/>
          <p:nvPr/>
        </p:nvPicPr>
        <p:blipFill rotWithShape="1">
          <a:blip r:embed="rId5">
            <a:alphaModFix/>
          </a:blip>
          <a:srcRect b="0" l="5896" r="17421" t="0"/>
          <a:stretch/>
        </p:blipFill>
        <p:spPr>
          <a:xfrm>
            <a:off x="4400852" y="2348152"/>
            <a:ext cx="4549800" cy="2244600"/>
          </a:xfrm>
          <a:prstGeom prst="roundRect">
            <a:avLst>
              <a:gd fmla="val 7499" name="adj"/>
            </a:avLst>
          </a:prstGeom>
          <a:noFill/>
          <a:ln cap="flat" cmpd="sng" w="26500">
            <a:solidFill>
              <a:srgbClr val="0000FF"/>
            </a:solidFill>
            <a:prstDash val="solid"/>
            <a:round/>
            <a:headEnd len="sm" w="sm" type="none"/>
            <a:tailEnd len="sm" w="sm" type="none"/>
          </a:ln>
        </p:spPr>
      </p:pic>
      <p:grpSp>
        <p:nvGrpSpPr>
          <p:cNvPr id="410" name="Google Shape;410;p28"/>
          <p:cNvGrpSpPr/>
          <p:nvPr/>
        </p:nvGrpSpPr>
        <p:grpSpPr>
          <a:xfrm>
            <a:off x="438988" y="2064415"/>
            <a:ext cx="1016673" cy="1016673"/>
            <a:chOff x="1359550" y="3154500"/>
            <a:chExt cx="1018200" cy="1018200"/>
          </a:xfrm>
        </p:grpSpPr>
        <p:sp>
          <p:nvSpPr>
            <p:cNvPr id="411" name="Google Shape;411;p28"/>
            <p:cNvSpPr/>
            <p:nvPr/>
          </p:nvSpPr>
          <p:spPr>
            <a:xfrm>
              <a:off x="1359550" y="3154500"/>
              <a:ext cx="1018200" cy="1018200"/>
            </a:xfrm>
            <a:prstGeom prst="ellipse">
              <a:avLst/>
            </a:prstGeom>
            <a:solidFill>
              <a:srgbClr val="FFFFFF"/>
            </a:solidFill>
            <a:ln>
              <a:noFill/>
            </a:ln>
          </p:spPr>
          <p:txBody>
            <a:bodyPr anchorCtr="0" anchor="ctr" bIns="91300" lIns="91300" spcFirstLastPara="1" rIns="91300" wrap="square" tIns="91300">
              <a:noAutofit/>
            </a:bodyPr>
            <a:lstStyle/>
            <a:p>
              <a:pPr indent="0" lvl="0" marL="0" rtl="0" algn="l">
                <a:spcBef>
                  <a:spcPts val="0"/>
                </a:spcBef>
                <a:spcAft>
                  <a:spcPts val="0"/>
                </a:spcAft>
                <a:buNone/>
              </a:pPr>
              <a:r>
                <a:t/>
              </a:r>
              <a:endParaRPr/>
            </a:p>
          </p:txBody>
        </p:sp>
        <p:sp>
          <p:nvSpPr>
            <p:cNvPr id="412" name="Google Shape;412;p28"/>
            <p:cNvSpPr/>
            <p:nvPr/>
          </p:nvSpPr>
          <p:spPr>
            <a:xfrm>
              <a:off x="1409800" y="3204750"/>
              <a:ext cx="917700" cy="917700"/>
            </a:xfrm>
            <a:prstGeom prst="ellipse">
              <a:avLst/>
            </a:prstGeom>
            <a:solidFill>
              <a:srgbClr val="CCCCCC"/>
            </a:solidFill>
            <a:ln>
              <a:noFill/>
            </a:ln>
          </p:spPr>
          <p:txBody>
            <a:bodyPr anchorCtr="0" anchor="ctr" bIns="91300" lIns="91300" spcFirstLastPara="1" rIns="91300" wrap="square" tIns="91300">
              <a:noAutofit/>
            </a:bodyPr>
            <a:lstStyle/>
            <a:p>
              <a:pPr indent="0" lvl="0" marL="0" rtl="0" algn="l">
                <a:spcBef>
                  <a:spcPts val="0"/>
                </a:spcBef>
                <a:spcAft>
                  <a:spcPts val="0"/>
                </a:spcAft>
                <a:buNone/>
              </a:pPr>
              <a:r>
                <a:t/>
              </a:r>
              <a:endParaRPr/>
            </a:p>
          </p:txBody>
        </p:sp>
        <p:sp>
          <p:nvSpPr>
            <p:cNvPr id="413" name="Google Shape;413;p28"/>
            <p:cNvSpPr/>
            <p:nvPr/>
          </p:nvSpPr>
          <p:spPr>
            <a:xfrm>
              <a:off x="1409800" y="3204750"/>
              <a:ext cx="917700" cy="917700"/>
            </a:xfrm>
            <a:prstGeom prst="pie">
              <a:avLst>
                <a:gd fmla="val 0" name="adj1"/>
                <a:gd fmla="val 19351369" name="adj2"/>
              </a:avLst>
            </a:prstGeom>
            <a:solidFill>
              <a:srgbClr val="0176BB"/>
            </a:solidFill>
            <a:ln>
              <a:noFill/>
            </a:ln>
          </p:spPr>
          <p:txBody>
            <a:bodyPr anchorCtr="0" anchor="ctr" bIns="91300" lIns="91300" spcFirstLastPara="1" rIns="91300" wrap="square" tIns="91300">
              <a:noAutofit/>
            </a:bodyPr>
            <a:lstStyle/>
            <a:p>
              <a:pPr indent="0" lvl="0" marL="0" rtl="0" algn="l">
                <a:spcBef>
                  <a:spcPts val="0"/>
                </a:spcBef>
                <a:spcAft>
                  <a:spcPts val="0"/>
                </a:spcAft>
                <a:buNone/>
              </a:pPr>
              <a:r>
                <a:t/>
              </a:r>
              <a:endParaRPr sz="1334"/>
            </a:p>
          </p:txBody>
        </p:sp>
        <p:sp>
          <p:nvSpPr>
            <p:cNvPr id="414" name="Google Shape;414;p28"/>
            <p:cNvSpPr/>
            <p:nvPr/>
          </p:nvSpPr>
          <p:spPr>
            <a:xfrm>
              <a:off x="1540600" y="3335550"/>
              <a:ext cx="656100" cy="656100"/>
            </a:xfrm>
            <a:prstGeom prst="ellipse">
              <a:avLst/>
            </a:prstGeom>
            <a:solidFill>
              <a:schemeClr val="dk1"/>
            </a:solidFill>
            <a:ln>
              <a:noFill/>
            </a:ln>
          </p:spPr>
          <p:txBody>
            <a:bodyPr anchorCtr="0" anchor="ctr" bIns="91300" lIns="91300" spcFirstLastPara="1" rIns="91300" wrap="square" tIns="91300">
              <a:noAutofit/>
            </a:bodyPr>
            <a:lstStyle/>
            <a:p>
              <a:pPr indent="0" lvl="0" marL="0" rtl="0" algn="l">
                <a:spcBef>
                  <a:spcPts val="0"/>
                </a:spcBef>
                <a:spcAft>
                  <a:spcPts val="0"/>
                </a:spcAft>
                <a:buNone/>
              </a:pPr>
              <a:r>
                <a:t/>
              </a:r>
              <a:endParaRPr/>
            </a:p>
          </p:txBody>
        </p:sp>
      </p:grpSp>
      <p:sp>
        <p:nvSpPr>
          <p:cNvPr id="415" name="Google Shape;415;p28"/>
          <p:cNvSpPr txBox="1"/>
          <p:nvPr/>
        </p:nvSpPr>
        <p:spPr>
          <a:xfrm>
            <a:off x="382802" y="2975918"/>
            <a:ext cx="1129500" cy="435600"/>
          </a:xfrm>
          <a:prstGeom prst="rect">
            <a:avLst/>
          </a:prstGeom>
          <a:noFill/>
          <a:ln>
            <a:noFill/>
          </a:ln>
        </p:spPr>
        <p:txBody>
          <a:bodyPr anchorCtr="0" anchor="ctr" bIns="91300" lIns="91300" spcFirstLastPara="1" rIns="91300" wrap="square" tIns="91300">
            <a:noAutofit/>
          </a:bodyPr>
          <a:lstStyle/>
          <a:p>
            <a:pPr indent="0" lvl="0" marL="0" rtl="0" algn="ctr">
              <a:lnSpc>
                <a:spcPct val="100000"/>
              </a:lnSpc>
              <a:spcBef>
                <a:spcPts val="0"/>
              </a:spcBef>
              <a:spcAft>
                <a:spcPts val="0"/>
              </a:spcAft>
              <a:buNone/>
            </a:pPr>
            <a:r>
              <a:rPr b="1" lang="es" sz="1524">
                <a:solidFill>
                  <a:schemeClr val="lt1"/>
                </a:solidFill>
                <a:latin typeface="Montserrat"/>
                <a:ea typeface="Montserrat"/>
                <a:cs typeface="Montserrat"/>
                <a:sym typeface="Montserrat"/>
              </a:rPr>
              <a:t>Accuracy</a:t>
            </a:r>
            <a:endParaRPr b="1" sz="1370">
              <a:solidFill>
                <a:schemeClr val="lt1"/>
              </a:solidFill>
              <a:latin typeface="Lato"/>
              <a:ea typeface="Lato"/>
              <a:cs typeface="Lato"/>
              <a:sym typeface="Lato"/>
            </a:endParaRPr>
          </a:p>
        </p:txBody>
      </p:sp>
      <p:sp>
        <p:nvSpPr>
          <p:cNvPr id="416" name="Google Shape;416;p28"/>
          <p:cNvSpPr txBox="1"/>
          <p:nvPr/>
        </p:nvSpPr>
        <p:spPr>
          <a:xfrm>
            <a:off x="592415" y="2339900"/>
            <a:ext cx="733200" cy="435600"/>
          </a:xfrm>
          <a:prstGeom prst="rect">
            <a:avLst/>
          </a:prstGeom>
          <a:noFill/>
          <a:ln>
            <a:noFill/>
          </a:ln>
        </p:spPr>
        <p:txBody>
          <a:bodyPr anchorCtr="0" anchor="ctr" bIns="91300" lIns="91300" spcFirstLastPara="1" rIns="91300" wrap="square" tIns="91300">
            <a:noAutofit/>
          </a:bodyPr>
          <a:lstStyle/>
          <a:p>
            <a:pPr indent="0" lvl="0" marL="0" rtl="0" algn="ctr">
              <a:lnSpc>
                <a:spcPct val="100000"/>
              </a:lnSpc>
              <a:spcBef>
                <a:spcPts val="0"/>
              </a:spcBef>
              <a:spcAft>
                <a:spcPts val="0"/>
              </a:spcAft>
              <a:buNone/>
            </a:pPr>
            <a:r>
              <a:rPr lang="es" sz="1238">
                <a:solidFill>
                  <a:schemeClr val="lt1"/>
                </a:solidFill>
                <a:latin typeface="Montserrat"/>
                <a:ea typeface="Montserrat"/>
                <a:cs typeface="Montserrat"/>
                <a:sym typeface="Montserrat"/>
              </a:rPr>
              <a:t>93.78%</a:t>
            </a:r>
            <a:endParaRPr b="1" sz="1238">
              <a:solidFill>
                <a:schemeClr val="lt1"/>
              </a:solidFill>
              <a:latin typeface="Lato"/>
              <a:ea typeface="Lato"/>
              <a:cs typeface="Lato"/>
              <a:sym typeface="Lato"/>
            </a:endParaRPr>
          </a:p>
        </p:txBody>
      </p:sp>
      <p:grpSp>
        <p:nvGrpSpPr>
          <p:cNvPr id="417" name="Google Shape;417;p28"/>
          <p:cNvGrpSpPr/>
          <p:nvPr/>
        </p:nvGrpSpPr>
        <p:grpSpPr>
          <a:xfrm>
            <a:off x="430969" y="3371574"/>
            <a:ext cx="1016673" cy="1016673"/>
            <a:chOff x="1359550" y="3154500"/>
            <a:chExt cx="1018200" cy="1018200"/>
          </a:xfrm>
        </p:grpSpPr>
        <p:sp>
          <p:nvSpPr>
            <p:cNvPr id="418" name="Google Shape;418;p28"/>
            <p:cNvSpPr/>
            <p:nvPr/>
          </p:nvSpPr>
          <p:spPr>
            <a:xfrm>
              <a:off x="1359550" y="3154500"/>
              <a:ext cx="1018200" cy="1018200"/>
            </a:xfrm>
            <a:prstGeom prst="ellipse">
              <a:avLst/>
            </a:prstGeom>
            <a:solidFill>
              <a:srgbClr val="FFFFFF"/>
            </a:solidFill>
            <a:ln>
              <a:noFill/>
            </a:ln>
          </p:spPr>
          <p:txBody>
            <a:bodyPr anchorCtr="0" anchor="ctr" bIns="91300" lIns="91300" spcFirstLastPara="1" rIns="91300" wrap="square" tIns="91300">
              <a:noAutofit/>
            </a:bodyPr>
            <a:lstStyle/>
            <a:p>
              <a:pPr indent="0" lvl="0" marL="0" rtl="0" algn="l">
                <a:spcBef>
                  <a:spcPts val="0"/>
                </a:spcBef>
                <a:spcAft>
                  <a:spcPts val="0"/>
                </a:spcAft>
                <a:buNone/>
              </a:pPr>
              <a:r>
                <a:t/>
              </a:r>
              <a:endParaRPr/>
            </a:p>
          </p:txBody>
        </p:sp>
        <p:sp>
          <p:nvSpPr>
            <p:cNvPr id="419" name="Google Shape;419;p28"/>
            <p:cNvSpPr/>
            <p:nvPr/>
          </p:nvSpPr>
          <p:spPr>
            <a:xfrm>
              <a:off x="1409800" y="3204750"/>
              <a:ext cx="917700" cy="917700"/>
            </a:xfrm>
            <a:prstGeom prst="ellipse">
              <a:avLst/>
            </a:prstGeom>
            <a:solidFill>
              <a:srgbClr val="CCCCCC"/>
            </a:solidFill>
            <a:ln>
              <a:noFill/>
            </a:ln>
          </p:spPr>
          <p:txBody>
            <a:bodyPr anchorCtr="0" anchor="ctr" bIns="91300" lIns="91300" spcFirstLastPara="1" rIns="91300" wrap="square" tIns="91300">
              <a:noAutofit/>
            </a:bodyPr>
            <a:lstStyle/>
            <a:p>
              <a:pPr indent="0" lvl="0" marL="0" rtl="0" algn="l">
                <a:spcBef>
                  <a:spcPts val="0"/>
                </a:spcBef>
                <a:spcAft>
                  <a:spcPts val="0"/>
                </a:spcAft>
                <a:buNone/>
              </a:pPr>
              <a:r>
                <a:t/>
              </a:r>
              <a:endParaRPr/>
            </a:p>
          </p:txBody>
        </p:sp>
        <p:sp>
          <p:nvSpPr>
            <p:cNvPr id="420" name="Google Shape;420;p28"/>
            <p:cNvSpPr/>
            <p:nvPr/>
          </p:nvSpPr>
          <p:spPr>
            <a:xfrm>
              <a:off x="1409800" y="3204750"/>
              <a:ext cx="917700" cy="917700"/>
            </a:xfrm>
            <a:prstGeom prst="pie">
              <a:avLst>
                <a:gd fmla="val 0" name="adj1"/>
                <a:gd fmla="val 20029913" name="adj2"/>
              </a:avLst>
            </a:prstGeom>
            <a:solidFill>
              <a:srgbClr val="FDBF07"/>
            </a:solidFill>
            <a:ln>
              <a:noFill/>
            </a:ln>
          </p:spPr>
          <p:txBody>
            <a:bodyPr anchorCtr="0" anchor="ctr" bIns="91300" lIns="91300" spcFirstLastPara="1" rIns="91300" wrap="square" tIns="91300">
              <a:noAutofit/>
            </a:bodyPr>
            <a:lstStyle/>
            <a:p>
              <a:pPr indent="0" lvl="0" marL="0" rtl="0" algn="l">
                <a:spcBef>
                  <a:spcPts val="0"/>
                </a:spcBef>
                <a:spcAft>
                  <a:spcPts val="0"/>
                </a:spcAft>
                <a:buNone/>
              </a:pPr>
              <a:r>
                <a:t/>
              </a:r>
              <a:endParaRPr sz="1334"/>
            </a:p>
          </p:txBody>
        </p:sp>
        <p:sp>
          <p:nvSpPr>
            <p:cNvPr id="421" name="Google Shape;421;p28"/>
            <p:cNvSpPr/>
            <p:nvPr/>
          </p:nvSpPr>
          <p:spPr>
            <a:xfrm>
              <a:off x="1540600" y="3335550"/>
              <a:ext cx="656100" cy="656100"/>
            </a:xfrm>
            <a:prstGeom prst="ellipse">
              <a:avLst/>
            </a:prstGeom>
            <a:solidFill>
              <a:schemeClr val="dk1"/>
            </a:solidFill>
            <a:ln>
              <a:noFill/>
            </a:ln>
          </p:spPr>
          <p:txBody>
            <a:bodyPr anchorCtr="0" anchor="ctr" bIns="91300" lIns="91300" spcFirstLastPara="1" rIns="91300" wrap="square" tIns="91300">
              <a:noAutofit/>
            </a:bodyPr>
            <a:lstStyle/>
            <a:p>
              <a:pPr indent="0" lvl="0" marL="0" rtl="0" algn="l">
                <a:spcBef>
                  <a:spcPts val="0"/>
                </a:spcBef>
                <a:spcAft>
                  <a:spcPts val="0"/>
                </a:spcAft>
                <a:buNone/>
              </a:pPr>
              <a:r>
                <a:t/>
              </a:r>
              <a:endParaRPr/>
            </a:p>
          </p:txBody>
        </p:sp>
      </p:grpSp>
      <p:sp>
        <p:nvSpPr>
          <p:cNvPr id="422" name="Google Shape;422;p28"/>
          <p:cNvSpPr txBox="1"/>
          <p:nvPr/>
        </p:nvSpPr>
        <p:spPr>
          <a:xfrm>
            <a:off x="374462" y="4283102"/>
            <a:ext cx="1129500" cy="435600"/>
          </a:xfrm>
          <a:prstGeom prst="rect">
            <a:avLst/>
          </a:prstGeom>
          <a:noFill/>
          <a:ln>
            <a:noFill/>
          </a:ln>
        </p:spPr>
        <p:txBody>
          <a:bodyPr anchorCtr="0" anchor="ctr" bIns="91300" lIns="91300" spcFirstLastPara="1" rIns="91300" wrap="square" tIns="91300">
            <a:noAutofit/>
          </a:bodyPr>
          <a:lstStyle/>
          <a:p>
            <a:pPr indent="0" lvl="0" marL="0" rtl="0" algn="ctr">
              <a:lnSpc>
                <a:spcPct val="100000"/>
              </a:lnSpc>
              <a:spcBef>
                <a:spcPts val="0"/>
              </a:spcBef>
              <a:spcAft>
                <a:spcPts val="0"/>
              </a:spcAft>
              <a:buNone/>
            </a:pPr>
            <a:r>
              <a:rPr b="1" lang="es" sz="1524">
                <a:solidFill>
                  <a:schemeClr val="lt1"/>
                </a:solidFill>
                <a:latin typeface="Montserrat"/>
                <a:ea typeface="Montserrat"/>
                <a:cs typeface="Montserrat"/>
                <a:sym typeface="Montserrat"/>
              </a:rPr>
              <a:t>F2-Score</a:t>
            </a:r>
            <a:endParaRPr b="1" sz="1370">
              <a:solidFill>
                <a:schemeClr val="lt1"/>
              </a:solidFill>
              <a:latin typeface="Lato"/>
              <a:ea typeface="Lato"/>
              <a:cs typeface="Lato"/>
              <a:sym typeface="Lato"/>
            </a:endParaRPr>
          </a:p>
        </p:txBody>
      </p:sp>
      <p:sp>
        <p:nvSpPr>
          <p:cNvPr id="423" name="Google Shape;423;p28"/>
          <p:cNvSpPr txBox="1"/>
          <p:nvPr/>
        </p:nvSpPr>
        <p:spPr>
          <a:xfrm>
            <a:off x="584396" y="3647060"/>
            <a:ext cx="733200" cy="435600"/>
          </a:xfrm>
          <a:prstGeom prst="rect">
            <a:avLst/>
          </a:prstGeom>
          <a:noFill/>
          <a:ln>
            <a:noFill/>
          </a:ln>
        </p:spPr>
        <p:txBody>
          <a:bodyPr anchorCtr="0" anchor="ctr" bIns="91300" lIns="91300" spcFirstLastPara="1" rIns="91300" wrap="square" tIns="91300">
            <a:noAutofit/>
          </a:bodyPr>
          <a:lstStyle/>
          <a:p>
            <a:pPr indent="0" lvl="0" marL="0" rtl="0" algn="ctr">
              <a:lnSpc>
                <a:spcPct val="100000"/>
              </a:lnSpc>
              <a:spcBef>
                <a:spcPts val="0"/>
              </a:spcBef>
              <a:spcAft>
                <a:spcPts val="0"/>
              </a:spcAft>
              <a:buNone/>
            </a:pPr>
            <a:r>
              <a:rPr lang="es" sz="1238">
                <a:solidFill>
                  <a:schemeClr val="lt1"/>
                </a:solidFill>
                <a:latin typeface="Montserrat"/>
                <a:ea typeface="Montserrat"/>
                <a:cs typeface="Montserrat"/>
                <a:sym typeface="Montserrat"/>
              </a:rPr>
              <a:t>94.41%</a:t>
            </a:r>
            <a:endParaRPr b="1" sz="1238">
              <a:solidFill>
                <a:schemeClr val="lt1"/>
              </a:solidFill>
              <a:latin typeface="Lato"/>
              <a:ea typeface="Lato"/>
              <a:cs typeface="Lato"/>
              <a:sym typeface="Lato"/>
            </a:endParaRPr>
          </a:p>
        </p:txBody>
      </p:sp>
      <p:sp>
        <p:nvSpPr>
          <p:cNvPr id="424" name="Google Shape;424;p28"/>
          <p:cNvSpPr/>
          <p:nvPr/>
        </p:nvSpPr>
        <p:spPr>
          <a:xfrm>
            <a:off x="1677443" y="3072035"/>
            <a:ext cx="499200" cy="435600"/>
          </a:xfrm>
          <a:prstGeom prst="rightArrow">
            <a:avLst>
              <a:gd fmla="val 50000" name="adj1"/>
              <a:gd fmla="val 50000" name="adj2"/>
            </a:avLst>
          </a:pr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sz="1334">
              <a:latin typeface="Lato"/>
              <a:ea typeface="Lato"/>
              <a:cs typeface="Lato"/>
              <a:sym typeface="Lato"/>
            </a:endParaRPr>
          </a:p>
        </p:txBody>
      </p:sp>
      <p:cxnSp>
        <p:nvCxnSpPr>
          <p:cNvPr id="425" name="Google Shape;425;p28"/>
          <p:cNvCxnSpPr/>
          <p:nvPr/>
        </p:nvCxnSpPr>
        <p:spPr>
          <a:xfrm>
            <a:off x="298313" y="1963614"/>
            <a:ext cx="1300500" cy="0"/>
          </a:xfrm>
          <a:prstGeom prst="straightConnector1">
            <a:avLst/>
          </a:prstGeom>
          <a:noFill/>
          <a:ln cap="flat" cmpd="sng" w="9525">
            <a:solidFill>
              <a:schemeClr val="lt1"/>
            </a:solidFill>
            <a:prstDash val="dash"/>
            <a:round/>
            <a:headEnd len="med" w="med" type="none"/>
            <a:tailEnd len="med" w="med" type="none"/>
          </a:ln>
        </p:spPr>
      </p:cxnSp>
      <p:sp>
        <p:nvSpPr>
          <p:cNvPr id="426" name="Google Shape;426;p28"/>
          <p:cNvSpPr txBox="1"/>
          <p:nvPr/>
        </p:nvSpPr>
        <p:spPr>
          <a:xfrm>
            <a:off x="7611365" y="2303628"/>
            <a:ext cx="1318800" cy="376200"/>
          </a:xfrm>
          <a:prstGeom prst="rect">
            <a:avLst/>
          </a:prstGeom>
          <a:noFill/>
          <a:ln>
            <a:noFill/>
          </a:ln>
        </p:spPr>
        <p:txBody>
          <a:bodyPr anchorCtr="0" anchor="ctr" bIns="79550" lIns="79550" spcFirstLastPara="1" rIns="79550" wrap="square" tIns="79550">
            <a:spAutoFit/>
          </a:bodyPr>
          <a:lstStyle/>
          <a:p>
            <a:pPr indent="0" lvl="0" marL="0" marR="0" rtl="0" algn="r">
              <a:lnSpc>
                <a:spcPct val="100000"/>
              </a:lnSpc>
              <a:spcBef>
                <a:spcPts val="0"/>
              </a:spcBef>
              <a:spcAft>
                <a:spcPts val="0"/>
              </a:spcAft>
              <a:buNone/>
            </a:pPr>
            <a:r>
              <a:rPr b="1" lang="es">
                <a:solidFill>
                  <a:srgbClr val="0000FF"/>
                </a:solidFill>
                <a:latin typeface="Montserrat"/>
                <a:ea typeface="Montserrat"/>
                <a:cs typeface="Montserrat"/>
                <a:sym typeface="Montserrat"/>
              </a:rPr>
              <a:t>CSV-NUEVO</a:t>
            </a:r>
            <a:endParaRPr b="1">
              <a:solidFill>
                <a:srgbClr val="0000FF"/>
              </a:solidFill>
              <a:latin typeface="Montserrat"/>
              <a:ea typeface="Montserrat"/>
              <a:cs typeface="Montserrat"/>
              <a:sym typeface="Montserrat"/>
            </a:endParaRPr>
          </a:p>
        </p:txBody>
      </p:sp>
      <p:pic>
        <p:nvPicPr>
          <p:cNvPr id="427" name="Google Shape;427;p28" title="Py.png"/>
          <p:cNvPicPr preferRelativeResize="0"/>
          <p:nvPr/>
        </p:nvPicPr>
        <p:blipFill>
          <a:blip r:embed="rId6">
            <a:alphaModFix/>
          </a:blip>
          <a:stretch>
            <a:fillRect/>
          </a:stretch>
        </p:blipFill>
        <p:spPr>
          <a:xfrm>
            <a:off x="7043972" y="1874274"/>
            <a:ext cx="420600" cy="420600"/>
          </a:xfrm>
          <a:prstGeom prst="rect">
            <a:avLst/>
          </a:prstGeom>
          <a:noFill/>
          <a:ln>
            <a:noFill/>
          </a:ln>
        </p:spPr>
      </p:pic>
      <p:sp>
        <p:nvSpPr>
          <p:cNvPr id="428" name="Google Shape;428;p28"/>
          <p:cNvSpPr txBox="1"/>
          <p:nvPr/>
        </p:nvSpPr>
        <p:spPr>
          <a:xfrm>
            <a:off x="4647417" y="1771433"/>
            <a:ext cx="2328900" cy="376200"/>
          </a:xfrm>
          <a:prstGeom prst="rect">
            <a:avLst/>
          </a:prstGeom>
          <a:noFill/>
          <a:ln>
            <a:noFill/>
          </a:ln>
        </p:spPr>
        <p:txBody>
          <a:bodyPr anchorCtr="0" anchor="ctr" bIns="79550" lIns="79550" spcFirstLastPara="1" rIns="79550" wrap="square" tIns="79550">
            <a:spAutoFit/>
          </a:bodyPr>
          <a:lstStyle/>
          <a:p>
            <a:pPr indent="0" lvl="0" marL="0" marR="0" rtl="0" algn="ctr">
              <a:lnSpc>
                <a:spcPct val="100000"/>
              </a:lnSpc>
              <a:spcBef>
                <a:spcPts val="0"/>
              </a:spcBef>
              <a:spcAft>
                <a:spcPts val="0"/>
              </a:spcAft>
              <a:buNone/>
            </a:pPr>
            <a:r>
              <a:rPr lang="es">
                <a:solidFill>
                  <a:schemeClr val="dk1"/>
                </a:solidFill>
                <a:latin typeface="Montserrat"/>
                <a:ea typeface="Montserrat"/>
                <a:cs typeface="Montserrat"/>
                <a:sym typeface="Montserrat"/>
              </a:rPr>
              <a:t>“0 (Fake) &amp; 1 (Real)”</a:t>
            </a:r>
            <a:endParaRPr>
              <a:solidFill>
                <a:schemeClr val="dk1"/>
              </a:solidFill>
              <a:latin typeface="Montserrat"/>
              <a:ea typeface="Montserrat"/>
              <a:cs typeface="Montserrat"/>
              <a:sym typeface="Montserrat"/>
            </a:endParaRPr>
          </a:p>
        </p:txBody>
      </p:sp>
      <p:sp>
        <p:nvSpPr>
          <p:cNvPr id="429" name="Google Shape;429;p28"/>
          <p:cNvSpPr txBox="1"/>
          <p:nvPr/>
        </p:nvSpPr>
        <p:spPr>
          <a:xfrm>
            <a:off x="3508627" y="186941"/>
            <a:ext cx="1129500" cy="697200"/>
          </a:xfrm>
          <a:prstGeom prst="rect">
            <a:avLst/>
          </a:prstGeom>
          <a:noFill/>
          <a:ln>
            <a:noFill/>
          </a:ln>
        </p:spPr>
        <p:txBody>
          <a:bodyPr anchorCtr="0" anchor="ctr" bIns="78825" lIns="78825" spcFirstLastPara="1" rIns="78825" wrap="square" tIns="78825">
            <a:noAutofit/>
          </a:bodyPr>
          <a:lstStyle/>
          <a:p>
            <a:pPr indent="0" lvl="0" marL="0" marR="0" rtl="0" algn="r">
              <a:lnSpc>
                <a:spcPct val="100000"/>
              </a:lnSpc>
              <a:spcBef>
                <a:spcPts val="0"/>
              </a:spcBef>
              <a:spcAft>
                <a:spcPts val="0"/>
              </a:spcAft>
              <a:buNone/>
            </a:pPr>
            <a:r>
              <a:rPr b="1" lang="es" sz="4523">
                <a:solidFill>
                  <a:srgbClr val="FFFFFF"/>
                </a:solidFill>
                <a:latin typeface="Montserrat"/>
                <a:ea typeface="Montserrat"/>
                <a:cs typeface="Montserrat"/>
                <a:sym typeface="Montserrat"/>
              </a:rPr>
              <a:t>02</a:t>
            </a:r>
            <a:endParaRPr b="1" sz="4523">
              <a:solidFill>
                <a:srgbClr val="FFFFFF"/>
              </a:solidFill>
              <a:latin typeface="Montserrat"/>
              <a:ea typeface="Montserrat"/>
              <a:cs typeface="Montserrat"/>
              <a:sym typeface="Montserrat"/>
            </a:endParaRPr>
          </a:p>
        </p:txBody>
      </p:sp>
      <p:sp>
        <p:nvSpPr>
          <p:cNvPr id="430" name="Google Shape;430;p28"/>
          <p:cNvSpPr txBox="1"/>
          <p:nvPr>
            <p:ph idx="1" type="body"/>
          </p:nvPr>
        </p:nvSpPr>
        <p:spPr>
          <a:xfrm>
            <a:off x="4585675" y="186966"/>
            <a:ext cx="4408800" cy="697200"/>
          </a:xfrm>
          <a:prstGeom prst="rect">
            <a:avLst/>
          </a:prstGeom>
        </p:spPr>
        <p:txBody>
          <a:bodyPr anchorCtr="0" anchor="ctr" bIns="78825" lIns="78825" spcFirstLastPara="1" rIns="78825" wrap="square" tIns="78825">
            <a:noAutofit/>
          </a:bodyPr>
          <a:lstStyle/>
          <a:p>
            <a:pPr indent="0" lvl="0" marL="0" marR="0" rtl="0" algn="r">
              <a:lnSpc>
                <a:spcPct val="115000"/>
              </a:lnSpc>
              <a:spcBef>
                <a:spcPts val="0"/>
              </a:spcBef>
              <a:spcAft>
                <a:spcPts val="1312"/>
              </a:spcAft>
              <a:buNone/>
            </a:pPr>
            <a:r>
              <a:rPr b="1" lang="es" sz="1621">
                <a:solidFill>
                  <a:srgbClr val="FFFFFF"/>
                </a:solidFill>
              </a:rPr>
              <a:t>Nuevo CSV con titulares de “testing_data.csv” y etiquetas de predicción; 0 (Fake) &amp; 1 (Real).</a:t>
            </a:r>
            <a:endParaRPr b="1" sz="1621">
              <a:solidFill>
                <a:srgbClr val="FFFFFF"/>
              </a:solidFill>
            </a:endParaRPr>
          </a:p>
        </p:txBody>
      </p:sp>
      <p:sp>
        <p:nvSpPr>
          <p:cNvPr id="431" name="Google Shape;431;p28"/>
          <p:cNvSpPr txBox="1"/>
          <p:nvPr/>
        </p:nvSpPr>
        <p:spPr>
          <a:xfrm>
            <a:off x="5541443" y="872665"/>
            <a:ext cx="1129500" cy="697200"/>
          </a:xfrm>
          <a:prstGeom prst="rect">
            <a:avLst/>
          </a:prstGeom>
          <a:noFill/>
          <a:ln>
            <a:noFill/>
          </a:ln>
        </p:spPr>
        <p:txBody>
          <a:bodyPr anchorCtr="0" anchor="ctr" bIns="78825" lIns="78825" spcFirstLastPara="1" rIns="78825" wrap="square" tIns="78825">
            <a:noAutofit/>
          </a:bodyPr>
          <a:lstStyle/>
          <a:p>
            <a:pPr indent="0" lvl="0" marL="0" marR="0" rtl="0" algn="r">
              <a:lnSpc>
                <a:spcPct val="100000"/>
              </a:lnSpc>
              <a:spcBef>
                <a:spcPts val="0"/>
              </a:spcBef>
              <a:spcAft>
                <a:spcPts val="0"/>
              </a:spcAft>
              <a:buNone/>
            </a:pPr>
            <a:r>
              <a:rPr b="1" lang="es" sz="4523">
                <a:solidFill>
                  <a:srgbClr val="FFFFFF"/>
                </a:solidFill>
                <a:latin typeface="Montserrat"/>
                <a:ea typeface="Montserrat"/>
                <a:cs typeface="Montserrat"/>
                <a:sym typeface="Montserrat"/>
              </a:rPr>
              <a:t>03</a:t>
            </a:r>
            <a:endParaRPr b="1" sz="4523">
              <a:solidFill>
                <a:srgbClr val="FFFFFF"/>
              </a:solidFill>
              <a:latin typeface="Montserrat"/>
              <a:ea typeface="Montserrat"/>
              <a:cs typeface="Montserrat"/>
              <a:sym typeface="Montserrat"/>
            </a:endParaRPr>
          </a:p>
        </p:txBody>
      </p:sp>
      <p:sp>
        <p:nvSpPr>
          <p:cNvPr id="432" name="Google Shape;432;p28"/>
          <p:cNvSpPr txBox="1"/>
          <p:nvPr>
            <p:ph idx="1" type="body"/>
          </p:nvPr>
        </p:nvSpPr>
        <p:spPr>
          <a:xfrm>
            <a:off x="6665575" y="872699"/>
            <a:ext cx="2328900" cy="697200"/>
          </a:xfrm>
          <a:prstGeom prst="rect">
            <a:avLst/>
          </a:prstGeom>
        </p:spPr>
        <p:txBody>
          <a:bodyPr anchorCtr="0" anchor="ctr" bIns="78825" lIns="78825" spcFirstLastPara="1" rIns="78825" wrap="square" tIns="78825">
            <a:noAutofit/>
          </a:bodyPr>
          <a:lstStyle/>
          <a:p>
            <a:pPr indent="0" lvl="0" marL="0" rtl="0" algn="r">
              <a:spcBef>
                <a:spcPts val="0"/>
              </a:spcBef>
              <a:spcAft>
                <a:spcPts val="1312"/>
              </a:spcAft>
              <a:buNone/>
            </a:pPr>
            <a:r>
              <a:rPr b="1" lang="es" sz="1621"/>
              <a:t>Estimar la  precisión del modelo creado.</a:t>
            </a:r>
            <a:endParaRPr b="1" sz="1621">
              <a:solidFill>
                <a:srgbClr val="FFFFFF"/>
              </a:solidFill>
            </a:endParaRPr>
          </a:p>
        </p:txBody>
      </p:sp>
      <p:sp>
        <p:nvSpPr>
          <p:cNvPr id="433" name="Google Shape;433;p28"/>
          <p:cNvSpPr txBox="1"/>
          <p:nvPr/>
        </p:nvSpPr>
        <p:spPr>
          <a:xfrm>
            <a:off x="299613" y="1013414"/>
            <a:ext cx="1318800" cy="376200"/>
          </a:xfrm>
          <a:prstGeom prst="rect">
            <a:avLst/>
          </a:prstGeom>
          <a:noFill/>
          <a:ln>
            <a:noFill/>
          </a:ln>
        </p:spPr>
        <p:txBody>
          <a:bodyPr anchorCtr="0" anchor="ctr" bIns="79550" lIns="79550" spcFirstLastPara="1" rIns="79550" wrap="square" tIns="79550">
            <a:spAutoFit/>
          </a:bodyPr>
          <a:lstStyle/>
          <a:p>
            <a:pPr indent="0" lvl="0" marL="0" marR="0" rtl="0" algn="ctr">
              <a:lnSpc>
                <a:spcPct val="100000"/>
              </a:lnSpc>
              <a:spcBef>
                <a:spcPts val="0"/>
              </a:spcBef>
              <a:spcAft>
                <a:spcPts val="0"/>
              </a:spcAft>
              <a:buNone/>
            </a:pPr>
            <a:r>
              <a:rPr lang="es">
                <a:solidFill>
                  <a:schemeClr val="lt1"/>
                </a:solidFill>
                <a:latin typeface="Montserrat"/>
                <a:ea typeface="Montserrat"/>
                <a:cs typeface="Montserrat"/>
                <a:sym typeface="Montserrat"/>
              </a:rPr>
              <a:t>MODELO</a:t>
            </a:r>
            <a:endParaRPr>
              <a:solidFill>
                <a:schemeClr val="lt1"/>
              </a:solidFill>
              <a:latin typeface="Montserrat"/>
              <a:ea typeface="Montserrat"/>
              <a:cs typeface="Montserrat"/>
              <a:sym typeface="Montserrat"/>
            </a:endParaRPr>
          </a:p>
        </p:txBody>
      </p:sp>
      <p:sp>
        <p:nvSpPr>
          <p:cNvPr id="434" name="Google Shape;434;p28"/>
          <p:cNvSpPr/>
          <p:nvPr/>
        </p:nvSpPr>
        <p:spPr>
          <a:xfrm>
            <a:off x="1684443" y="3588235"/>
            <a:ext cx="499200" cy="435600"/>
          </a:xfrm>
          <a:prstGeom prst="rightArrow">
            <a:avLst>
              <a:gd fmla="val 50000" name="adj1"/>
              <a:gd fmla="val 50000" name="adj2"/>
            </a:avLst>
          </a:pr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sz="1334">
              <a:latin typeface="Lato"/>
              <a:ea typeface="Lato"/>
              <a:cs typeface="Lato"/>
              <a:sym typeface="Lato"/>
            </a:endParaRPr>
          </a:p>
        </p:txBody>
      </p:sp>
      <p:sp>
        <p:nvSpPr>
          <p:cNvPr id="435" name="Google Shape;435;p28"/>
          <p:cNvSpPr/>
          <p:nvPr/>
        </p:nvSpPr>
        <p:spPr>
          <a:xfrm>
            <a:off x="1684443" y="2555835"/>
            <a:ext cx="499200" cy="435600"/>
          </a:xfrm>
          <a:prstGeom prst="rightArrow">
            <a:avLst>
              <a:gd fmla="val 50000" name="adj1"/>
              <a:gd fmla="val 50000" name="adj2"/>
            </a:avLst>
          </a:pr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sz="1334">
              <a:latin typeface="Lato"/>
              <a:ea typeface="Lato"/>
              <a:cs typeface="Lato"/>
              <a:sym typeface="Lato"/>
            </a:endParaRPr>
          </a:p>
        </p:txBody>
      </p:sp>
      <p:sp>
        <p:nvSpPr>
          <p:cNvPr id="436" name="Google Shape;436;p28"/>
          <p:cNvSpPr/>
          <p:nvPr/>
        </p:nvSpPr>
        <p:spPr>
          <a:xfrm>
            <a:off x="1684443" y="2039635"/>
            <a:ext cx="499200" cy="435600"/>
          </a:xfrm>
          <a:prstGeom prst="rightArrow">
            <a:avLst>
              <a:gd fmla="val 50000" name="adj1"/>
              <a:gd fmla="val 50000" name="adj2"/>
            </a:avLst>
          </a:pr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sz="1334">
              <a:latin typeface="Lato"/>
              <a:ea typeface="Lato"/>
              <a:cs typeface="Lato"/>
              <a:sym typeface="Lato"/>
            </a:endParaRPr>
          </a:p>
        </p:txBody>
      </p:sp>
      <p:sp>
        <p:nvSpPr>
          <p:cNvPr id="437" name="Google Shape;437;p28"/>
          <p:cNvSpPr/>
          <p:nvPr/>
        </p:nvSpPr>
        <p:spPr>
          <a:xfrm>
            <a:off x="1684443" y="4133911"/>
            <a:ext cx="499200" cy="435600"/>
          </a:xfrm>
          <a:prstGeom prst="rightArrow">
            <a:avLst>
              <a:gd fmla="val 50000" name="adj1"/>
              <a:gd fmla="val 50000" name="adj2"/>
            </a:avLst>
          </a:pr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sz="1334">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pic>
        <p:nvPicPr>
          <p:cNvPr id="442" name="Google Shape;442;p29"/>
          <p:cNvPicPr preferRelativeResize="0"/>
          <p:nvPr/>
        </p:nvPicPr>
        <p:blipFill>
          <a:blip r:embed="rId3">
            <a:alphaModFix/>
          </a:blip>
          <a:stretch>
            <a:fillRect/>
          </a:stretch>
        </p:blipFill>
        <p:spPr>
          <a:xfrm>
            <a:off x="0" y="0"/>
            <a:ext cx="9144000" cy="5143499"/>
          </a:xfrm>
          <a:prstGeom prst="rect">
            <a:avLst/>
          </a:prstGeom>
          <a:noFill/>
          <a:ln>
            <a:noFill/>
          </a:ln>
        </p:spPr>
      </p:pic>
      <p:sp>
        <p:nvSpPr>
          <p:cNvPr id="443" name="Google Shape;443;p29"/>
          <p:cNvSpPr txBox="1"/>
          <p:nvPr>
            <p:ph idx="4294967295" type="body"/>
          </p:nvPr>
        </p:nvSpPr>
        <p:spPr>
          <a:xfrm>
            <a:off x="5904902" y="4253250"/>
            <a:ext cx="2937600" cy="697200"/>
          </a:xfrm>
          <a:prstGeom prst="rect">
            <a:avLst/>
          </a:prstGeom>
        </p:spPr>
        <p:txBody>
          <a:bodyPr anchorCtr="0" anchor="ctr" bIns="78825" lIns="78825" spcFirstLastPara="1" rIns="78825" wrap="square" tIns="78825">
            <a:noAutofit/>
          </a:bodyPr>
          <a:lstStyle/>
          <a:p>
            <a:pPr indent="0" lvl="0" marL="0" rtl="0" algn="r">
              <a:spcBef>
                <a:spcPts val="0"/>
              </a:spcBef>
              <a:spcAft>
                <a:spcPts val="1312"/>
              </a:spcAft>
              <a:buNone/>
            </a:pPr>
            <a:r>
              <a:rPr b="1" i="1" lang="es" sz="4523">
                <a:latin typeface="Montserrat"/>
                <a:ea typeface="Montserrat"/>
                <a:cs typeface="Montserrat"/>
                <a:sym typeface="Montserrat"/>
              </a:rPr>
              <a:t># </a:t>
            </a:r>
            <a:r>
              <a:rPr b="1" i="1" lang="es" sz="4521"/>
              <a:t>BONUS</a:t>
            </a:r>
            <a:endParaRPr b="1" i="1" sz="4521">
              <a:solidFill>
                <a:srgbClr val="FFFFFF"/>
              </a:solidFill>
            </a:endParaRPr>
          </a:p>
        </p:txBody>
      </p:sp>
      <p:sp>
        <p:nvSpPr>
          <p:cNvPr id="444" name="Google Shape;444;p29"/>
          <p:cNvSpPr txBox="1"/>
          <p:nvPr>
            <p:ph idx="4294967295" type="body"/>
          </p:nvPr>
        </p:nvSpPr>
        <p:spPr>
          <a:xfrm rot="-579967">
            <a:off x="6291718" y="685695"/>
            <a:ext cx="1275711" cy="986201"/>
          </a:xfrm>
          <a:prstGeom prst="rect">
            <a:avLst/>
          </a:prstGeom>
          <a:effectLst>
            <a:outerShdw blurRad="57150" rotWithShape="0" algn="bl" dir="5400000" dist="19050">
              <a:srgbClr val="000000">
                <a:alpha val="42000"/>
              </a:srgbClr>
            </a:outerShdw>
          </a:effectLst>
        </p:spPr>
        <p:txBody>
          <a:bodyPr anchorCtr="0" anchor="ctr" bIns="78825" lIns="78825" spcFirstLastPara="1" rIns="78825" wrap="square" tIns="78825">
            <a:noAutofit/>
          </a:bodyPr>
          <a:lstStyle/>
          <a:p>
            <a:pPr indent="0" lvl="0" marL="0" rtl="0" algn="ctr">
              <a:spcBef>
                <a:spcPts val="0"/>
              </a:spcBef>
              <a:spcAft>
                <a:spcPts val="1312"/>
              </a:spcAft>
              <a:buNone/>
            </a:pPr>
            <a:r>
              <a:rPr b="1" lang="es" sz="7521">
                <a:solidFill>
                  <a:srgbClr val="222927"/>
                </a:solidFill>
                <a:latin typeface="Courier New"/>
                <a:ea typeface="Courier New"/>
                <a:cs typeface="Courier New"/>
                <a:sym typeface="Courier New"/>
              </a:rPr>
              <a:t>?</a:t>
            </a:r>
            <a:endParaRPr b="1" sz="7521">
              <a:solidFill>
                <a:srgbClr val="222927"/>
              </a:solidFill>
              <a:latin typeface="Courier New"/>
              <a:ea typeface="Courier New"/>
              <a:cs typeface="Courier New"/>
              <a:sym typeface="Courier New"/>
            </a:endParaRPr>
          </a:p>
        </p:txBody>
      </p:sp>
      <p:pic>
        <p:nvPicPr>
          <p:cNvPr id="445" name="Google Shape;445;p29" title="image-removebg-preview.png"/>
          <p:cNvPicPr preferRelativeResize="0"/>
          <p:nvPr/>
        </p:nvPicPr>
        <p:blipFill>
          <a:blip r:embed="rId4">
            <a:alphaModFix amt="85000"/>
          </a:blip>
          <a:stretch>
            <a:fillRect/>
          </a:stretch>
        </p:blipFill>
        <p:spPr>
          <a:xfrm rot="-811045">
            <a:off x="131795" y="51919"/>
            <a:ext cx="3061865" cy="1109168"/>
          </a:xfrm>
          <a:prstGeom prst="rect">
            <a:avLst/>
          </a:prstGeom>
          <a:noFill/>
          <a:ln>
            <a:noFill/>
          </a:ln>
        </p:spPr>
      </p:pic>
      <p:pic>
        <p:nvPicPr>
          <p:cNvPr id="446" name="Google Shape;446;p29" title="image-removebg-preview (1).png"/>
          <p:cNvPicPr preferRelativeResize="0"/>
          <p:nvPr/>
        </p:nvPicPr>
        <p:blipFill>
          <a:blip r:embed="rId5">
            <a:alphaModFix amt="85000"/>
          </a:blip>
          <a:stretch>
            <a:fillRect/>
          </a:stretch>
        </p:blipFill>
        <p:spPr>
          <a:xfrm rot="-811038">
            <a:off x="311680" y="735368"/>
            <a:ext cx="6474204" cy="834341"/>
          </a:xfrm>
          <a:prstGeom prst="rect">
            <a:avLst/>
          </a:prstGeom>
          <a:noFill/>
          <a:ln>
            <a:noFill/>
          </a:ln>
        </p:spPr>
      </p:pic>
      <p:sp>
        <p:nvSpPr>
          <p:cNvPr id="447" name="Google Shape;447;p29"/>
          <p:cNvSpPr/>
          <p:nvPr/>
        </p:nvSpPr>
        <p:spPr>
          <a:xfrm rot="-847703">
            <a:off x="3153173" y="643751"/>
            <a:ext cx="1221654" cy="209843"/>
          </a:xfrm>
          <a:prstGeom prst="roundRect">
            <a:avLst>
              <a:gd fmla="val 16667" name="adj"/>
            </a:avLst>
          </a:prstGeom>
          <a:noFill/>
          <a:ln cap="flat" cmpd="sng" w="9525">
            <a:solidFill>
              <a:srgbClr val="0000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1" name="Shape 451"/>
        <p:cNvGrpSpPr/>
        <p:nvPr/>
      </p:nvGrpSpPr>
      <p:grpSpPr>
        <a:xfrm>
          <a:off x="0" y="0"/>
          <a:ext cx="0" cy="0"/>
          <a:chOff x="0" y="0"/>
          <a:chExt cx="0" cy="0"/>
        </a:xfrm>
      </p:grpSpPr>
      <p:grpSp>
        <p:nvGrpSpPr>
          <p:cNvPr id="452" name="Google Shape;452;p30"/>
          <p:cNvGrpSpPr/>
          <p:nvPr/>
        </p:nvGrpSpPr>
        <p:grpSpPr>
          <a:xfrm>
            <a:off x="4632044" y="1808607"/>
            <a:ext cx="4320145" cy="3334606"/>
            <a:chOff x="3553042" y="1657806"/>
            <a:chExt cx="3461100" cy="2671532"/>
          </a:xfrm>
        </p:grpSpPr>
        <p:sp>
          <p:nvSpPr>
            <p:cNvPr id="453" name="Google Shape;453;p30"/>
            <p:cNvSpPr/>
            <p:nvPr/>
          </p:nvSpPr>
          <p:spPr>
            <a:xfrm>
              <a:off x="4856024" y="3625653"/>
              <a:ext cx="944700" cy="663300"/>
            </a:xfrm>
            <a:prstGeom prst="trapezoid">
              <a:avLst>
                <a:gd fmla="val 25000" name="adj"/>
              </a:avLst>
            </a:prstGeom>
            <a:solidFill>
              <a:srgbClr val="E7E7E7"/>
            </a:solidFill>
            <a:ln>
              <a:noFill/>
            </a:ln>
          </p:spPr>
          <p:txBody>
            <a:bodyPr anchorCtr="0" anchor="ctr" bIns="114075" lIns="114075" spcFirstLastPara="1" rIns="114075" wrap="square" tIns="114075">
              <a:noAutofit/>
            </a:bodyPr>
            <a:lstStyle/>
            <a:p>
              <a:pPr indent="0" lvl="0" marL="0" rtl="0" algn="l">
                <a:spcBef>
                  <a:spcPts val="0"/>
                </a:spcBef>
                <a:spcAft>
                  <a:spcPts val="0"/>
                </a:spcAft>
                <a:buNone/>
              </a:pPr>
              <a:r>
                <a:t/>
              </a:r>
              <a:endParaRPr/>
            </a:p>
          </p:txBody>
        </p:sp>
        <p:sp>
          <p:nvSpPr>
            <p:cNvPr id="454" name="Google Shape;454;p30"/>
            <p:cNvSpPr/>
            <p:nvPr/>
          </p:nvSpPr>
          <p:spPr>
            <a:xfrm rot="10800000">
              <a:off x="4953871" y="3681997"/>
              <a:ext cx="400200" cy="606600"/>
            </a:xfrm>
            <a:prstGeom prst="triangle">
              <a:avLst>
                <a:gd fmla="val 96745" name="adj"/>
              </a:avLst>
            </a:prstGeom>
            <a:solidFill>
              <a:srgbClr val="CCCCCC"/>
            </a:solidFill>
            <a:ln>
              <a:noFill/>
            </a:ln>
          </p:spPr>
          <p:txBody>
            <a:bodyPr anchorCtr="0" anchor="ctr" bIns="114075" lIns="114075" spcFirstLastPara="1" rIns="114075" wrap="square" tIns="114075">
              <a:noAutofit/>
            </a:bodyPr>
            <a:lstStyle/>
            <a:p>
              <a:pPr indent="0" lvl="0" marL="0" rtl="0" algn="l">
                <a:spcBef>
                  <a:spcPts val="0"/>
                </a:spcBef>
                <a:spcAft>
                  <a:spcPts val="0"/>
                </a:spcAft>
                <a:buNone/>
              </a:pPr>
              <a:r>
                <a:t/>
              </a:r>
              <a:endParaRPr/>
            </a:p>
          </p:txBody>
        </p:sp>
        <p:sp>
          <p:nvSpPr>
            <p:cNvPr id="455" name="Google Shape;455;p30"/>
            <p:cNvSpPr/>
            <p:nvPr/>
          </p:nvSpPr>
          <p:spPr>
            <a:xfrm>
              <a:off x="4767796" y="3681816"/>
              <a:ext cx="163500" cy="606600"/>
            </a:xfrm>
            <a:prstGeom prst="triangle">
              <a:avLst>
                <a:gd fmla="val 98558" name="adj"/>
              </a:avLst>
            </a:prstGeom>
            <a:solidFill>
              <a:srgbClr val="CCCCCC"/>
            </a:solidFill>
            <a:ln>
              <a:noFill/>
            </a:ln>
          </p:spPr>
          <p:txBody>
            <a:bodyPr anchorCtr="0" anchor="ctr" bIns="114075" lIns="114075" spcFirstLastPara="1" rIns="114075" wrap="square" tIns="114075">
              <a:noAutofit/>
            </a:bodyPr>
            <a:lstStyle/>
            <a:p>
              <a:pPr indent="0" lvl="0" marL="0" rtl="0" algn="l">
                <a:spcBef>
                  <a:spcPts val="0"/>
                </a:spcBef>
                <a:spcAft>
                  <a:spcPts val="0"/>
                </a:spcAft>
                <a:buNone/>
              </a:pPr>
              <a:r>
                <a:t/>
              </a:r>
              <a:endParaRPr/>
            </a:p>
          </p:txBody>
        </p:sp>
        <p:sp>
          <p:nvSpPr>
            <p:cNvPr id="456" name="Google Shape;456;p30"/>
            <p:cNvSpPr/>
            <p:nvPr/>
          </p:nvSpPr>
          <p:spPr>
            <a:xfrm rot="10800000">
              <a:off x="4678237" y="4276102"/>
              <a:ext cx="1210800" cy="45600"/>
            </a:xfrm>
            <a:prstGeom prst="roundRect">
              <a:avLst>
                <a:gd fmla="val 50000" name="adj"/>
              </a:avLst>
            </a:prstGeom>
            <a:solidFill>
              <a:srgbClr val="FFFFFF"/>
            </a:solidFill>
            <a:ln>
              <a:noFill/>
            </a:ln>
          </p:spPr>
          <p:txBody>
            <a:bodyPr anchorCtr="0" anchor="ctr" bIns="114075" lIns="114075" spcFirstLastPara="1" rIns="114075" wrap="square" tIns="114075">
              <a:noAutofit/>
            </a:bodyPr>
            <a:lstStyle/>
            <a:p>
              <a:pPr indent="0" lvl="0" marL="0" rtl="0" algn="l">
                <a:spcBef>
                  <a:spcPts val="0"/>
                </a:spcBef>
                <a:spcAft>
                  <a:spcPts val="0"/>
                </a:spcAft>
                <a:buNone/>
              </a:pPr>
              <a:r>
                <a:t/>
              </a:r>
              <a:endParaRPr/>
            </a:p>
          </p:txBody>
        </p:sp>
        <p:sp>
          <p:nvSpPr>
            <p:cNvPr id="457" name="Google Shape;457;p30"/>
            <p:cNvSpPr/>
            <p:nvPr/>
          </p:nvSpPr>
          <p:spPr>
            <a:xfrm rot="10800000">
              <a:off x="4668343" y="4283738"/>
              <a:ext cx="1230600" cy="45600"/>
            </a:xfrm>
            <a:prstGeom prst="roundRect">
              <a:avLst>
                <a:gd fmla="val 50000" name="adj"/>
              </a:avLst>
            </a:prstGeom>
            <a:solidFill>
              <a:srgbClr val="D9D9D9"/>
            </a:solidFill>
            <a:ln>
              <a:noFill/>
            </a:ln>
          </p:spPr>
          <p:txBody>
            <a:bodyPr anchorCtr="0" anchor="ctr" bIns="114075" lIns="114075" spcFirstLastPara="1" rIns="114075" wrap="square" tIns="114075">
              <a:noAutofit/>
            </a:bodyPr>
            <a:lstStyle/>
            <a:p>
              <a:pPr indent="0" lvl="0" marL="0" rtl="0" algn="l">
                <a:spcBef>
                  <a:spcPts val="0"/>
                </a:spcBef>
                <a:spcAft>
                  <a:spcPts val="0"/>
                </a:spcAft>
                <a:buNone/>
              </a:pPr>
              <a:r>
                <a:t/>
              </a:r>
              <a:endParaRPr/>
            </a:p>
          </p:txBody>
        </p:sp>
        <p:sp>
          <p:nvSpPr>
            <p:cNvPr id="458" name="Google Shape;458;p30"/>
            <p:cNvSpPr/>
            <p:nvPr/>
          </p:nvSpPr>
          <p:spPr>
            <a:xfrm>
              <a:off x="4926950" y="3681915"/>
              <a:ext cx="42900" cy="594300"/>
            </a:xfrm>
            <a:prstGeom prst="rect">
              <a:avLst/>
            </a:prstGeom>
            <a:solidFill>
              <a:srgbClr val="CCCCCC"/>
            </a:solidFill>
            <a:ln>
              <a:noFill/>
            </a:ln>
          </p:spPr>
          <p:txBody>
            <a:bodyPr anchorCtr="0" anchor="ctr" bIns="114075" lIns="114075" spcFirstLastPara="1" rIns="114075" wrap="square" tIns="114075">
              <a:noAutofit/>
            </a:bodyPr>
            <a:lstStyle/>
            <a:p>
              <a:pPr indent="0" lvl="0" marL="0" rtl="0" algn="l">
                <a:spcBef>
                  <a:spcPts val="0"/>
                </a:spcBef>
                <a:spcAft>
                  <a:spcPts val="0"/>
                </a:spcAft>
                <a:buNone/>
              </a:pPr>
              <a:r>
                <a:t/>
              </a:r>
              <a:endParaRPr/>
            </a:p>
          </p:txBody>
        </p:sp>
        <p:sp>
          <p:nvSpPr>
            <p:cNvPr id="459" name="Google Shape;459;p30"/>
            <p:cNvSpPr/>
            <p:nvPr/>
          </p:nvSpPr>
          <p:spPr>
            <a:xfrm>
              <a:off x="3553042" y="1674645"/>
              <a:ext cx="3461100" cy="2014500"/>
            </a:xfrm>
            <a:prstGeom prst="roundRect">
              <a:avLst>
                <a:gd fmla="val 1882" name="adj"/>
              </a:avLst>
            </a:prstGeom>
            <a:solidFill>
              <a:srgbClr val="CCCCCC"/>
            </a:solidFill>
            <a:ln>
              <a:noFill/>
            </a:ln>
          </p:spPr>
          <p:txBody>
            <a:bodyPr anchorCtr="0" anchor="ctr" bIns="114075" lIns="114075" spcFirstLastPara="1" rIns="114075" wrap="square" tIns="114075">
              <a:noAutofit/>
            </a:bodyPr>
            <a:lstStyle/>
            <a:p>
              <a:pPr indent="0" lvl="0" marL="0" rtl="0" algn="l">
                <a:spcBef>
                  <a:spcPts val="0"/>
                </a:spcBef>
                <a:spcAft>
                  <a:spcPts val="0"/>
                </a:spcAft>
                <a:buNone/>
              </a:pPr>
              <a:r>
                <a:t/>
              </a:r>
              <a:endParaRPr/>
            </a:p>
          </p:txBody>
        </p:sp>
        <p:sp>
          <p:nvSpPr>
            <p:cNvPr id="460" name="Google Shape;460;p30"/>
            <p:cNvSpPr/>
            <p:nvPr/>
          </p:nvSpPr>
          <p:spPr>
            <a:xfrm>
              <a:off x="3553042" y="1657806"/>
              <a:ext cx="3461100" cy="2014500"/>
            </a:xfrm>
            <a:prstGeom prst="roundRect">
              <a:avLst>
                <a:gd fmla="val 1764" name="adj"/>
              </a:avLst>
            </a:prstGeom>
            <a:solidFill>
              <a:srgbClr val="EFEFEF"/>
            </a:solidFill>
            <a:ln>
              <a:noFill/>
            </a:ln>
          </p:spPr>
          <p:txBody>
            <a:bodyPr anchorCtr="0" anchor="ctr" bIns="114075" lIns="114075" spcFirstLastPara="1" rIns="114075" wrap="square" tIns="114075">
              <a:noAutofit/>
            </a:bodyPr>
            <a:lstStyle/>
            <a:p>
              <a:pPr indent="0" lvl="0" marL="0" rtl="0" algn="l">
                <a:spcBef>
                  <a:spcPts val="0"/>
                </a:spcBef>
                <a:spcAft>
                  <a:spcPts val="0"/>
                </a:spcAft>
                <a:buNone/>
              </a:pPr>
              <a:r>
                <a:t/>
              </a:r>
              <a:endParaRPr/>
            </a:p>
          </p:txBody>
        </p:sp>
      </p:grpSp>
      <p:pic>
        <p:nvPicPr>
          <p:cNvPr id="461" name="Google Shape;461;p30"/>
          <p:cNvPicPr preferRelativeResize="0"/>
          <p:nvPr/>
        </p:nvPicPr>
        <p:blipFill rotWithShape="1">
          <a:blip r:embed="rId4">
            <a:alphaModFix/>
          </a:blip>
          <a:srcRect b="0" l="8726" r="8717" t="0"/>
          <a:stretch/>
        </p:blipFill>
        <p:spPr>
          <a:xfrm>
            <a:off x="4698303" y="1880048"/>
            <a:ext cx="4188300" cy="2386200"/>
          </a:xfrm>
          <a:prstGeom prst="rect">
            <a:avLst/>
          </a:prstGeom>
          <a:noFill/>
          <a:ln>
            <a:noFill/>
          </a:ln>
        </p:spPr>
      </p:pic>
      <p:pic>
        <p:nvPicPr>
          <p:cNvPr id="462" name="Google Shape;462;p30"/>
          <p:cNvPicPr preferRelativeResize="0"/>
          <p:nvPr/>
        </p:nvPicPr>
        <p:blipFill>
          <a:blip r:embed="rId5">
            <a:alphaModFix/>
          </a:blip>
          <a:stretch>
            <a:fillRect/>
          </a:stretch>
        </p:blipFill>
        <p:spPr>
          <a:xfrm>
            <a:off x="2859640" y="798550"/>
            <a:ext cx="1507200" cy="1990200"/>
          </a:xfrm>
          <a:prstGeom prst="roundRect">
            <a:avLst>
              <a:gd fmla="val 4587" name="adj"/>
            </a:avLst>
          </a:prstGeom>
          <a:noFill/>
          <a:ln>
            <a:noFill/>
          </a:ln>
        </p:spPr>
      </p:pic>
      <p:pic>
        <p:nvPicPr>
          <p:cNvPr id="463" name="Google Shape;463;p30"/>
          <p:cNvPicPr preferRelativeResize="0"/>
          <p:nvPr/>
        </p:nvPicPr>
        <p:blipFill rotWithShape="1">
          <a:blip r:embed="rId6">
            <a:alphaModFix/>
          </a:blip>
          <a:srcRect b="27917" l="0" r="0" t="0"/>
          <a:stretch/>
        </p:blipFill>
        <p:spPr>
          <a:xfrm>
            <a:off x="530655" y="1642527"/>
            <a:ext cx="1719000" cy="1161900"/>
          </a:xfrm>
          <a:prstGeom prst="roundRect">
            <a:avLst>
              <a:gd fmla="val 6110" name="adj"/>
            </a:avLst>
          </a:prstGeom>
          <a:noFill/>
          <a:ln>
            <a:noFill/>
          </a:ln>
        </p:spPr>
      </p:pic>
      <p:sp>
        <p:nvSpPr>
          <p:cNvPr id="464" name="Google Shape;464;p30"/>
          <p:cNvSpPr txBox="1"/>
          <p:nvPr/>
        </p:nvSpPr>
        <p:spPr>
          <a:xfrm>
            <a:off x="2770197" y="2674798"/>
            <a:ext cx="1699500" cy="433500"/>
          </a:xfrm>
          <a:prstGeom prst="rect">
            <a:avLst/>
          </a:prstGeom>
          <a:noFill/>
          <a:ln>
            <a:noFill/>
          </a:ln>
        </p:spPr>
        <p:txBody>
          <a:bodyPr anchorCtr="0" anchor="ctr" bIns="90950" lIns="90950" spcFirstLastPara="1" rIns="90950" wrap="square" tIns="90950">
            <a:noAutofit/>
          </a:bodyPr>
          <a:lstStyle/>
          <a:p>
            <a:pPr indent="0" lvl="0" marL="0" marR="0" rtl="0" algn="r">
              <a:lnSpc>
                <a:spcPct val="100000"/>
              </a:lnSpc>
              <a:spcBef>
                <a:spcPts val="0"/>
              </a:spcBef>
              <a:spcAft>
                <a:spcPts val="0"/>
              </a:spcAft>
              <a:buNone/>
            </a:pPr>
            <a:r>
              <a:rPr i="1" lang="es" sz="831">
                <a:solidFill>
                  <a:schemeClr val="lt1"/>
                </a:solidFill>
                <a:latin typeface="Montserrat"/>
                <a:ea typeface="Montserrat"/>
                <a:cs typeface="Montserrat"/>
                <a:sym typeface="Montserrat"/>
              </a:rPr>
              <a:t># Rudawenglish (2026)</a:t>
            </a:r>
            <a:endParaRPr i="1" sz="831">
              <a:solidFill>
                <a:schemeClr val="lt1"/>
              </a:solidFill>
              <a:latin typeface="Montserrat"/>
              <a:ea typeface="Montserrat"/>
              <a:cs typeface="Montserrat"/>
              <a:sym typeface="Montserrat"/>
            </a:endParaRPr>
          </a:p>
        </p:txBody>
      </p:sp>
      <p:sp>
        <p:nvSpPr>
          <p:cNvPr id="465" name="Google Shape;465;p30"/>
          <p:cNvSpPr txBox="1"/>
          <p:nvPr/>
        </p:nvSpPr>
        <p:spPr>
          <a:xfrm>
            <a:off x="491350" y="2769250"/>
            <a:ext cx="1846800" cy="271200"/>
          </a:xfrm>
          <a:prstGeom prst="rect">
            <a:avLst/>
          </a:prstGeom>
          <a:noFill/>
          <a:ln>
            <a:noFill/>
          </a:ln>
        </p:spPr>
        <p:txBody>
          <a:bodyPr anchorCtr="0" anchor="ctr" bIns="77300" lIns="77300" spcFirstLastPara="1" rIns="77300" wrap="square" tIns="77300">
            <a:noAutofit/>
          </a:bodyPr>
          <a:lstStyle/>
          <a:p>
            <a:pPr indent="0" lvl="0" marL="0" rtl="0" algn="r">
              <a:lnSpc>
                <a:spcPct val="100000"/>
              </a:lnSpc>
              <a:spcBef>
                <a:spcPts val="0"/>
              </a:spcBef>
              <a:spcAft>
                <a:spcPts val="0"/>
              </a:spcAft>
              <a:buNone/>
            </a:pPr>
            <a:r>
              <a:rPr i="1" lang="es" sz="831">
                <a:solidFill>
                  <a:schemeClr val="lt1"/>
                </a:solidFill>
                <a:latin typeface="Montserrat"/>
                <a:ea typeface="Montserrat"/>
                <a:cs typeface="Montserrat"/>
                <a:sym typeface="Montserrat"/>
              </a:rPr>
              <a:t># The</a:t>
            </a:r>
            <a:r>
              <a:rPr i="1" lang="es" sz="831">
                <a:solidFill>
                  <a:schemeClr val="lt1"/>
                </a:solidFill>
                <a:latin typeface="Montserrat"/>
                <a:ea typeface="Montserrat"/>
                <a:cs typeface="Montserrat"/>
                <a:sym typeface="Montserrat"/>
              </a:rPr>
              <a:t> </a:t>
            </a:r>
            <a:r>
              <a:rPr i="1" lang="es" sz="831">
                <a:solidFill>
                  <a:schemeClr val="lt1"/>
                </a:solidFill>
                <a:latin typeface="Montserrat"/>
                <a:ea typeface="Montserrat"/>
                <a:cs typeface="Montserrat"/>
                <a:sym typeface="Montserrat"/>
              </a:rPr>
              <a:t>Wall</a:t>
            </a:r>
            <a:r>
              <a:rPr i="1" lang="es" sz="831">
                <a:solidFill>
                  <a:schemeClr val="lt1"/>
                </a:solidFill>
                <a:latin typeface="Montserrat"/>
                <a:ea typeface="Montserrat"/>
                <a:cs typeface="Montserrat"/>
                <a:sym typeface="Montserrat"/>
              </a:rPr>
              <a:t> </a:t>
            </a:r>
            <a:r>
              <a:rPr i="1" lang="es" sz="831">
                <a:solidFill>
                  <a:schemeClr val="lt1"/>
                </a:solidFill>
                <a:latin typeface="Montserrat"/>
                <a:ea typeface="Montserrat"/>
                <a:cs typeface="Montserrat"/>
                <a:sym typeface="Montserrat"/>
              </a:rPr>
              <a:t>Street</a:t>
            </a:r>
            <a:r>
              <a:rPr i="1" lang="es" sz="831">
                <a:solidFill>
                  <a:schemeClr val="lt1"/>
                </a:solidFill>
                <a:latin typeface="Montserrat"/>
                <a:ea typeface="Montserrat"/>
                <a:cs typeface="Montserrat"/>
                <a:sym typeface="Montserrat"/>
              </a:rPr>
              <a:t> </a:t>
            </a:r>
            <a:r>
              <a:rPr i="1" lang="es" sz="831">
                <a:solidFill>
                  <a:schemeClr val="lt1"/>
                </a:solidFill>
                <a:latin typeface="Montserrat"/>
                <a:ea typeface="Montserrat"/>
                <a:cs typeface="Montserrat"/>
                <a:sym typeface="Montserrat"/>
              </a:rPr>
              <a:t>Journal </a:t>
            </a:r>
            <a:r>
              <a:rPr i="1" lang="es" sz="831">
                <a:solidFill>
                  <a:schemeClr val="lt1"/>
                </a:solidFill>
                <a:latin typeface="Montserrat"/>
                <a:ea typeface="Montserrat"/>
                <a:cs typeface="Montserrat"/>
                <a:sym typeface="Montserrat"/>
              </a:rPr>
              <a:t>(</a:t>
            </a:r>
            <a:r>
              <a:rPr i="1" lang="es" sz="831">
                <a:solidFill>
                  <a:schemeClr val="lt1"/>
                </a:solidFill>
                <a:latin typeface="Montserrat"/>
                <a:ea typeface="Montserrat"/>
                <a:cs typeface="Montserrat"/>
                <a:sym typeface="Montserrat"/>
              </a:rPr>
              <a:t>2016)</a:t>
            </a:r>
            <a:endParaRPr i="1" sz="831">
              <a:solidFill>
                <a:schemeClr val="lt1"/>
              </a:solidFill>
              <a:latin typeface="Montserrat"/>
              <a:ea typeface="Montserrat"/>
              <a:cs typeface="Montserrat"/>
              <a:sym typeface="Montserrat"/>
            </a:endParaRPr>
          </a:p>
        </p:txBody>
      </p:sp>
      <p:pic>
        <p:nvPicPr>
          <p:cNvPr id="466" name="Google Shape;466;p30"/>
          <p:cNvPicPr preferRelativeResize="0"/>
          <p:nvPr/>
        </p:nvPicPr>
        <p:blipFill rotWithShape="1">
          <a:blip r:embed="rId7">
            <a:alphaModFix/>
          </a:blip>
          <a:srcRect b="2600" l="5819" r="50359" t="0"/>
          <a:stretch/>
        </p:blipFill>
        <p:spPr>
          <a:xfrm>
            <a:off x="530662" y="3094312"/>
            <a:ext cx="1719000" cy="1721400"/>
          </a:xfrm>
          <a:prstGeom prst="roundRect">
            <a:avLst>
              <a:gd fmla="val 5639" name="adj"/>
            </a:avLst>
          </a:prstGeom>
          <a:noFill/>
          <a:ln>
            <a:noFill/>
          </a:ln>
        </p:spPr>
      </p:pic>
      <p:sp>
        <p:nvSpPr>
          <p:cNvPr id="467" name="Google Shape;467;p30"/>
          <p:cNvSpPr txBox="1"/>
          <p:nvPr/>
        </p:nvSpPr>
        <p:spPr>
          <a:xfrm>
            <a:off x="620549" y="3642221"/>
            <a:ext cx="1591800" cy="1262400"/>
          </a:xfrm>
          <a:prstGeom prst="rect">
            <a:avLst/>
          </a:prstGeom>
          <a:noFill/>
          <a:ln>
            <a:noFill/>
          </a:ln>
        </p:spPr>
        <p:txBody>
          <a:bodyPr anchorCtr="0" anchor="ctr" bIns="73950" lIns="73950" spcFirstLastPara="1" rIns="73950" wrap="square" tIns="73950">
            <a:noAutofit/>
          </a:bodyPr>
          <a:lstStyle/>
          <a:p>
            <a:pPr indent="0" lvl="0" marL="0" rtl="0" algn="r">
              <a:lnSpc>
                <a:spcPct val="100000"/>
              </a:lnSpc>
              <a:spcBef>
                <a:spcPts val="0"/>
              </a:spcBef>
              <a:spcAft>
                <a:spcPts val="0"/>
              </a:spcAft>
              <a:buNone/>
            </a:pPr>
            <a:r>
              <a:rPr lang="es" sz="1100">
                <a:solidFill>
                  <a:schemeClr val="lt1"/>
                </a:solidFill>
                <a:latin typeface="Georgia"/>
                <a:ea typeface="Georgia"/>
                <a:cs typeface="Georgia"/>
                <a:sym typeface="Georgia"/>
              </a:rPr>
              <a:t>It is an indisputable fact that the countries that use the most sunscreen, have the highest incidence of skin cancer</a:t>
            </a:r>
            <a:endParaRPr sz="1100">
              <a:solidFill>
                <a:schemeClr val="lt1"/>
              </a:solidFill>
              <a:latin typeface="Georgia"/>
              <a:ea typeface="Georgia"/>
              <a:cs typeface="Georgia"/>
              <a:sym typeface="Georgia"/>
            </a:endParaRPr>
          </a:p>
        </p:txBody>
      </p:sp>
      <p:pic>
        <p:nvPicPr>
          <p:cNvPr id="468" name="Google Shape;468;p30" title="julio.jpg"/>
          <p:cNvPicPr preferRelativeResize="0"/>
          <p:nvPr/>
        </p:nvPicPr>
        <p:blipFill rotWithShape="1">
          <a:blip r:embed="rId8">
            <a:alphaModFix/>
          </a:blip>
          <a:srcRect b="0" l="3622" r="2542" t="0"/>
          <a:stretch/>
        </p:blipFill>
        <p:spPr>
          <a:xfrm>
            <a:off x="2859638" y="3103680"/>
            <a:ext cx="1507200" cy="1721400"/>
          </a:xfrm>
          <a:prstGeom prst="roundRect">
            <a:avLst>
              <a:gd fmla="val 4857" name="adj"/>
            </a:avLst>
          </a:prstGeom>
          <a:noFill/>
          <a:ln>
            <a:noFill/>
          </a:ln>
        </p:spPr>
      </p:pic>
      <p:sp>
        <p:nvSpPr>
          <p:cNvPr id="469" name="Google Shape;469;p30"/>
          <p:cNvSpPr txBox="1"/>
          <p:nvPr/>
        </p:nvSpPr>
        <p:spPr>
          <a:xfrm>
            <a:off x="2750574" y="4781225"/>
            <a:ext cx="1699500" cy="300900"/>
          </a:xfrm>
          <a:prstGeom prst="rect">
            <a:avLst/>
          </a:prstGeom>
          <a:noFill/>
          <a:ln>
            <a:noFill/>
          </a:ln>
        </p:spPr>
        <p:txBody>
          <a:bodyPr anchorCtr="0" anchor="ctr" bIns="90950" lIns="90950" spcFirstLastPara="1" rIns="90950" wrap="square" tIns="90950">
            <a:noAutofit/>
          </a:bodyPr>
          <a:lstStyle/>
          <a:p>
            <a:pPr indent="0" lvl="0" marL="0" marR="0" rtl="0" algn="r">
              <a:lnSpc>
                <a:spcPct val="100000"/>
              </a:lnSpc>
              <a:spcBef>
                <a:spcPts val="0"/>
              </a:spcBef>
              <a:spcAft>
                <a:spcPts val="0"/>
              </a:spcAft>
              <a:buNone/>
            </a:pPr>
            <a:r>
              <a:rPr i="1" lang="es" sz="831">
                <a:solidFill>
                  <a:schemeClr val="lt1"/>
                </a:solidFill>
                <a:latin typeface="Montserrat"/>
                <a:ea typeface="Montserrat"/>
                <a:cs typeface="Montserrat"/>
                <a:sym typeface="Montserrat"/>
              </a:rPr>
              <a:t># BBC (2026)</a:t>
            </a:r>
            <a:endParaRPr i="1" sz="831">
              <a:solidFill>
                <a:schemeClr val="lt1"/>
              </a:solidFill>
              <a:latin typeface="Montserrat"/>
              <a:ea typeface="Montserrat"/>
              <a:cs typeface="Montserrat"/>
              <a:sym typeface="Montserrat"/>
            </a:endParaRPr>
          </a:p>
        </p:txBody>
      </p:sp>
      <p:sp>
        <p:nvSpPr>
          <p:cNvPr id="470" name="Google Shape;470;p30"/>
          <p:cNvSpPr txBox="1"/>
          <p:nvPr/>
        </p:nvSpPr>
        <p:spPr>
          <a:xfrm>
            <a:off x="542584" y="4763698"/>
            <a:ext cx="1794600" cy="300900"/>
          </a:xfrm>
          <a:prstGeom prst="rect">
            <a:avLst/>
          </a:prstGeom>
          <a:noFill/>
          <a:ln>
            <a:noFill/>
          </a:ln>
        </p:spPr>
        <p:txBody>
          <a:bodyPr anchorCtr="0" anchor="ctr" bIns="90950" lIns="90950" spcFirstLastPara="1" rIns="90950" wrap="square" tIns="90950">
            <a:noAutofit/>
          </a:bodyPr>
          <a:lstStyle/>
          <a:p>
            <a:pPr indent="0" lvl="0" marL="0" marR="0" rtl="0" algn="r">
              <a:lnSpc>
                <a:spcPct val="100000"/>
              </a:lnSpc>
              <a:spcBef>
                <a:spcPts val="0"/>
              </a:spcBef>
              <a:spcAft>
                <a:spcPts val="0"/>
              </a:spcAft>
              <a:buNone/>
            </a:pPr>
            <a:r>
              <a:rPr i="1" lang="es" sz="831">
                <a:solidFill>
                  <a:schemeClr val="lt1"/>
                </a:solidFill>
                <a:latin typeface="Montserrat"/>
                <a:ea typeface="Montserrat"/>
                <a:cs typeface="Montserrat"/>
                <a:sym typeface="Montserrat"/>
              </a:rPr>
              <a:t># Social Media X (2025)</a:t>
            </a:r>
            <a:endParaRPr i="1" sz="831">
              <a:solidFill>
                <a:schemeClr val="lt1"/>
              </a:solidFill>
              <a:latin typeface="Montserrat"/>
              <a:ea typeface="Montserrat"/>
              <a:cs typeface="Montserrat"/>
              <a:sym typeface="Montserrat"/>
            </a:endParaRPr>
          </a:p>
        </p:txBody>
      </p:sp>
      <p:sp>
        <p:nvSpPr>
          <p:cNvPr id="471" name="Google Shape;471;p30"/>
          <p:cNvSpPr/>
          <p:nvPr/>
        </p:nvSpPr>
        <p:spPr>
          <a:xfrm>
            <a:off x="113961" y="1419072"/>
            <a:ext cx="378600" cy="378300"/>
          </a:xfrm>
          <a:prstGeom prst="ellipse">
            <a:avLst/>
          </a:prstGeom>
          <a:noFill/>
          <a:ln cap="flat" cmpd="sng" w="8325">
            <a:solidFill>
              <a:schemeClr val="dk2"/>
            </a:solidFill>
            <a:prstDash val="solid"/>
            <a:round/>
            <a:headEnd len="sm" w="sm" type="none"/>
            <a:tailEnd len="sm" w="sm" type="none"/>
          </a:ln>
        </p:spPr>
        <p:txBody>
          <a:bodyPr anchorCtr="0" anchor="ctr" bIns="79825" lIns="79825" spcFirstLastPara="1" rIns="79825" wrap="square" tIns="79825">
            <a:noAutofit/>
          </a:bodyPr>
          <a:lstStyle/>
          <a:p>
            <a:pPr indent="0" lvl="0" marL="0" rtl="0" algn="ctr">
              <a:spcBef>
                <a:spcPts val="0"/>
              </a:spcBef>
              <a:spcAft>
                <a:spcPts val="0"/>
              </a:spcAft>
              <a:buNone/>
            </a:pPr>
            <a:r>
              <a:t/>
            </a:r>
            <a:endParaRPr b="1" sz="873">
              <a:solidFill>
                <a:schemeClr val="lt1"/>
              </a:solidFill>
              <a:latin typeface="Lato"/>
              <a:ea typeface="Lato"/>
              <a:cs typeface="Lato"/>
              <a:sym typeface="Lato"/>
            </a:endParaRPr>
          </a:p>
        </p:txBody>
      </p:sp>
      <p:sp>
        <p:nvSpPr>
          <p:cNvPr id="472" name="Google Shape;472;p30"/>
          <p:cNvSpPr txBox="1"/>
          <p:nvPr/>
        </p:nvSpPr>
        <p:spPr>
          <a:xfrm>
            <a:off x="113972" y="1533642"/>
            <a:ext cx="378600" cy="149400"/>
          </a:xfrm>
          <a:prstGeom prst="rect">
            <a:avLst/>
          </a:prstGeom>
          <a:noFill/>
          <a:ln>
            <a:noFill/>
          </a:ln>
        </p:spPr>
        <p:txBody>
          <a:bodyPr anchorCtr="0" anchor="ctr" bIns="79425" lIns="79425" spcFirstLastPara="1" rIns="79425" wrap="square" tIns="79425">
            <a:noAutofit/>
          </a:bodyPr>
          <a:lstStyle/>
          <a:p>
            <a:pPr indent="0" lvl="0" marL="0" marR="0" rtl="0" algn="ctr">
              <a:lnSpc>
                <a:spcPct val="100000"/>
              </a:lnSpc>
              <a:spcBef>
                <a:spcPts val="0"/>
              </a:spcBef>
              <a:spcAft>
                <a:spcPts val="0"/>
              </a:spcAft>
              <a:buNone/>
            </a:pPr>
            <a:r>
              <a:rPr b="1" lang="es" sz="1074">
                <a:solidFill>
                  <a:schemeClr val="lt1"/>
                </a:solidFill>
                <a:latin typeface="Montserrat"/>
                <a:ea typeface="Montserrat"/>
                <a:cs typeface="Montserrat"/>
                <a:sym typeface="Montserrat"/>
              </a:rPr>
              <a:t>#1</a:t>
            </a:r>
            <a:endParaRPr b="1" sz="1074">
              <a:solidFill>
                <a:schemeClr val="lt1"/>
              </a:solidFill>
              <a:latin typeface="Montserrat"/>
              <a:ea typeface="Montserrat"/>
              <a:cs typeface="Montserrat"/>
              <a:sym typeface="Montserrat"/>
            </a:endParaRPr>
          </a:p>
        </p:txBody>
      </p:sp>
      <p:sp>
        <p:nvSpPr>
          <p:cNvPr id="473" name="Google Shape;473;p30"/>
          <p:cNvSpPr/>
          <p:nvPr/>
        </p:nvSpPr>
        <p:spPr>
          <a:xfrm>
            <a:off x="113958" y="2910505"/>
            <a:ext cx="378600" cy="378300"/>
          </a:xfrm>
          <a:prstGeom prst="ellipse">
            <a:avLst/>
          </a:prstGeom>
          <a:noFill/>
          <a:ln cap="flat" cmpd="sng" w="8325">
            <a:solidFill>
              <a:schemeClr val="dk2"/>
            </a:solidFill>
            <a:prstDash val="solid"/>
            <a:round/>
            <a:headEnd len="sm" w="sm" type="none"/>
            <a:tailEnd len="sm" w="sm" type="none"/>
          </a:ln>
        </p:spPr>
        <p:txBody>
          <a:bodyPr anchorCtr="0" anchor="ctr" bIns="79825" lIns="79825" spcFirstLastPara="1" rIns="79825" wrap="square" tIns="79825">
            <a:noAutofit/>
          </a:bodyPr>
          <a:lstStyle/>
          <a:p>
            <a:pPr indent="0" lvl="0" marL="0" rtl="0" algn="ctr">
              <a:spcBef>
                <a:spcPts val="0"/>
              </a:spcBef>
              <a:spcAft>
                <a:spcPts val="0"/>
              </a:spcAft>
              <a:buNone/>
            </a:pPr>
            <a:r>
              <a:t/>
            </a:r>
            <a:endParaRPr b="1" sz="873">
              <a:solidFill>
                <a:schemeClr val="lt1"/>
              </a:solidFill>
              <a:latin typeface="Lato"/>
              <a:ea typeface="Lato"/>
              <a:cs typeface="Lato"/>
              <a:sym typeface="Lato"/>
            </a:endParaRPr>
          </a:p>
        </p:txBody>
      </p:sp>
      <p:sp>
        <p:nvSpPr>
          <p:cNvPr id="474" name="Google Shape;474;p30"/>
          <p:cNvSpPr txBox="1"/>
          <p:nvPr/>
        </p:nvSpPr>
        <p:spPr>
          <a:xfrm>
            <a:off x="113969" y="3032692"/>
            <a:ext cx="378600" cy="133800"/>
          </a:xfrm>
          <a:prstGeom prst="rect">
            <a:avLst/>
          </a:prstGeom>
          <a:noFill/>
          <a:ln>
            <a:noFill/>
          </a:ln>
        </p:spPr>
        <p:txBody>
          <a:bodyPr anchorCtr="0" anchor="ctr" bIns="79425" lIns="79425" spcFirstLastPara="1" rIns="79425" wrap="square" tIns="79425">
            <a:noAutofit/>
          </a:bodyPr>
          <a:lstStyle/>
          <a:p>
            <a:pPr indent="0" lvl="0" marL="0" marR="0" rtl="0" algn="ctr">
              <a:lnSpc>
                <a:spcPct val="100000"/>
              </a:lnSpc>
              <a:spcBef>
                <a:spcPts val="0"/>
              </a:spcBef>
              <a:spcAft>
                <a:spcPts val="0"/>
              </a:spcAft>
              <a:buNone/>
            </a:pPr>
            <a:r>
              <a:rPr b="1" lang="es" sz="1074">
                <a:solidFill>
                  <a:schemeClr val="lt1"/>
                </a:solidFill>
                <a:latin typeface="Montserrat"/>
                <a:ea typeface="Montserrat"/>
                <a:cs typeface="Montserrat"/>
                <a:sym typeface="Montserrat"/>
              </a:rPr>
              <a:t>#2</a:t>
            </a:r>
            <a:endParaRPr b="1" sz="1074">
              <a:solidFill>
                <a:schemeClr val="lt1"/>
              </a:solidFill>
              <a:latin typeface="Montserrat"/>
              <a:ea typeface="Montserrat"/>
              <a:cs typeface="Montserrat"/>
              <a:sym typeface="Montserrat"/>
            </a:endParaRPr>
          </a:p>
        </p:txBody>
      </p:sp>
      <p:sp>
        <p:nvSpPr>
          <p:cNvPr id="475" name="Google Shape;475;p30"/>
          <p:cNvSpPr/>
          <p:nvPr/>
        </p:nvSpPr>
        <p:spPr>
          <a:xfrm>
            <a:off x="2445399" y="569669"/>
            <a:ext cx="378600" cy="378300"/>
          </a:xfrm>
          <a:prstGeom prst="ellipse">
            <a:avLst/>
          </a:prstGeom>
          <a:noFill/>
          <a:ln cap="flat" cmpd="sng" w="8325">
            <a:solidFill>
              <a:schemeClr val="dk2"/>
            </a:solidFill>
            <a:prstDash val="solid"/>
            <a:round/>
            <a:headEnd len="sm" w="sm" type="none"/>
            <a:tailEnd len="sm" w="sm" type="none"/>
          </a:ln>
        </p:spPr>
        <p:txBody>
          <a:bodyPr anchorCtr="0" anchor="ctr" bIns="79825" lIns="79825" spcFirstLastPara="1" rIns="79825" wrap="square" tIns="79825">
            <a:noAutofit/>
          </a:bodyPr>
          <a:lstStyle/>
          <a:p>
            <a:pPr indent="0" lvl="0" marL="0" marR="0" rtl="0" algn="ctr">
              <a:lnSpc>
                <a:spcPct val="100000"/>
              </a:lnSpc>
              <a:spcBef>
                <a:spcPts val="0"/>
              </a:spcBef>
              <a:spcAft>
                <a:spcPts val="0"/>
              </a:spcAft>
              <a:buNone/>
            </a:pPr>
            <a:r>
              <a:t/>
            </a:r>
            <a:endParaRPr b="1" sz="873">
              <a:solidFill>
                <a:schemeClr val="lt1"/>
              </a:solidFill>
              <a:latin typeface="Lato"/>
              <a:ea typeface="Lato"/>
              <a:cs typeface="Lato"/>
              <a:sym typeface="Lato"/>
            </a:endParaRPr>
          </a:p>
        </p:txBody>
      </p:sp>
      <p:sp>
        <p:nvSpPr>
          <p:cNvPr id="476" name="Google Shape;476;p30"/>
          <p:cNvSpPr txBox="1"/>
          <p:nvPr/>
        </p:nvSpPr>
        <p:spPr>
          <a:xfrm>
            <a:off x="2445399" y="680984"/>
            <a:ext cx="378600" cy="156000"/>
          </a:xfrm>
          <a:prstGeom prst="rect">
            <a:avLst/>
          </a:prstGeom>
          <a:noFill/>
          <a:ln>
            <a:noFill/>
          </a:ln>
        </p:spPr>
        <p:txBody>
          <a:bodyPr anchorCtr="0" anchor="ctr" bIns="79425" lIns="79425" spcFirstLastPara="1" rIns="79425" wrap="square" tIns="79425">
            <a:noAutofit/>
          </a:bodyPr>
          <a:lstStyle/>
          <a:p>
            <a:pPr indent="0" lvl="0" marL="0" marR="0" rtl="0" algn="ctr">
              <a:lnSpc>
                <a:spcPct val="100000"/>
              </a:lnSpc>
              <a:spcBef>
                <a:spcPts val="0"/>
              </a:spcBef>
              <a:spcAft>
                <a:spcPts val="0"/>
              </a:spcAft>
              <a:buNone/>
            </a:pPr>
            <a:r>
              <a:rPr b="1" lang="es" sz="1074">
                <a:solidFill>
                  <a:schemeClr val="lt1"/>
                </a:solidFill>
                <a:latin typeface="Montserrat"/>
                <a:ea typeface="Montserrat"/>
                <a:cs typeface="Montserrat"/>
                <a:sym typeface="Montserrat"/>
              </a:rPr>
              <a:t>#3</a:t>
            </a:r>
            <a:endParaRPr b="1" sz="1074">
              <a:solidFill>
                <a:schemeClr val="lt1"/>
              </a:solidFill>
              <a:latin typeface="Montserrat"/>
              <a:ea typeface="Montserrat"/>
              <a:cs typeface="Montserrat"/>
              <a:sym typeface="Montserrat"/>
            </a:endParaRPr>
          </a:p>
        </p:txBody>
      </p:sp>
      <p:grpSp>
        <p:nvGrpSpPr>
          <p:cNvPr id="477" name="Google Shape;477;p30"/>
          <p:cNvGrpSpPr/>
          <p:nvPr/>
        </p:nvGrpSpPr>
        <p:grpSpPr>
          <a:xfrm>
            <a:off x="2445204" y="2911669"/>
            <a:ext cx="378446" cy="378489"/>
            <a:chOff x="2390374" y="2836930"/>
            <a:chExt cx="433501" cy="433500"/>
          </a:xfrm>
        </p:grpSpPr>
        <p:sp>
          <p:nvSpPr>
            <p:cNvPr id="478" name="Google Shape;478;p30"/>
            <p:cNvSpPr/>
            <p:nvPr/>
          </p:nvSpPr>
          <p:spPr>
            <a:xfrm>
              <a:off x="2390374" y="2836930"/>
              <a:ext cx="433500" cy="433500"/>
            </a:xfrm>
            <a:prstGeom prst="ellipse">
              <a:avLst/>
            </a:prstGeom>
            <a:noFill/>
            <a:ln cap="flat" cmpd="sng" w="8325">
              <a:solidFill>
                <a:schemeClr val="dk2"/>
              </a:solidFill>
              <a:prstDash val="solid"/>
              <a:round/>
              <a:headEnd len="sm" w="sm" type="none"/>
              <a:tailEnd len="sm" w="sm" type="none"/>
            </a:ln>
          </p:spPr>
          <p:txBody>
            <a:bodyPr anchorCtr="0" anchor="ctr" bIns="79825" lIns="79825" spcFirstLastPara="1" rIns="79825" wrap="square" tIns="79825">
              <a:noAutofit/>
            </a:bodyPr>
            <a:lstStyle/>
            <a:p>
              <a:pPr indent="0" lvl="0" marL="0" rtl="0" algn="ctr">
                <a:spcBef>
                  <a:spcPts val="0"/>
                </a:spcBef>
                <a:spcAft>
                  <a:spcPts val="0"/>
                </a:spcAft>
                <a:buNone/>
              </a:pPr>
              <a:r>
                <a:t/>
              </a:r>
              <a:endParaRPr b="1" sz="873">
                <a:solidFill>
                  <a:schemeClr val="lt1"/>
                </a:solidFill>
                <a:latin typeface="Lato"/>
                <a:ea typeface="Lato"/>
                <a:cs typeface="Lato"/>
                <a:sym typeface="Lato"/>
              </a:endParaRPr>
            </a:p>
          </p:txBody>
        </p:sp>
        <p:sp>
          <p:nvSpPr>
            <p:cNvPr id="479" name="Google Shape;479;p30"/>
            <p:cNvSpPr txBox="1"/>
            <p:nvPr/>
          </p:nvSpPr>
          <p:spPr>
            <a:xfrm>
              <a:off x="2390375" y="2961253"/>
              <a:ext cx="433500" cy="184800"/>
            </a:xfrm>
            <a:prstGeom prst="rect">
              <a:avLst/>
            </a:prstGeom>
            <a:noFill/>
            <a:ln>
              <a:noFill/>
            </a:ln>
          </p:spPr>
          <p:txBody>
            <a:bodyPr anchorCtr="0" anchor="ctr" bIns="79425" lIns="79425" spcFirstLastPara="1" rIns="79425" wrap="square" tIns="79425">
              <a:noAutofit/>
            </a:bodyPr>
            <a:lstStyle/>
            <a:p>
              <a:pPr indent="0" lvl="0" marL="0" marR="0" rtl="0" algn="ctr">
                <a:lnSpc>
                  <a:spcPct val="100000"/>
                </a:lnSpc>
                <a:spcBef>
                  <a:spcPts val="0"/>
                </a:spcBef>
                <a:spcAft>
                  <a:spcPts val="0"/>
                </a:spcAft>
                <a:buNone/>
              </a:pPr>
              <a:r>
                <a:rPr b="1" lang="es" sz="1074">
                  <a:solidFill>
                    <a:schemeClr val="lt1"/>
                  </a:solidFill>
                  <a:latin typeface="Montserrat"/>
                  <a:ea typeface="Montserrat"/>
                  <a:cs typeface="Montserrat"/>
                  <a:sym typeface="Montserrat"/>
                </a:rPr>
                <a:t>#4</a:t>
              </a:r>
              <a:endParaRPr b="1" sz="1074">
                <a:solidFill>
                  <a:schemeClr val="lt1"/>
                </a:solidFill>
                <a:latin typeface="Montserrat"/>
                <a:ea typeface="Montserrat"/>
                <a:cs typeface="Montserrat"/>
                <a:sym typeface="Montserrat"/>
              </a:endParaRPr>
            </a:p>
          </p:txBody>
        </p:sp>
      </p:grpSp>
      <p:grpSp>
        <p:nvGrpSpPr>
          <p:cNvPr id="480" name="Google Shape;480;p30"/>
          <p:cNvGrpSpPr/>
          <p:nvPr/>
        </p:nvGrpSpPr>
        <p:grpSpPr>
          <a:xfrm>
            <a:off x="4772426" y="1971147"/>
            <a:ext cx="452012" cy="452023"/>
            <a:chOff x="4828025" y="2083562"/>
            <a:chExt cx="433501" cy="433512"/>
          </a:xfrm>
        </p:grpSpPr>
        <p:sp>
          <p:nvSpPr>
            <p:cNvPr id="481" name="Google Shape;481;p30"/>
            <p:cNvSpPr/>
            <p:nvPr/>
          </p:nvSpPr>
          <p:spPr>
            <a:xfrm>
              <a:off x="4828025" y="2083574"/>
              <a:ext cx="433500" cy="433500"/>
            </a:xfrm>
            <a:prstGeom prst="ellipse">
              <a:avLst/>
            </a:prstGeom>
            <a:gradFill>
              <a:gsLst>
                <a:gs pos="0">
                  <a:srgbClr val="DB0000"/>
                </a:gs>
                <a:gs pos="100000">
                  <a:srgbClr val="540303"/>
                </a:gs>
              </a:gsLst>
              <a:path path="circle">
                <a:fillToRect b="50%" l="50%" r="50%" t="50%"/>
              </a:path>
              <a:tileRect/>
            </a:gradFill>
            <a:ln cap="flat" cmpd="sng" w="9925">
              <a:solidFill>
                <a:schemeClr val="dk2"/>
              </a:solidFill>
              <a:prstDash val="solid"/>
              <a:round/>
              <a:headEnd len="sm" w="sm" type="none"/>
              <a:tailEnd len="sm" w="sm" type="none"/>
            </a:ln>
          </p:spPr>
          <p:txBody>
            <a:bodyPr anchorCtr="0" anchor="ctr" bIns="95325" lIns="95325" spcFirstLastPara="1" rIns="95325" wrap="square" tIns="95325">
              <a:noAutofit/>
            </a:bodyPr>
            <a:lstStyle/>
            <a:p>
              <a:pPr indent="0" lvl="0" marL="0" rtl="0" algn="ctr">
                <a:spcBef>
                  <a:spcPts val="0"/>
                </a:spcBef>
                <a:spcAft>
                  <a:spcPts val="0"/>
                </a:spcAft>
                <a:buNone/>
              </a:pPr>
              <a:r>
                <a:t/>
              </a:r>
              <a:endParaRPr b="1" sz="1042">
                <a:solidFill>
                  <a:schemeClr val="lt1"/>
                </a:solidFill>
                <a:latin typeface="Lato"/>
                <a:ea typeface="Lato"/>
                <a:cs typeface="Lato"/>
                <a:sym typeface="Lato"/>
              </a:endParaRPr>
            </a:p>
          </p:txBody>
        </p:sp>
        <p:sp>
          <p:nvSpPr>
            <p:cNvPr id="482" name="Google Shape;482;p30"/>
            <p:cNvSpPr txBox="1"/>
            <p:nvPr/>
          </p:nvSpPr>
          <p:spPr>
            <a:xfrm>
              <a:off x="4828026" y="2083562"/>
              <a:ext cx="433500" cy="433500"/>
            </a:xfrm>
            <a:prstGeom prst="rect">
              <a:avLst/>
            </a:prstGeom>
            <a:noFill/>
            <a:ln>
              <a:noFill/>
            </a:ln>
          </p:spPr>
          <p:txBody>
            <a:bodyPr anchorCtr="0" anchor="ctr" bIns="94825" lIns="94825" spcFirstLastPara="1" rIns="94825" wrap="square" tIns="94825">
              <a:noAutofit/>
            </a:bodyPr>
            <a:lstStyle/>
            <a:p>
              <a:pPr indent="0" lvl="0" marL="0" marR="0" rtl="0" algn="ctr">
                <a:lnSpc>
                  <a:spcPct val="100000"/>
                </a:lnSpc>
                <a:spcBef>
                  <a:spcPts val="0"/>
                </a:spcBef>
                <a:spcAft>
                  <a:spcPts val="0"/>
                </a:spcAft>
                <a:buNone/>
              </a:pPr>
              <a:r>
                <a:rPr b="1" lang="es" sz="1283">
                  <a:solidFill>
                    <a:schemeClr val="lt1"/>
                  </a:solidFill>
                  <a:latin typeface="Montserrat"/>
                  <a:ea typeface="Montserrat"/>
                  <a:cs typeface="Montserrat"/>
                  <a:sym typeface="Montserrat"/>
                </a:rPr>
                <a:t>#1</a:t>
              </a:r>
              <a:endParaRPr b="1" sz="1283">
                <a:solidFill>
                  <a:schemeClr val="lt1"/>
                </a:solidFill>
                <a:latin typeface="Montserrat"/>
                <a:ea typeface="Montserrat"/>
                <a:cs typeface="Montserrat"/>
                <a:sym typeface="Montserrat"/>
              </a:endParaRPr>
            </a:p>
          </p:txBody>
        </p:sp>
      </p:grpSp>
      <p:grpSp>
        <p:nvGrpSpPr>
          <p:cNvPr id="483" name="Google Shape;483;p30"/>
          <p:cNvGrpSpPr/>
          <p:nvPr/>
        </p:nvGrpSpPr>
        <p:grpSpPr>
          <a:xfrm>
            <a:off x="4772426" y="2562399"/>
            <a:ext cx="452012" cy="452023"/>
            <a:chOff x="4828025" y="2571739"/>
            <a:chExt cx="433501" cy="433512"/>
          </a:xfrm>
        </p:grpSpPr>
        <p:sp>
          <p:nvSpPr>
            <p:cNvPr id="484" name="Google Shape;484;p30"/>
            <p:cNvSpPr/>
            <p:nvPr/>
          </p:nvSpPr>
          <p:spPr>
            <a:xfrm>
              <a:off x="4828025" y="2571751"/>
              <a:ext cx="433500" cy="433500"/>
            </a:xfrm>
            <a:prstGeom prst="ellipse">
              <a:avLst/>
            </a:prstGeom>
            <a:gradFill>
              <a:gsLst>
                <a:gs pos="0">
                  <a:srgbClr val="DB0000"/>
                </a:gs>
                <a:gs pos="100000">
                  <a:srgbClr val="540303"/>
                </a:gs>
              </a:gsLst>
              <a:path path="circle">
                <a:fillToRect b="50%" l="50%" r="50%" t="50%"/>
              </a:path>
              <a:tileRect/>
            </a:gradFill>
            <a:ln cap="flat" cmpd="sng" w="9925">
              <a:solidFill>
                <a:schemeClr val="dk2"/>
              </a:solidFill>
              <a:prstDash val="solid"/>
              <a:round/>
              <a:headEnd len="sm" w="sm" type="none"/>
              <a:tailEnd len="sm" w="sm" type="none"/>
            </a:ln>
          </p:spPr>
          <p:txBody>
            <a:bodyPr anchorCtr="0" anchor="ctr" bIns="95325" lIns="95325" spcFirstLastPara="1" rIns="95325" wrap="square" tIns="95325">
              <a:noAutofit/>
            </a:bodyPr>
            <a:lstStyle/>
            <a:p>
              <a:pPr indent="0" lvl="0" marL="0" rtl="0" algn="ctr">
                <a:spcBef>
                  <a:spcPts val="0"/>
                </a:spcBef>
                <a:spcAft>
                  <a:spcPts val="0"/>
                </a:spcAft>
                <a:buNone/>
              </a:pPr>
              <a:r>
                <a:t/>
              </a:r>
              <a:endParaRPr b="1" sz="1042">
                <a:solidFill>
                  <a:schemeClr val="lt1"/>
                </a:solidFill>
                <a:latin typeface="Lato"/>
                <a:ea typeface="Lato"/>
                <a:cs typeface="Lato"/>
                <a:sym typeface="Lato"/>
              </a:endParaRPr>
            </a:p>
          </p:txBody>
        </p:sp>
        <p:sp>
          <p:nvSpPr>
            <p:cNvPr id="485" name="Google Shape;485;p30"/>
            <p:cNvSpPr txBox="1"/>
            <p:nvPr/>
          </p:nvSpPr>
          <p:spPr>
            <a:xfrm>
              <a:off x="4828026" y="2571739"/>
              <a:ext cx="433500" cy="433500"/>
            </a:xfrm>
            <a:prstGeom prst="rect">
              <a:avLst/>
            </a:prstGeom>
            <a:noFill/>
            <a:ln>
              <a:noFill/>
            </a:ln>
          </p:spPr>
          <p:txBody>
            <a:bodyPr anchorCtr="0" anchor="ctr" bIns="94825" lIns="94825" spcFirstLastPara="1" rIns="94825" wrap="square" tIns="94825">
              <a:noAutofit/>
            </a:bodyPr>
            <a:lstStyle/>
            <a:p>
              <a:pPr indent="0" lvl="0" marL="0" marR="0" rtl="0" algn="ctr">
                <a:lnSpc>
                  <a:spcPct val="100000"/>
                </a:lnSpc>
                <a:spcBef>
                  <a:spcPts val="0"/>
                </a:spcBef>
                <a:spcAft>
                  <a:spcPts val="0"/>
                </a:spcAft>
                <a:buNone/>
              </a:pPr>
              <a:r>
                <a:rPr b="1" lang="es" sz="1283">
                  <a:solidFill>
                    <a:schemeClr val="lt1"/>
                  </a:solidFill>
                  <a:latin typeface="Montserrat"/>
                  <a:ea typeface="Montserrat"/>
                  <a:cs typeface="Montserrat"/>
                  <a:sym typeface="Montserrat"/>
                </a:rPr>
                <a:t>#2</a:t>
              </a:r>
              <a:endParaRPr b="1" sz="1283">
                <a:solidFill>
                  <a:schemeClr val="lt1"/>
                </a:solidFill>
                <a:latin typeface="Montserrat"/>
                <a:ea typeface="Montserrat"/>
                <a:cs typeface="Montserrat"/>
                <a:sym typeface="Montserrat"/>
              </a:endParaRPr>
            </a:p>
          </p:txBody>
        </p:sp>
      </p:grpSp>
      <p:grpSp>
        <p:nvGrpSpPr>
          <p:cNvPr id="486" name="Google Shape;486;p30"/>
          <p:cNvGrpSpPr/>
          <p:nvPr/>
        </p:nvGrpSpPr>
        <p:grpSpPr>
          <a:xfrm>
            <a:off x="4772425" y="3135383"/>
            <a:ext cx="452012" cy="452023"/>
            <a:chOff x="4828024" y="3059921"/>
            <a:chExt cx="433501" cy="433512"/>
          </a:xfrm>
        </p:grpSpPr>
        <p:sp>
          <p:nvSpPr>
            <p:cNvPr id="487" name="Google Shape;487;p30"/>
            <p:cNvSpPr/>
            <p:nvPr/>
          </p:nvSpPr>
          <p:spPr>
            <a:xfrm>
              <a:off x="4828024" y="3059934"/>
              <a:ext cx="433500" cy="433500"/>
            </a:xfrm>
            <a:prstGeom prst="ellipse">
              <a:avLst/>
            </a:prstGeom>
            <a:gradFill>
              <a:gsLst>
                <a:gs pos="0">
                  <a:srgbClr val="DCECD5"/>
                </a:gs>
                <a:gs pos="100000">
                  <a:srgbClr val="92BC81"/>
                </a:gs>
              </a:gsLst>
              <a:lin ang="5400012" scaled="0"/>
            </a:gradFill>
            <a:ln cap="flat" cmpd="sng" w="9925">
              <a:solidFill>
                <a:schemeClr val="dk2"/>
              </a:solidFill>
              <a:prstDash val="solid"/>
              <a:round/>
              <a:headEnd len="sm" w="sm" type="none"/>
              <a:tailEnd len="sm" w="sm" type="none"/>
            </a:ln>
          </p:spPr>
          <p:txBody>
            <a:bodyPr anchorCtr="0" anchor="ctr" bIns="95325" lIns="95325" spcFirstLastPara="1" rIns="95325" wrap="square" tIns="95325">
              <a:noAutofit/>
            </a:bodyPr>
            <a:lstStyle/>
            <a:p>
              <a:pPr indent="0" lvl="0" marL="0" rtl="0" algn="ctr">
                <a:spcBef>
                  <a:spcPts val="0"/>
                </a:spcBef>
                <a:spcAft>
                  <a:spcPts val="0"/>
                </a:spcAft>
                <a:buNone/>
              </a:pPr>
              <a:r>
                <a:t/>
              </a:r>
              <a:endParaRPr b="1" sz="1042">
                <a:solidFill>
                  <a:schemeClr val="lt1"/>
                </a:solidFill>
                <a:latin typeface="Lato"/>
                <a:ea typeface="Lato"/>
                <a:cs typeface="Lato"/>
                <a:sym typeface="Lato"/>
              </a:endParaRPr>
            </a:p>
          </p:txBody>
        </p:sp>
        <p:sp>
          <p:nvSpPr>
            <p:cNvPr id="488" name="Google Shape;488;p30"/>
            <p:cNvSpPr txBox="1"/>
            <p:nvPr/>
          </p:nvSpPr>
          <p:spPr>
            <a:xfrm>
              <a:off x="4828025" y="3059921"/>
              <a:ext cx="433500" cy="433500"/>
            </a:xfrm>
            <a:prstGeom prst="rect">
              <a:avLst/>
            </a:prstGeom>
            <a:noFill/>
            <a:ln>
              <a:noFill/>
            </a:ln>
          </p:spPr>
          <p:txBody>
            <a:bodyPr anchorCtr="0" anchor="ctr" bIns="94825" lIns="94825" spcFirstLastPara="1" rIns="94825" wrap="square" tIns="94825">
              <a:noAutofit/>
            </a:bodyPr>
            <a:lstStyle/>
            <a:p>
              <a:pPr indent="0" lvl="0" marL="0" marR="0" rtl="0" algn="ctr">
                <a:lnSpc>
                  <a:spcPct val="100000"/>
                </a:lnSpc>
                <a:spcBef>
                  <a:spcPts val="0"/>
                </a:spcBef>
                <a:spcAft>
                  <a:spcPts val="0"/>
                </a:spcAft>
                <a:buNone/>
              </a:pPr>
              <a:r>
                <a:rPr b="1" lang="es" sz="1283">
                  <a:solidFill>
                    <a:schemeClr val="lt1"/>
                  </a:solidFill>
                  <a:latin typeface="Montserrat"/>
                  <a:ea typeface="Montserrat"/>
                  <a:cs typeface="Montserrat"/>
                  <a:sym typeface="Montserrat"/>
                </a:rPr>
                <a:t>#3</a:t>
              </a:r>
              <a:endParaRPr b="1" sz="1283">
                <a:solidFill>
                  <a:schemeClr val="lt1"/>
                </a:solidFill>
                <a:latin typeface="Montserrat"/>
                <a:ea typeface="Montserrat"/>
                <a:cs typeface="Montserrat"/>
                <a:sym typeface="Montserrat"/>
              </a:endParaRPr>
            </a:p>
          </p:txBody>
        </p:sp>
      </p:grpSp>
      <p:grpSp>
        <p:nvGrpSpPr>
          <p:cNvPr id="489" name="Google Shape;489;p30"/>
          <p:cNvGrpSpPr/>
          <p:nvPr/>
        </p:nvGrpSpPr>
        <p:grpSpPr>
          <a:xfrm>
            <a:off x="4772425" y="3719595"/>
            <a:ext cx="452012" cy="452023"/>
            <a:chOff x="4828024" y="3786696"/>
            <a:chExt cx="433501" cy="433512"/>
          </a:xfrm>
        </p:grpSpPr>
        <p:sp>
          <p:nvSpPr>
            <p:cNvPr id="490" name="Google Shape;490;p30"/>
            <p:cNvSpPr/>
            <p:nvPr/>
          </p:nvSpPr>
          <p:spPr>
            <a:xfrm>
              <a:off x="4828024" y="3786708"/>
              <a:ext cx="433500" cy="433500"/>
            </a:xfrm>
            <a:prstGeom prst="ellipse">
              <a:avLst/>
            </a:prstGeom>
            <a:gradFill>
              <a:gsLst>
                <a:gs pos="0">
                  <a:srgbClr val="DCECD5"/>
                </a:gs>
                <a:gs pos="100000">
                  <a:srgbClr val="92BC81"/>
                </a:gs>
              </a:gsLst>
              <a:lin ang="5400012" scaled="0"/>
            </a:gradFill>
            <a:ln cap="flat" cmpd="sng" w="9925">
              <a:solidFill>
                <a:schemeClr val="dk2"/>
              </a:solidFill>
              <a:prstDash val="solid"/>
              <a:round/>
              <a:headEnd len="sm" w="sm" type="none"/>
              <a:tailEnd len="sm" w="sm" type="none"/>
            </a:ln>
          </p:spPr>
          <p:txBody>
            <a:bodyPr anchorCtr="0" anchor="ctr" bIns="95325" lIns="95325" spcFirstLastPara="1" rIns="95325" wrap="square" tIns="95325">
              <a:noAutofit/>
            </a:bodyPr>
            <a:lstStyle/>
            <a:p>
              <a:pPr indent="0" lvl="0" marL="0" rtl="0" algn="ctr">
                <a:spcBef>
                  <a:spcPts val="0"/>
                </a:spcBef>
                <a:spcAft>
                  <a:spcPts val="0"/>
                </a:spcAft>
                <a:buNone/>
              </a:pPr>
              <a:r>
                <a:t/>
              </a:r>
              <a:endParaRPr b="1" sz="1042">
                <a:solidFill>
                  <a:schemeClr val="lt1"/>
                </a:solidFill>
                <a:latin typeface="Lato"/>
                <a:ea typeface="Lato"/>
                <a:cs typeface="Lato"/>
                <a:sym typeface="Lato"/>
              </a:endParaRPr>
            </a:p>
          </p:txBody>
        </p:sp>
        <p:sp>
          <p:nvSpPr>
            <p:cNvPr id="491" name="Google Shape;491;p30"/>
            <p:cNvSpPr txBox="1"/>
            <p:nvPr/>
          </p:nvSpPr>
          <p:spPr>
            <a:xfrm>
              <a:off x="4828025" y="3786696"/>
              <a:ext cx="433500" cy="433500"/>
            </a:xfrm>
            <a:prstGeom prst="rect">
              <a:avLst/>
            </a:prstGeom>
            <a:noFill/>
            <a:ln>
              <a:noFill/>
            </a:ln>
          </p:spPr>
          <p:txBody>
            <a:bodyPr anchorCtr="0" anchor="ctr" bIns="94825" lIns="94825" spcFirstLastPara="1" rIns="94825" wrap="square" tIns="94825">
              <a:noAutofit/>
            </a:bodyPr>
            <a:lstStyle/>
            <a:p>
              <a:pPr indent="0" lvl="0" marL="0" marR="0" rtl="0" algn="ctr">
                <a:lnSpc>
                  <a:spcPct val="100000"/>
                </a:lnSpc>
                <a:spcBef>
                  <a:spcPts val="0"/>
                </a:spcBef>
                <a:spcAft>
                  <a:spcPts val="0"/>
                </a:spcAft>
                <a:buNone/>
              </a:pPr>
              <a:r>
                <a:rPr b="1" lang="es" sz="1283">
                  <a:solidFill>
                    <a:schemeClr val="lt1"/>
                  </a:solidFill>
                  <a:latin typeface="Montserrat"/>
                  <a:ea typeface="Montserrat"/>
                  <a:cs typeface="Montserrat"/>
                  <a:sym typeface="Montserrat"/>
                </a:rPr>
                <a:t>#4</a:t>
              </a:r>
              <a:endParaRPr b="1" sz="1283">
                <a:solidFill>
                  <a:schemeClr val="lt1"/>
                </a:solidFill>
                <a:latin typeface="Montserrat"/>
                <a:ea typeface="Montserrat"/>
                <a:cs typeface="Montserrat"/>
                <a:sym typeface="Montserrat"/>
              </a:endParaRPr>
            </a:p>
          </p:txBody>
        </p:sp>
      </p:grpSp>
      <p:pic>
        <p:nvPicPr>
          <p:cNvPr id="492" name="Google Shape;492;p30"/>
          <p:cNvPicPr preferRelativeResize="0"/>
          <p:nvPr/>
        </p:nvPicPr>
        <p:blipFill>
          <a:blip r:embed="rId9">
            <a:alphaModFix/>
          </a:blip>
          <a:stretch>
            <a:fillRect/>
          </a:stretch>
        </p:blipFill>
        <p:spPr>
          <a:xfrm>
            <a:off x="5284600" y="2023328"/>
            <a:ext cx="3555900" cy="347700"/>
          </a:xfrm>
          <a:prstGeom prst="roundRect">
            <a:avLst>
              <a:gd fmla="val 16839" name="adj"/>
            </a:avLst>
          </a:prstGeom>
          <a:noFill/>
          <a:ln>
            <a:noFill/>
          </a:ln>
        </p:spPr>
      </p:pic>
      <p:pic>
        <p:nvPicPr>
          <p:cNvPr id="493" name="Google Shape;493;p30"/>
          <p:cNvPicPr preferRelativeResize="0"/>
          <p:nvPr/>
        </p:nvPicPr>
        <p:blipFill>
          <a:blip r:embed="rId10">
            <a:alphaModFix/>
          </a:blip>
          <a:stretch>
            <a:fillRect/>
          </a:stretch>
        </p:blipFill>
        <p:spPr>
          <a:xfrm>
            <a:off x="5305300" y="3154388"/>
            <a:ext cx="3514500" cy="414000"/>
          </a:xfrm>
          <a:prstGeom prst="roundRect">
            <a:avLst>
              <a:gd fmla="val 16667" name="adj"/>
            </a:avLst>
          </a:prstGeom>
          <a:noFill/>
          <a:ln>
            <a:noFill/>
          </a:ln>
        </p:spPr>
      </p:pic>
      <p:pic>
        <p:nvPicPr>
          <p:cNvPr id="494" name="Google Shape;494;p30"/>
          <p:cNvPicPr preferRelativeResize="0"/>
          <p:nvPr/>
        </p:nvPicPr>
        <p:blipFill>
          <a:blip r:embed="rId11">
            <a:alphaModFix/>
          </a:blip>
          <a:stretch>
            <a:fillRect/>
          </a:stretch>
        </p:blipFill>
        <p:spPr>
          <a:xfrm>
            <a:off x="5305300" y="3748400"/>
            <a:ext cx="3535200" cy="394500"/>
          </a:xfrm>
          <a:prstGeom prst="roundRect">
            <a:avLst>
              <a:gd fmla="val 16667" name="adj"/>
            </a:avLst>
          </a:prstGeom>
          <a:noFill/>
          <a:ln>
            <a:noFill/>
          </a:ln>
        </p:spPr>
      </p:pic>
      <p:sp>
        <p:nvSpPr>
          <p:cNvPr id="495" name="Google Shape;495;p30"/>
          <p:cNvSpPr/>
          <p:nvPr/>
        </p:nvSpPr>
        <p:spPr>
          <a:xfrm>
            <a:off x="4988250" y="787368"/>
            <a:ext cx="3608400" cy="452100"/>
          </a:xfrm>
          <a:prstGeom prst="roundRect">
            <a:avLst>
              <a:gd fmla="val 16667" name="adj"/>
            </a:avLst>
          </a:prstGeom>
          <a:noFill/>
          <a:ln cap="flat" cmpd="sng" w="952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solidFill>
                  <a:schemeClr val="lt1"/>
                </a:solidFill>
                <a:latin typeface="Montserrat"/>
                <a:ea typeface="Montserrat"/>
                <a:cs typeface="Montserrat"/>
                <a:sym typeface="Montserrat"/>
              </a:rPr>
              <a:t>Modelo: FakeNewsClassifier</a:t>
            </a:r>
            <a:endParaRPr>
              <a:latin typeface="Lato"/>
              <a:ea typeface="Lato"/>
              <a:cs typeface="Lato"/>
              <a:sym typeface="Lato"/>
            </a:endParaRPr>
          </a:p>
        </p:txBody>
      </p:sp>
      <p:sp>
        <p:nvSpPr>
          <p:cNvPr id="496" name="Google Shape;496;p30"/>
          <p:cNvSpPr/>
          <p:nvPr/>
        </p:nvSpPr>
        <p:spPr>
          <a:xfrm>
            <a:off x="5450350" y="1239475"/>
            <a:ext cx="433500" cy="433500"/>
          </a:xfrm>
          <a:prstGeom prst="downArrow">
            <a:avLst>
              <a:gd fmla="val 50000" name="adj1"/>
              <a:gd fmla="val 50000" name="adj2"/>
            </a:avLst>
          </a:prstGeom>
          <a:noFill/>
          <a:ln cap="flat" cmpd="sng" w="952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1">
              <a:solidFill>
                <a:schemeClr val="lt1"/>
              </a:solidFill>
              <a:latin typeface="Montserrat"/>
              <a:ea typeface="Montserrat"/>
              <a:cs typeface="Montserrat"/>
              <a:sym typeface="Montserrat"/>
            </a:endParaRPr>
          </a:p>
        </p:txBody>
      </p:sp>
      <p:sp>
        <p:nvSpPr>
          <p:cNvPr id="497" name="Google Shape;497;p30"/>
          <p:cNvSpPr/>
          <p:nvPr/>
        </p:nvSpPr>
        <p:spPr>
          <a:xfrm>
            <a:off x="6575375" y="1239475"/>
            <a:ext cx="433500" cy="433500"/>
          </a:xfrm>
          <a:prstGeom prst="downArrow">
            <a:avLst>
              <a:gd fmla="val 50000" name="adj1"/>
              <a:gd fmla="val 50000" name="adj2"/>
            </a:avLst>
          </a:prstGeom>
          <a:noFill/>
          <a:ln cap="flat" cmpd="sng" w="952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1">
              <a:solidFill>
                <a:schemeClr val="lt1"/>
              </a:solidFill>
              <a:latin typeface="Montserrat"/>
              <a:ea typeface="Montserrat"/>
              <a:cs typeface="Montserrat"/>
              <a:sym typeface="Montserrat"/>
            </a:endParaRPr>
          </a:p>
        </p:txBody>
      </p:sp>
      <p:sp>
        <p:nvSpPr>
          <p:cNvPr id="498" name="Google Shape;498;p30"/>
          <p:cNvSpPr/>
          <p:nvPr/>
        </p:nvSpPr>
        <p:spPr>
          <a:xfrm>
            <a:off x="7700400" y="1239475"/>
            <a:ext cx="433500" cy="433500"/>
          </a:xfrm>
          <a:prstGeom prst="downArrow">
            <a:avLst>
              <a:gd fmla="val 50000" name="adj1"/>
              <a:gd fmla="val 50000" name="adj2"/>
            </a:avLst>
          </a:prstGeom>
          <a:noFill/>
          <a:ln cap="flat" cmpd="sng" w="952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1">
              <a:solidFill>
                <a:schemeClr val="lt1"/>
              </a:solidFill>
              <a:latin typeface="Montserrat"/>
              <a:ea typeface="Montserrat"/>
              <a:cs typeface="Montserrat"/>
              <a:sym typeface="Montserrat"/>
            </a:endParaRPr>
          </a:p>
        </p:txBody>
      </p:sp>
      <p:pic>
        <p:nvPicPr>
          <p:cNvPr id="499" name="Google Shape;499;p30"/>
          <p:cNvPicPr preferRelativeResize="0"/>
          <p:nvPr/>
        </p:nvPicPr>
        <p:blipFill>
          <a:blip r:embed="rId12">
            <a:alphaModFix/>
          </a:blip>
          <a:stretch>
            <a:fillRect/>
          </a:stretch>
        </p:blipFill>
        <p:spPr>
          <a:xfrm>
            <a:off x="5305175" y="2509243"/>
            <a:ext cx="3535200" cy="558300"/>
          </a:xfrm>
          <a:prstGeom prst="roundRect">
            <a:avLst>
              <a:gd fmla="val 13438" name="adj"/>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1500"/>
                                        <p:tgtEl>
                                          <p:spTgt spid="480"/>
                                        </p:tgtEl>
                                      </p:cBhvr>
                                    </p:animEffect>
                                  </p:childTnLst>
                                </p:cTn>
                              </p:par>
                              <p:par>
                                <p:cTn fill="hold" nodeType="with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1500"/>
                                        <p:tgtEl>
                                          <p:spTgt spid="4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3"/>
                                        </p:tgtEl>
                                        <p:attrNameLst>
                                          <p:attrName>style.visibility</p:attrName>
                                        </p:attrNameLst>
                                      </p:cBhvr>
                                      <p:to>
                                        <p:strVal val="visible"/>
                                      </p:to>
                                    </p:set>
                                    <p:animEffect filter="fade" transition="in">
                                      <p:cBhvr>
                                        <p:cTn dur="1500"/>
                                        <p:tgtEl>
                                          <p:spTgt spid="483"/>
                                        </p:tgtEl>
                                      </p:cBhvr>
                                    </p:animEffect>
                                  </p:childTnLst>
                                </p:cTn>
                              </p:par>
                              <p:par>
                                <p:cTn fill="hold" nodeType="with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1500"/>
                                        <p:tgtEl>
                                          <p:spTgt spid="4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1000"/>
                                        <p:tgtEl>
                                          <p:spTgt spid="486"/>
                                        </p:tgtEl>
                                      </p:cBhvr>
                                    </p:animEffect>
                                  </p:childTnLst>
                                </p:cTn>
                              </p:par>
                              <p:par>
                                <p:cTn fill="hold" nodeType="with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1500"/>
                                        <p:tgtEl>
                                          <p:spTgt spid="4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gtEl>
                                        <p:attrNameLst>
                                          <p:attrName>style.visibility</p:attrName>
                                        </p:attrNameLst>
                                      </p:cBhvr>
                                      <p:to>
                                        <p:strVal val="visible"/>
                                      </p:to>
                                    </p:set>
                                    <p:animEffect filter="fade" transition="in">
                                      <p:cBhvr>
                                        <p:cTn dur="1500"/>
                                        <p:tgtEl>
                                          <p:spTgt spid="489"/>
                                        </p:tgtEl>
                                      </p:cBhvr>
                                    </p:animEffect>
                                  </p:childTnLst>
                                </p:cTn>
                              </p:par>
                              <p:par>
                                <p:cTn fill="hold" nodeType="with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1500"/>
                                        <p:tgtEl>
                                          <p:spTgt spid="4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7ACD1"/>
        </a:solidFill>
      </p:bgPr>
    </p:bg>
    <p:spTree>
      <p:nvGrpSpPr>
        <p:cNvPr id="503" name="Shape 503"/>
        <p:cNvGrpSpPr/>
        <p:nvPr/>
      </p:nvGrpSpPr>
      <p:grpSpPr>
        <a:xfrm>
          <a:off x="0" y="0"/>
          <a:ext cx="0" cy="0"/>
          <a:chOff x="0" y="0"/>
          <a:chExt cx="0" cy="0"/>
        </a:xfrm>
      </p:grpSpPr>
      <p:pic>
        <p:nvPicPr>
          <p:cNvPr id="504" name="Google Shape;504;p31" title="Captura de pantalla 2026-01-29 145903.png"/>
          <p:cNvPicPr preferRelativeResize="0"/>
          <p:nvPr/>
        </p:nvPicPr>
        <p:blipFill>
          <a:blip r:embed="rId3">
            <a:alphaModFix/>
          </a:blip>
          <a:stretch>
            <a:fillRect/>
          </a:stretch>
        </p:blipFill>
        <p:spPr>
          <a:xfrm>
            <a:off x="0" y="0"/>
            <a:ext cx="9144001" cy="5143499"/>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